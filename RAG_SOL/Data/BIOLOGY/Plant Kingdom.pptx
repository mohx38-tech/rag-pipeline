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7772400" cy="10426700"/>
  <p:notesSz cx="7772400" cy="10426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232277"/>
            <a:ext cx="6606540" cy="2189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075B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838952"/>
            <a:ext cx="5440680" cy="260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3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075B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23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075B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98141"/>
            <a:ext cx="3380994" cy="68816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98141"/>
            <a:ext cx="3380994" cy="68816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075B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41424"/>
            <a:ext cx="7772400" cy="129539"/>
          </a:xfrm>
          <a:custGeom>
            <a:avLst/>
            <a:gdLst/>
            <a:ahLst/>
            <a:cxnLst/>
            <a:rect l="l" t="t" r="r" b="b"/>
            <a:pathLst>
              <a:path w="7772400" h="129540">
                <a:moveTo>
                  <a:pt x="0" y="129538"/>
                </a:moveTo>
                <a:lnTo>
                  <a:pt x="7772284" y="129538"/>
                </a:lnTo>
                <a:lnTo>
                  <a:pt x="7772284" y="0"/>
                </a:lnTo>
                <a:lnTo>
                  <a:pt x="0" y="0"/>
                </a:lnTo>
                <a:lnTo>
                  <a:pt x="0" y="129538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7772400" cy="1041400"/>
          </a:xfrm>
          <a:custGeom>
            <a:avLst/>
            <a:gdLst/>
            <a:ahLst/>
            <a:cxnLst/>
            <a:rect l="l" t="t" r="r" b="b"/>
            <a:pathLst>
              <a:path w="7772400" h="1041400">
                <a:moveTo>
                  <a:pt x="7772284" y="0"/>
                </a:moveTo>
                <a:lnTo>
                  <a:pt x="0" y="0"/>
                </a:lnTo>
                <a:lnTo>
                  <a:pt x="0" y="1041399"/>
                </a:lnTo>
                <a:lnTo>
                  <a:pt x="7772284" y="1041399"/>
                </a:lnTo>
                <a:lnTo>
                  <a:pt x="7772284" y="0"/>
                </a:lnTo>
                <a:close/>
              </a:path>
            </a:pathLst>
          </a:custGeom>
          <a:solidFill>
            <a:srgbClr val="E6E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324599" y="876286"/>
            <a:ext cx="444500" cy="457200"/>
          </a:xfrm>
          <a:custGeom>
            <a:avLst/>
            <a:gdLst/>
            <a:ahLst/>
            <a:cxnLst/>
            <a:rect l="l" t="t" r="r" b="b"/>
            <a:pathLst>
              <a:path w="444500" h="457200">
                <a:moveTo>
                  <a:pt x="330197" y="0"/>
                </a:moveTo>
                <a:lnTo>
                  <a:pt x="114295" y="0"/>
                </a:lnTo>
                <a:lnTo>
                  <a:pt x="91489" y="2091"/>
                </a:lnTo>
                <a:lnTo>
                  <a:pt x="51080" y="18826"/>
                </a:lnTo>
                <a:lnTo>
                  <a:pt x="18828" y="51079"/>
                </a:lnTo>
                <a:lnTo>
                  <a:pt x="2091" y="91524"/>
                </a:lnTo>
                <a:lnTo>
                  <a:pt x="0" y="114331"/>
                </a:lnTo>
                <a:lnTo>
                  <a:pt x="0" y="342924"/>
                </a:lnTo>
                <a:lnTo>
                  <a:pt x="8367" y="386784"/>
                </a:lnTo>
                <a:lnTo>
                  <a:pt x="33474" y="423716"/>
                </a:lnTo>
                <a:lnTo>
                  <a:pt x="70418" y="448818"/>
                </a:lnTo>
                <a:lnTo>
                  <a:pt x="114295" y="457184"/>
                </a:lnTo>
                <a:lnTo>
                  <a:pt x="330197" y="457184"/>
                </a:lnTo>
                <a:lnTo>
                  <a:pt x="374074" y="448818"/>
                </a:lnTo>
                <a:lnTo>
                  <a:pt x="411018" y="423716"/>
                </a:lnTo>
                <a:lnTo>
                  <a:pt x="436128" y="386784"/>
                </a:lnTo>
                <a:lnTo>
                  <a:pt x="444500" y="342924"/>
                </a:lnTo>
                <a:lnTo>
                  <a:pt x="444500" y="114331"/>
                </a:lnTo>
                <a:lnTo>
                  <a:pt x="436128" y="70435"/>
                </a:lnTo>
                <a:lnTo>
                  <a:pt x="411018" y="33468"/>
                </a:lnTo>
                <a:lnTo>
                  <a:pt x="374074" y="8367"/>
                </a:lnTo>
                <a:lnTo>
                  <a:pt x="3301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1005" y="3291327"/>
            <a:ext cx="2023745" cy="1013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075B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91004" y="4665217"/>
            <a:ext cx="4602480" cy="4469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3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696831"/>
            <a:ext cx="2487168" cy="521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87064" y="10044103"/>
            <a:ext cx="3987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696831"/>
            <a:ext cx="1787652" cy="521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Relationship Id="rId27" Type="http://schemas.openxmlformats.org/officeDocument/2006/relationships/image" Target="../media/image29.png"/><Relationship Id="rId28" Type="http://schemas.openxmlformats.org/officeDocument/2006/relationships/image" Target="../media/image30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3.png"/><Relationship Id="rId32" Type="http://schemas.openxmlformats.org/officeDocument/2006/relationships/image" Target="../media/image34.png"/><Relationship Id="rId33" Type="http://schemas.openxmlformats.org/officeDocument/2006/relationships/image" Target="../media/image35.png"/><Relationship Id="rId34" Type="http://schemas.openxmlformats.org/officeDocument/2006/relationships/image" Target="../media/image36.png"/><Relationship Id="rId35" Type="http://schemas.openxmlformats.org/officeDocument/2006/relationships/image" Target="../media/image37.png"/><Relationship Id="rId36" Type="http://schemas.openxmlformats.org/officeDocument/2006/relationships/image" Target="../media/image38.png"/><Relationship Id="rId37" Type="http://schemas.openxmlformats.org/officeDocument/2006/relationships/image" Target="../media/image39.png"/><Relationship Id="rId38" Type="http://schemas.openxmlformats.org/officeDocument/2006/relationships/image" Target="../media/image40.png"/><Relationship Id="rId39" Type="http://schemas.openxmlformats.org/officeDocument/2006/relationships/image" Target="../media/image41.png"/><Relationship Id="rId40" Type="http://schemas.openxmlformats.org/officeDocument/2006/relationships/image" Target="../media/image42.png"/><Relationship Id="rId41" Type="http://schemas.openxmlformats.org/officeDocument/2006/relationships/image" Target="../media/image43.png"/><Relationship Id="rId42" Type="http://schemas.openxmlformats.org/officeDocument/2006/relationships/image" Target="../media/image44.png"/><Relationship Id="rId43" Type="http://schemas.openxmlformats.org/officeDocument/2006/relationships/image" Target="../media/image45.png"/><Relationship Id="rId44" Type="http://schemas.openxmlformats.org/officeDocument/2006/relationships/image" Target="../media/image46.png"/><Relationship Id="rId45" Type="http://schemas.openxmlformats.org/officeDocument/2006/relationships/image" Target="../media/image47.png"/><Relationship Id="rId46" Type="http://schemas.openxmlformats.org/officeDocument/2006/relationships/image" Target="../media/image4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Relationship Id="rId26" Type="http://schemas.openxmlformats.org/officeDocument/2006/relationships/image" Target="../media/image73.png"/><Relationship Id="rId27" Type="http://schemas.openxmlformats.org/officeDocument/2006/relationships/image" Target="../media/image74.png"/><Relationship Id="rId28" Type="http://schemas.openxmlformats.org/officeDocument/2006/relationships/image" Target="../media/image75.png"/><Relationship Id="rId29" Type="http://schemas.openxmlformats.org/officeDocument/2006/relationships/image" Target="../media/image76.png"/><Relationship Id="rId30" Type="http://schemas.openxmlformats.org/officeDocument/2006/relationships/image" Target="../media/image77.png"/><Relationship Id="rId31" Type="http://schemas.openxmlformats.org/officeDocument/2006/relationships/image" Target="../media/image78.jpg"/><Relationship Id="rId32" Type="http://schemas.openxmlformats.org/officeDocument/2006/relationships/image" Target="../media/image7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107.png"/><Relationship Id="rId13" Type="http://schemas.openxmlformats.org/officeDocument/2006/relationships/image" Target="../media/image108.png"/><Relationship Id="rId14" Type="http://schemas.openxmlformats.org/officeDocument/2006/relationships/image" Target="../media/image109.png"/><Relationship Id="rId15" Type="http://schemas.openxmlformats.org/officeDocument/2006/relationships/image" Target="../media/image110.png"/><Relationship Id="rId16" Type="http://schemas.openxmlformats.org/officeDocument/2006/relationships/image" Target="../media/image111.png"/><Relationship Id="rId17" Type="http://schemas.openxmlformats.org/officeDocument/2006/relationships/image" Target="../media/image112.png"/><Relationship Id="rId18" Type="http://schemas.openxmlformats.org/officeDocument/2006/relationships/image" Target="../media/image113.png"/><Relationship Id="rId19" Type="http://schemas.openxmlformats.org/officeDocument/2006/relationships/image" Target="../media/image114.png"/><Relationship Id="rId20" Type="http://schemas.openxmlformats.org/officeDocument/2006/relationships/image" Target="../media/image115.png"/><Relationship Id="rId21" Type="http://schemas.openxmlformats.org/officeDocument/2006/relationships/image" Target="../media/image116.png"/><Relationship Id="rId22" Type="http://schemas.openxmlformats.org/officeDocument/2006/relationships/image" Target="../media/image117.png"/><Relationship Id="rId23" Type="http://schemas.openxmlformats.org/officeDocument/2006/relationships/image" Target="../media/image118.png"/><Relationship Id="rId24" Type="http://schemas.openxmlformats.org/officeDocument/2006/relationships/image" Target="../media/image119.png"/><Relationship Id="rId25" Type="http://schemas.openxmlformats.org/officeDocument/2006/relationships/image" Target="../media/image1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800" y="1046962"/>
            <a:ext cx="554609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20"/>
              </a:lnSpc>
              <a:tabLst>
                <a:tab pos="5358130" algn="l"/>
              </a:tabLst>
            </a:pPr>
            <a:r>
              <a:rPr dirty="0" baseline="2525" sz="1650" spc="150">
                <a:solidFill>
                  <a:srgbClr val="231F1F"/>
                </a:solidFill>
                <a:latin typeface="Calibri"/>
                <a:cs typeface="Calibri"/>
              </a:rPr>
              <a:t>P</a:t>
            </a:r>
            <a:r>
              <a:rPr dirty="0" baseline="3703" sz="1125" spc="150">
                <a:solidFill>
                  <a:srgbClr val="231F1F"/>
                </a:solidFill>
                <a:latin typeface="Calibri"/>
                <a:cs typeface="Calibri"/>
              </a:rPr>
              <a:t>LANT</a:t>
            </a:r>
            <a:r>
              <a:rPr dirty="0" baseline="3703" sz="1125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baseline="2525" sz="1650" spc="142">
                <a:solidFill>
                  <a:srgbClr val="231F1F"/>
                </a:solidFill>
                <a:latin typeface="Calibri"/>
                <a:cs typeface="Calibri"/>
              </a:rPr>
              <a:t>K</a:t>
            </a:r>
            <a:r>
              <a:rPr dirty="0" baseline="3703" sz="1125" spc="142">
                <a:solidFill>
                  <a:srgbClr val="231F1F"/>
                </a:solidFill>
                <a:latin typeface="Calibri"/>
                <a:cs typeface="Calibri"/>
              </a:rPr>
              <a:t>INGDOM</a:t>
            </a:r>
            <a:r>
              <a:rPr dirty="0" baseline="3703" sz="1125">
                <a:solidFill>
                  <a:srgbClr val="231F1F"/>
                </a:solidFill>
                <a:latin typeface="Calibri"/>
                <a:cs typeface="Calibri"/>
              </a:rPr>
              <a:t>	</a:t>
            </a: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29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763755"/>
            <a:ext cx="7772400" cy="660400"/>
            <a:chOff x="0" y="9763755"/>
            <a:chExt cx="7772400" cy="660400"/>
          </a:xfrm>
        </p:grpSpPr>
        <p:sp>
          <p:nvSpPr>
            <p:cNvPr id="4" name="object 4" descr=""/>
            <p:cNvSpPr/>
            <p:nvPr/>
          </p:nvSpPr>
          <p:spPr>
            <a:xfrm>
              <a:off x="6095" y="9769851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60207" y="0"/>
                  </a:moveTo>
                  <a:lnTo>
                    <a:pt x="0" y="0"/>
                  </a:lnTo>
                  <a:lnTo>
                    <a:pt x="0" y="648212"/>
                  </a:lnTo>
                  <a:lnTo>
                    <a:pt x="7760207" y="648212"/>
                  </a:lnTo>
                  <a:lnTo>
                    <a:pt x="7760207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" y="9769851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8212"/>
                  </a:moveTo>
                  <a:lnTo>
                    <a:pt x="7760207" y="648212"/>
                  </a:lnTo>
                  <a:lnTo>
                    <a:pt x="7760207" y="0"/>
                  </a:lnTo>
                  <a:lnTo>
                    <a:pt x="0" y="0"/>
                  </a:lnTo>
                  <a:lnTo>
                    <a:pt x="0" y="648212"/>
                  </a:lnTo>
                  <a:close/>
                </a:path>
              </a:pathLst>
            </a:custGeom>
            <a:ln w="12191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7589519" y="230123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545323" y="0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79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589519" y="10190988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545323" y="10238231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40">
                <a:moveTo>
                  <a:pt x="0" y="0"/>
                </a:moveTo>
                <a:lnTo>
                  <a:pt x="0" y="179831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0" y="0"/>
            <a:ext cx="7772400" cy="4572000"/>
            <a:chOff x="0" y="0"/>
            <a:chExt cx="7772400" cy="4572000"/>
          </a:xfrm>
        </p:grpSpPr>
        <p:sp>
          <p:nvSpPr>
            <p:cNvPr id="11" name="object 11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51"/>
                  </a:moveTo>
                  <a:lnTo>
                    <a:pt x="3047" y="225551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772400" cy="457199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just" marL="12700" marR="9525">
              <a:lnSpc>
                <a:spcPct val="111200"/>
              </a:lnSpc>
              <a:spcBef>
                <a:spcPts val="90"/>
              </a:spcBef>
            </a:pPr>
            <a:r>
              <a:rPr dirty="0" spc="114"/>
              <a:t>In</a:t>
            </a:r>
            <a:r>
              <a:rPr dirty="0" spc="150"/>
              <a:t> </a:t>
            </a:r>
            <a:r>
              <a:rPr dirty="0" spc="60"/>
              <a:t>the</a:t>
            </a:r>
            <a:r>
              <a:rPr dirty="0" spc="150"/>
              <a:t> </a:t>
            </a:r>
            <a:r>
              <a:rPr dirty="0" spc="85"/>
              <a:t>previous</a:t>
            </a:r>
            <a:r>
              <a:rPr dirty="0" spc="150"/>
              <a:t> </a:t>
            </a:r>
            <a:r>
              <a:rPr dirty="0" spc="75"/>
              <a:t>chapter,</a:t>
            </a:r>
            <a:r>
              <a:rPr dirty="0" spc="150"/>
              <a:t> </a:t>
            </a:r>
            <a:r>
              <a:rPr dirty="0"/>
              <a:t>we</a:t>
            </a:r>
            <a:r>
              <a:rPr dirty="0" spc="150"/>
              <a:t> </a:t>
            </a:r>
            <a:r>
              <a:rPr dirty="0" spc="65"/>
              <a:t>looked</a:t>
            </a:r>
            <a:r>
              <a:rPr dirty="0" spc="150"/>
              <a:t> </a:t>
            </a:r>
            <a:r>
              <a:rPr dirty="0" spc="70"/>
              <a:t>at</a:t>
            </a:r>
            <a:r>
              <a:rPr dirty="0" spc="150"/>
              <a:t> </a:t>
            </a:r>
            <a:r>
              <a:rPr dirty="0" spc="60"/>
              <a:t>the</a:t>
            </a:r>
            <a:r>
              <a:rPr dirty="0" spc="150"/>
              <a:t> </a:t>
            </a:r>
            <a:r>
              <a:rPr dirty="0" spc="80"/>
              <a:t>broad</a:t>
            </a:r>
            <a:r>
              <a:rPr dirty="0" spc="150"/>
              <a:t> </a:t>
            </a:r>
            <a:r>
              <a:rPr dirty="0" spc="85"/>
              <a:t>classification</a:t>
            </a:r>
            <a:r>
              <a:rPr dirty="0" spc="150"/>
              <a:t> </a:t>
            </a:r>
            <a:r>
              <a:rPr dirty="0"/>
              <a:t>of</a:t>
            </a:r>
            <a:r>
              <a:rPr dirty="0" spc="150"/>
              <a:t> </a:t>
            </a:r>
            <a:r>
              <a:rPr dirty="0" spc="70"/>
              <a:t>living </a:t>
            </a:r>
            <a:r>
              <a:rPr dirty="0" spc="95"/>
              <a:t>organisms</a:t>
            </a:r>
            <a:r>
              <a:rPr dirty="0" spc="90"/>
              <a:t> </a:t>
            </a:r>
            <a:r>
              <a:rPr dirty="0" spc="95"/>
              <a:t>under </a:t>
            </a:r>
            <a:r>
              <a:rPr dirty="0" spc="60"/>
              <a:t>the</a:t>
            </a:r>
            <a:r>
              <a:rPr dirty="0" spc="90"/>
              <a:t> system</a:t>
            </a:r>
            <a:r>
              <a:rPr dirty="0" spc="95"/>
              <a:t> </a:t>
            </a:r>
            <a:r>
              <a:rPr dirty="0" spc="70"/>
              <a:t>proposed</a:t>
            </a:r>
            <a:r>
              <a:rPr dirty="0" spc="95"/>
              <a:t> </a:t>
            </a:r>
            <a:r>
              <a:rPr dirty="0" spc="85"/>
              <a:t>by</a:t>
            </a:r>
            <a:r>
              <a:rPr dirty="0" spc="90"/>
              <a:t> </a:t>
            </a:r>
            <a:r>
              <a:rPr dirty="0" spc="80"/>
              <a:t>Whittaker</a:t>
            </a:r>
            <a:r>
              <a:rPr dirty="0" spc="95"/>
              <a:t> </a:t>
            </a:r>
            <a:r>
              <a:rPr dirty="0" spc="65"/>
              <a:t>(1969)</a:t>
            </a:r>
            <a:r>
              <a:rPr dirty="0" spc="95"/>
              <a:t> </a:t>
            </a:r>
            <a:r>
              <a:rPr dirty="0" spc="75"/>
              <a:t>wherein</a:t>
            </a:r>
            <a:r>
              <a:rPr dirty="0" spc="90"/>
              <a:t> </a:t>
            </a:r>
            <a:r>
              <a:rPr dirty="0" spc="50"/>
              <a:t>he </a:t>
            </a:r>
            <a:r>
              <a:rPr dirty="0" spc="75"/>
              <a:t>suggested</a:t>
            </a:r>
            <a:r>
              <a:rPr dirty="0" spc="85"/>
              <a:t> </a:t>
            </a:r>
            <a:r>
              <a:rPr dirty="0" spc="60"/>
              <a:t>the</a:t>
            </a:r>
            <a:r>
              <a:rPr dirty="0" spc="90"/>
              <a:t> </a:t>
            </a:r>
            <a:r>
              <a:rPr dirty="0" spc="80"/>
              <a:t>Five</a:t>
            </a:r>
            <a:r>
              <a:rPr dirty="0" spc="90"/>
              <a:t> </a:t>
            </a:r>
            <a:r>
              <a:rPr dirty="0" spc="100"/>
              <a:t>Kingdom</a:t>
            </a:r>
            <a:r>
              <a:rPr dirty="0" spc="90"/>
              <a:t> </a:t>
            </a:r>
            <a:r>
              <a:rPr dirty="0" spc="80"/>
              <a:t>classification</a:t>
            </a:r>
            <a:r>
              <a:rPr dirty="0" spc="90"/>
              <a:t> </a:t>
            </a:r>
            <a:r>
              <a:rPr dirty="0" spc="70"/>
              <a:t>viz.</a:t>
            </a:r>
            <a:r>
              <a:rPr dirty="0" spc="90"/>
              <a:t> </a:t>
            </a:r>
            <a:r>
              <a:rPr dirty="0" spc="70"/>
              <a:t>Monera,</a:t>
            </a:r>
            <a:r>
              <a:rPr dirty="0" spc="90"/>
              <a:t> </a:t>
            </a:r>
            <a:r>
              <a:rPr dirty="0" spc="70"/>
              <a:t>Protista,</a:t>
            </a:r>
            <a:r>
              <a:rPr dirty="0" spc="90"/>
              <a:t> </a:t>
            </a:r>
            <a:r>
              <a:rPr dirty="0" spc="100"/>
              <a:t>Fungi, </a:t>
            </a:r>
            <a:r>
              <a:rPr dirty="0" spc="95"/>
              <a:t>Animalia</a:t>
            </a:r>
            <a:r>
              <a:rPr dirty="0" spc="25"/>
              <a:t> </a:t>
            </a:r>
            <a:r>
              <a:rPr dirty="0" spc="110"/>
              <a:t>and</a:t>
            </a:r>
            <a:r>
              <a:rPr dirty="0" spc="30"/>
              <a:t> </a:t>
            </a:r>
            <a:r>
              <a:rPr dirty="0" spc="80"/>
              <a:t>Plantae.</a:t>
            </a:r>
            <a:r>
              <a:rPr dirty="0" spc="295"/>
              <a:t> </a:t>
            </a:r>
            <a:r>
              <a:rPr dirty="0" spc="114"/>
              <a:t>In</a:t>
            </a:r>
            <a:r>
              <a:rPr dirty="0" spc="25"/>
              <a:t> </a:t>
            </a:r>
            <a:r>
              <a:rPr dirty="0" spc="95"/>
              <a:t>this</a:t>
            </a:r>
            <a:r>
              <a:rPr dirty="0" spc="30"/>
              <a:t> </a:t>
            </a:r>
            <a:r>
              <a:rPr dirty="0" spc="70"/>
              <a:t>chapter,</a:t>
            </a:r>
            <a:r>
              <a:rPr dirty="0" spc="25"/>
              <a:t> </a:t>
            </a:r>
            <a:r>
              <a:rPr dirty="0"/>
              <a:t>we</a:t>
            </a:r>
            <a:r>
              <a:rPr dirty="0" spc="30"/>
              <a:t> </a:t>
            </a:r>
            <a:r>
              <a:rPr dirty="0" spc="65"/>
              <a:t>will</a:t>
            </a:r>
            <a:r>
              <a:rPr dirty="0" spc="25"/>
              <a:t> </a:t>
            </a:r>
            <a:r>
              <a:rPr dirty="0" spc="70"/>
              <a:t>deal</a:t>
            </a:r>
            <a:r>
              <a:rPr dirty="0" spc="30"/>
              <a:t> </a:t>
            </a:r>
            <a:r>
              <a:rPr dirty="0" spc="105"/>
              <a:t>in</a:t>
            </a:r>
            <a:r>
              <a:rPr dirty="0" spc="25"/>
              <a:t> </a:t>
            </a:r>
            <a:r>
              <a:rPr dirty="0" spc="65"/>
              <a:t>detail</a:t>
            </a:r>
            <a:r>
              <a:rPr dirty="0" spc="30"/>
              <a:t> </a:t>
            </a:r>
            <a:r>
              <a:rPr dirty="0" spc="75"/>
              <a:t>with</a:t>
            </a:r>
            <a:r>
              <a:rPr dirty="0" spc="25"/>
              <a:t> </a:t>
            </a:r>
            <a:r>
              <a:rPr dirty="0" spc="65"/>
              <a:t>further </a:t>
            </a:r>
            <a:r>
              <a:rPr dirty="0" spc="85"/>
              <a:t>classification</a:t>
            </a:r>
            <a:r>
              <a:rPr dirty="0" spc="235"/>
              <a:t> </a:t>
            </a:r>
            <a:r>
              <a:rPr dirty="0" spc="85"/>
              <a:t>within</a:t>
            </a:r>
            <a:r>
              <a:rPr dirty="0" spc="235"/>
              <a:t> </a:t>
            </a:r>
            <a:r>
              <a:rPr dirty="0" spc="105"/>
              <a:t>Kingdom</a:t>
            </a:r>
            <a:r>
              <a:rPr dirty="0" spc="235"/>
              <a:t> </a:t>
            </a:r>
            <a:r>
              <a:rPr dirty="0" spc="85"/>
              <a:t>Plantae</a:t>
            </a:r>
            <a:r>
              <a:rPr dirty="0" spc="240"/>
              <a:t> </a:t>
            </a:r>
            <a:r>
              <a:rPr dirty="0" spc="90"/>
              <a:t>popularly</a:t>
            </a:r>
            <a:r>
              <a:rPr dirty="0" spc="235"/>
              <a:t> </a:t>
            </a:r>
            <a:r>
              <a:rPr dirty="0" spc="105"/>
              <a:t>known</a:t>
            </a:r>
            <a:r>
              <a:rPr dirty="0" spc="235"/>
              <a:t> </a:t>
            </a:r>
            <a:r>
              <a:rPr dirty="0" spc="114"/>
              <a:t>as</a:t>
            </a:r>
            <a:r>
              <a:rPr dirty="0" spc="240"/>
              <a:t> </a:t>
            </a:r>
            <a:r>
              <a:rPr dirty="0" spc="65"/>
              <a:t>the</a:t>
            </a:r>
            <a:r>
              <a:rPr dirty="0" spc="235"/>
              <a:t> </a:t>
            </a:r>
            <a:r>
              <a:rPr dirty="0" spc="60"/>
              <a:t>‘plant </a:t>
            </a:r>
            <a:r>
              <a:rPr dirty="0" spc="65"/>
              <a:t>kingdom’.</a:t>
            </a:r>
          </a:p>
          <a:p>
            <a:pPr algn="just" marL="12700" marR="9525" indent="228600">
              <a:lnSpc>
                <a:spcPct val="110500"/>
              </a:lnSpc>
            </a:pPr>
            <a:r>
              <a:rPr dirty="0"/>
              <a:t>We</a:t>
            </a:r>
            <a:r>
              <a:rPr dirty="0" spc="135"/>
              <a:t> </a:t>
            </a:r>
            <a:r>
              <a:rPr dirty="0" spc="114"/>
              <a:t>must</a:t>
            </a:r>
            <a:r>
              <a:rPr dirty="0" spc="135"/>
              <a:t> </a:t>
            </a:r>
            <a:r>
              <a:rPr dirty="0" spc="90"/>
              <a:t>stress</a:t>
            </a:r>
            <a:r>
              <a:rPr dirty="0" spc="140"/>
              <a:t> </a:t>
            </a:r>
            <a:r>
              <a:rPr dirty="0" spc="70"/>
              <a:t>here</a:t>
            </a:r>
            <a:r>
              <a:rPr dirty="0" spc="135"/>
              <a:t> </a:t>
            </a:r>
            <a:r>
              <a:rPr dirty="0" spc="85"/>
              <a:t>that</a:t>
            </a:r>
            <a:r>
              <a:rPr dirty="0" spc="140"/>
              <a:t> </a:t>
            </a:r>
            <a:r>
              <a:rPr dirty="0" spc="95"/>
              <a:t>our</a:t>
            </a:r>
            <a:r>
              <a:rPr dirty="0" spc="135"/>
              <a:t> </a:t>
            </a:r>
            <a:r>
              <a:rPr dirty="0" spc="100"/>
              <a:t>understanding</a:t>
            </a:r>
            <a:r>
              <a:rPr dirty="0" spc="135"/>
              <a:t> </a:t>
            </a:r>
            <a:r>
              <a:rPr dirty="0"/>
              <a:t>of</a:t>
            </a:r>
            <a:r>
              <a:rPr dirty="0" spc="140"/>
              <a:t> </a:t>
            </a:r>
            <a:r>
              <a:rPr dirty="0" spc="65"/>
              <a:t>the</a:t>
            </a:r>
            <a:r>
              <a:rPr dirty="0" spc="135"/>
              <a:t> </a:t>
            </a:r>
            <a:r>
              <a:rPr dirty="0" spc="90"/>
              <a:t>plant</a:t>
            </a:r>
            <a:r>
              <a:rPr dirty="0" spc="140"/>
              <a:t> </a:t>
            </a:r>
            <a:r>
              <a:rPr dirty="0" spc="95"/>
              <a:t>kingdom </a:t>
            </a:r>
            <a:r>
              <a:rPr dirty="0" spc="120"/>
              <a:t>has</a:t>
            </a:r>
            <a:r>
              <a:rPr dirty="0" spc="30"/>
              <a:t> </a:t>
            </a:r>
            <a:r>
              <a:rPr dirty="0" spc="85"/>
              <a:t>changed</a:t>
            </a:r>
            <a:r>
              <a:rPr dirty="0" spc="35"/>
              <a:t> </a:t>
            </a:r>
            <a:r>
              <a:rPr dirty="0" spc="50"/>
              <a:t>over</a:t>
            </a:r>
            <a:r>
              <a:rPr dirty="0" spc="30"/>
              <a:t> </a:t>
            </a:r>
            <a:r>
              <a:rPr dirty="0" spc="65"/>
              <a:t>time.</a:t>
            </a:r>
            <a:r>
              <a:rPr dirty="0" spc="35"/>
              <a:t> </a:t>
            </a:r>
            <a:r>
              <a:rPr dirty="0" spc="110"/>
              <a:t>Fungi,</a:t>
            </a:r>
            <a:r>
              <a:rPr dirty="0" spc="35"/>
              <a:t> </a:t>
            </a:r>
            <a:r>
              <a:rPr dirty="0" spc="110"/>
              <a:t>and</a:t>
            </a:r>
            <a:r>
              <a:rPr dirty="0" spc="30"/>
              <a:t> </a:t>
            </a:r>
            <a:r>
              <a:rPr dirty="0" spc="85"/>
              <a:t>members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 spc="60"/>
              <a:t>the</a:t>
            </a:r>
            <a:r>
              <a:rPr dirty="0" spc="30"/>
              <a:t> </a:t>
            </a:r>
            <a:r>
              <a:rPr dirty="0" spc="70"/>
              <a:t>Monera</a:t>
            </a:r>
            <a:r>
              <a:rPr dirty="0" spc="35"/>
              <a:t> </a:t>
            </a:r>
            <a:r>
              <a:rPr dirty="0" spc="110"/>
              <a:t>and</a:t>
            </a:r>
            <a:r>
              <a:rPr dirty="0" spc="30"/>
              <a:t> </a:t>
            </a:r>
            <a:r>
              <a:rPr dirty="0" spc="65"/>
              <a:t>Protista</a:t>
            </a:r>
          </a:p>
          <a:p>
            <a:pPr algn="just" marL="12700" marR="5080">
              <a:lnSpc>
                <a:spcPct val="111000"/>
              </a:lnSpc>
              <a:spcBef>
                <a:spcPts val="15"/>
              </a:spcBef>
            </a:pPr>
            <a:r>
              <a:rPr dirty="0" spc="90"/>
              <a:t>having</a:t>
            </a:r>
            <a:r>
              <a:rPr dirty="0" spc="135"/>
              <a:t> </a:t>
            </a:r>
            <a:r>
              <a:rPr dirty="0" spc="60"/>
              <a:t>cell</a:t>
            </a:r>
            <a:r>
              <a:rPr dirty="0" spc="135"/>
              <a:t> </a:t>
            </a:r>
            <a:r>
              <a:rPr dirty="0" spc="85"/>
              <a:t>walls</a:t>
            </a:r>
            <a:r>
              <a:rPr dirty="0" spc="140"/>
              <a:t> </a:t>
            </a:r>
            <a:r>
              <a:rPr dirty="0" spc="75"/>
              <a:t>have</a:t>
            </a:r>
            <a:r>
              <a:rPr dirty="0" spc="135"/>
              <a:t> </a:t>
            </a:r>
            <a:r>
              <a:rPr dirty="0" spc="75"/>
              <a:t>now</a:t>
            </a:r>
            <a:r>
              <a:rPr dirty="0" spc="140"/>
              <a:t> </a:t>
            </a:r>
            <a:r>
              <a:rPr dirty="0" spc="65"/>
              <a:t>been</a:t>
            </a:r>
            <a:r>
              <a:rPr dirty="0" spc="135"/>
              <a:t> </a:t>
            </a:r>
            <a:r>
              <a:rPr dirty="0" spc="80"/>
              <a:t>excluded</a:t>
            </a:r>
            <a:r>
              <a:rPr dirty="0" spc="140"/>
              <a:t> </a:t>
            </a:r>
            <a:r>
              <a:rPr dirty="0" spc="65"/>
              <a:t>from</a:t>
            </a:r>
            <a:r>
              <a:rPr dirty="0" spc="135"/>
              <a:t> </a:t>
            </a:r>
            <a:r>
              <a:rPr dirty="0" spc="80"/>
              <a:t>Plantae</a:t>
            </a:r>
            <a:r>
              <a:rPr dirty="0" spc="140"/>
              <a:t> </a:t>
            </a:r>
            <a:r>
              <a:rPr dirty="0" spc="90"/>
              <a:t>though</a:t>
            </a:r>
            <a:r>
              <a:rPr dirty="0" spc="135"/>
              <a:t> </a:t>
            </a:r>
            <a:r>
              <a:rPr dirty="0" spc="55"/>
              <a:t>earlier </a:t>
            </a:r>
            <a:r>
              <a:rPr dirty="0" spc="85"/>
              <a:t>classifications</a:t>
            </a:r>
            <a:r>
              <a:rPr dirty="0" spc="10"/>
              <a:t> </a:t>
            </a:r>
            <a:r>
              <a:rPr dirty="0" spc="75"/>
              <a:t>placed</a:t>
            </a:r>
            <a:r>
              <a:rPr dirty="0" spc="15"/>
              <a:t> </a:t>
            </a:r>
            <a:r>
              <a:rPr dirty="0" spc="85"/>
              <a:t>them</a:t>
            </a:r>
            <a:r>
              <a:rPr dirty="0" spc="15"/>
              <a:t> </a:t>
            </a:r>
            <a:r>
              <a:rPr dirty="0" spc="105"/>
              <a:t>in</a:t>
            </a:r>
            <a:r>
              <a:rPr dirty="0" spc="15"/>
              <a:t> </a:t>
            </a:r>
            <a:r>
              <a:rPr dirty="0" spc="60"/>
              <a:t>the</a:t>
            </a:r>
            <a:r>
              <a:rPr dirty="0" spc="15"/>
              <a:t> </a:t>
            </a:r>
            <a:r>
              <a:rPr dirty="0" spc="95"/>
              <a:t>same</a:t>
            </a:r>
            <a:r>
              <a:rPr dirty="0" spc="15"/>
              <a:t> </a:t>
            </a:r>
            <a:r>
              <a:rPr dirty="0" spc="90"/>
              <a:t>kingdom.</a:t>
            </a:r>
            <a:r>
              <a:rPr dirty="0" spc="270"/>
              <a:t> </a:t>
            </a:r>
            <a:r>
              <a:rPr dirty="0" spc="100"/>
              <a:t>So,</a:t>
            </a:r>
            <a:r>
              <a:rPr dirty="0" spc="15"/>
              <a:t> </a:t>
            </a:r>
            <a:r>
              <a:rPr dirty="0" spc="60"/>
              <a:t>the</a:t>
            </a:r>
            <a:r>
              <a:rPr dirty="0" spc="15"/>
              <a:t> </a:t>
            </a:r>
            <a:r>
              <a:rPr dirty="0" spc="70"/>
              <a:t>cyanobacteria </a:t>
            </a:r>
            <a:r>
              <a:rPr dirty="0" spc="80"/>
              <a:t>that</a:t>
            </a:r>
            <a:r>
              <a:rPr dirty="0" spc="60"/>
              <a:t> </a:t>
            </a:r>
            <a:r>
              <a:rPr dirty="0" spc="70"/>
              <a:t>are</a:t>
            </a:r>
            <a:r>
              <a:rPr dirty="0" spc="60"/>
              <a:t> </a:t>
            </a:r>
            <a:r>
              <a:rPr dirty="0" spc="85"/>
              <a:t>also</a:t>
            </a:r>
            <a:r>
              <a:rPr dirty="0" spc="60"/>
              <a:t> </a:t>
            </a:r>
            <a:r>
              <a:rPr dirty="0" spc="50"/>
              <a:t>referred</a:t>
            </a:r>
            <a:r>
              <a:rPr dirty="0" spc="60"/>
              <a:t> </a:t>
            </a:r>
            <a:r>
              <a:rPr dirty="0" spc="10"/>
              <a:t>to</a:t>
            </a:r>
            <a:r>
              <a:rPr dirty="0" spc="60"/>
              <a:t> </a:t>
            </a:r>
            <a:r>
              <a:rPr dirty="0" spc="114"/>
              <a:t>as</a:t>
            </a:r>
            <a:r>
              <a:rPr dirty="0" spc="60"/>
              <a:t> </a:t>
            </a:r>
            <a:r>
              <a:rPr dirty="0" spc="80"/>
              <a:t>blue</a:t>
            </a:r>
            <a:r>
              <a:rPr dirty="0" spc="60"/>
              <a:t> </a:t>
            </a:r>
            <a:r>
              <a:rPr dirty="0" spc="65"/>
              <a:t>green</a:t>
            </a:r>
            <a:r>
              <a:rPr dirty="0" spc="60"/>
              <a:t> </a:t>
            </a:r>
            <a:r>
              <a:rPr dirty="0" spc="65"/>
              <a:t>algae</a:t>
            </a:r>
            <a:r>
              <a:rPr dirty="0" spc="60"/>
              <a:t> </a:t>
            </a:r>
            <a:r>
              <a:rPr dirty="0" spc="70"/>
              <a:t>are</a:t>
            </a:r>
            <a:r>
              <a:rPr dirty="0" spc="60"/>
              <a:t> </a:t>
            </a:r>
            <a:r>
              <a:rPr dirty="0" spc="65"/>
              <a:t>not</a:t>
            </a:r>
            <a:r>
              <a:rPr dirty="0" spc="60"/>
              <a:t> </a:t>
            </a:r>
            <a:r>
              <a:rPr dirty="0" spc="10"/>
              <a:t>‘algae’</a:t>
            </a:r>
            <a:r>
              <a:rPr dirty="0" spc="60"/>
              <a:t> </a:t>
            </a:r>
            <a:r>
              <a:rPr dirty="0" spc="105"/>
              <a:t>any</a:t>
            </a:r>
            <a:r>
              <a:rPr dirty="0" spc="60"/>
              <a:t> </a:t>
            </a:r>
            <a:r>
              <a:rPr dirty="0" spc="70"/>
              <a:t>more.</a:t>
            </a:r>
            <a:r>
              <a:rPr dirty="0" spc="370"/>
              <a:t> </a:t>
            </a:r>
            <a:r>
              <a:rPr dirty="0" spc="85"/>
              <a:t>In </a:t>
            </a:r>
            <a:r>
              <a:rPr dirty="0" spc="125"/>
              <a:t>this</a:t>
            </a:r>
            <a:r>
              <a:rPr dirty="0" spc="355"/>
              <a:t> </a:t>
            </a:r>
            <a:r>
              <a:rPr dirty="0" spc="105"/>
              <a:t>chapter,</a:t>
            </a:r>
            <a:r>
              <a:rPr dirty="0" spc="355"/>
              <a:t> </a:t>
            </a:r>
            <a:r>
              <a:rPr dirty="0" spc="60"/>
              <a:t>we</a:t>
            </a:r>
            <a:r>
              <a:rPr dirty="0" spc="350"/>
              <a:t> </a:t>
            </a:r>
            <a:r>
              <a:rPr dirty="0" spc="95"/>
              <a:t>will</a:t>
            </a:r>
            <a:r>
              <a:rPr dirty="0" spc="355"/>
              <a:t> </a:t>
            </a:r>
            <a:r>
              <a:rPr dirty="0" spc="110"/>
              <a:t>describe</a:t>
            </a:r>
            <a:r>
              <a:rPr dirty="0" spc="355"/>
              <a:t> </a:t>
            </a:r>
            <a:r>
              <a:rPr dirty="0" spc="100"/>
              <a:t>Algae,</a:t>
            </a:r>
            <a:r>
              <a:rPr dirty="0" spc="350"/>
              <a:t> </a:t>
            </a:r>
            <a:r>
              <a:rPr dirty="0" spc="120"/>
              <a:t>Bryophytes,</a:t>
            </a:r>
            <a:r>
              <a:rPr dirty="0" spc="355"/>
              <a:t> </a:t>
            </a:r>
            <a:r>
              <a:rPr dirty="0" spc="100"/>
              <a:t>Pteridophytes, </a:t>
            </a:r>
            <a:r>
              <a:rPr dirty="0" spc="105"/>
              <a:t>Gymnosperms</a:t>
            </a:r>
            <a:r>
              <a:rPr dirty="0" spc="40"/>
              <a:t> </a:t>
            </a:r>
            <a:r>
              <a:rPr dirty="0" spc="110"/>
              <a:t>and</a:t>
            </a:r>
            <a:r>
              <a:rPr dirty="0" spc="40"/>
              <a:t> </a:t>
            </a:r>
            <a:r>
              <a:rPr dirty="0" spc="90"/>
              <a:t>Angiosperms</a:t>
            </a:r>
            <a:r>
              <a:rPr dirty="0" spc="45"/>
              <a:t> </a:t>
            </a:r>
            <a:r>
              <a:rPr dirty="0" spc="95"/>
              <a:t>under</a:t>
            </a:r>
            <a:r>
              <a:rPr dirty="0" spc="40"/>
              <a:t> </a:t>
            </a:r>
            <a:r>
              <a:rPr dirty="0" spc="80"/>
              <a:t>Plantae</a:t>
            </a:r>
            <a:r>
              <a:rPr dirty="0" spc="45"/>
              <a:t> </a:t>
            </a:r>
            <a:r>
              <a:rPr dirty="0" spc="20"/>
              <a:t>.</a:t>
            </a:r>
          </a:p>
          <a:p>
            <a:pPr algn="just" marL="12700" indent="228600">
              <a:lnSpc>
                <a:spcPct val="100000"/>
              </a:lnSpc>
              <a:spcBef>
                <a:spcPts val="135"/>
              </a:spcBef>
            </a:pPr>
            <a:r>
              <a:rPr dirty="0" spc="85"/>
              <a:t>Let</a:t>
            </a:r>
            <a:r>
              <a:rPr dirty="0" spc="90"/>
              <a:t> </a:t>
            </a:r>
            <a:r>
              <a:rPr dirty="0" spc="140"/>
              <a:t>us</a:t>
            </a:r>
            <a:r>
              <a:rPr dirty="0" spc="90"/>
              <a:t> </a:t>
            </a:r>
            <a:r>
              <a:rPr dirty="0" spc="85"/>
              <a:t>also</a:t>
            </a:r>
            <a:r>
              <a:rPr dirty="0" spc="95"/>
              <a:t> </a:t>
            </a:r>
            <a:r>
              <a:rPr dirty="0" spc="80"/>
              <a:t>look</a:t>
            </a:r>
            <a:r>
              <a:rPr dirty="0" spc="90"/>
              <a:t> </a:t>
            </a:r>
            <a:r>
              <a:rPr dirty="0" spc="75"/>
              <a:t>at</a:t>
            </a:r>
            <a:r>
              <a:rPr dirty="0" spc="95"/>
              <a:t> </a:t>
            </a:r>
            <a:r>
              <a:rPr dirty="0" spc="85"/>
              <a:t>classification</a:t>
            </a:r>
            <a:r>
              <a:rPr dirty="0" spc="90"/>
              <a:t> </a:t>
            </a:r>
            <a:r>
              <a:rPr dirty="0" spc="85"/>
              <a:t>within</a:t>
            </a:r>
            <a:r>
              <a:rPr dirty="0" spc="95"/>
              <a:t> </a:t>
            </a:r>
            <a:r>
              <a:rPr dirty="0" spc="90"/>
              <a:t>angiosperms </a:t>
            </a:r>
            <a:r>
              <a:rPr dirty="0"/>
              <a:t>to</a:t>
            </a:r>
            <a:r>
              <a:rPr dirty="0" spc="95"/>
              <a:t> </a:t>
            </a:r>
            <a:r>
              <a:rPr dirty="0" spc="90"/>
              <a:t>understand</a:t>
            </a:r>
          </a:p>
          <a:p>
            <a:pPr algn="just" marL="12700" marR="5080">
              <a:lnSpc>
                <a:spcPct val="111000"/>
              </a:lnSpc>
              <a:spcBef>
                <a:spcPts val="15"/>
              </a:spcBef>
            </a:pPr>
            <a:r>
              <a:rPr dirty="0" spc="75"/>
              <a:t>some</a:t>
            </a:r>
            <a:r>
              <a:rPr dirty="0" spc="170"/>
              <a:t> </a:t>
            </a:r>
            <a:r>
              <a:rPr dirty="0"/>
              <a:t>of</a:t>
            </a:r>
            <a:r>
              <a:rPr dirty="0" spc="175"/>
              <a:t> </a:t>
            </a:r>
            <a:r>
              <a:rPr dirty="0" spc="60"/>
              <a:t>the</a:t>
            </a:r>
            <a:r>
              <a:rPr dirty="0" spc="175"/>
              <a:t> </a:t>
            </a:r>
            <a:r>
              <a:rPr dirty="0" spc="90"/>
              <a:t>concerns</a:t>
            </a:r>
            <a:r>
              <a:rPr dirty="0" spc="175"/>
              <a:t>  </a:t>
            </a:r>
            <a:r>
              <a:rPr dirty="0" spc="80"/>
              <a:t>that</a:t>
            </a:r>
            <a:r>
              <a:rPr dirty="0" spc="180"/>
              <a:t> </a:t>
            </a:r>
            <a:r>
              <a:rPr dirty="0" spc="80"/>
              <a:t>influenced</a:t>
            </a:r>
            <a:r>
              <a:rPr dirty="0" spc="175"/>
              <a:t> </a:t>
            </a:r>
            <a:r>
              <a:rPr dirty="0" spc="60"/>
              <a:t>the</a:t>
            </a:r>
            <a:r>
              <a:rPr dirty="0" spc="175"/>
              <a:t> </a:t>
            </a:r>
            <a:r>
              <a:rPr dirty="0" spc="80"/>
              <a:t>classification</a:t>
            </a:r>
            <a:r>
              <a:rPr dirty="0" spc="175"/>
              <a:t> </a:t>
            </a:r>
            <a:r>
              <a:rPr dirty="0" spc="90"/>
              <a:t>systems.</a:t>
            </a:r>
            <a:r>
              <a:rPr dirty="0" spc="170"/>
              <a:t> </a:t>
            </a:r>
            <a:r>
              <a:rPr dirty="0" spc="70"/>
              <a:t>The </a:t>
            </a:r>
            <a:r>
              <a:rPr dirty="0" spc="50"/>
              <a:t>earliest</a:t>
            </a:r>
            <a:r>
              <a:rPr dirty="0" spc="-5"/>
              <a:t> </a:t>
            </a:r>
            <a:r>
              <a:rPr dirty="0" spc="80"/>
              <a:t>systems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65"/>
              <a:t>classification</a:t>
            </a:r>
            <a:r>
              <a:rPr dirty="0" spc="-5"/>
              <a:t> </a:t>
            </a:r>
            <a:r>
              <a:rPr dirty="0" spc="85"/>
              <a:t>used</a:t>
            </a:r>
            <a:r>
              <a:rPr dirty="0" spc="-5"/>
              <a:t> </a:t>
            </a:r>
            <a:r>
              <a:rPr dirty="0" spc="70"/>
              <a:t>only</a:t>
            </a:r>
            <a:r>
              <a:rPr dirty="0" spc="-5"/>
              <a:t> </a:t>
            </a:r>
            <a:r>
              <a:rPr dirty="0" spc="75"/>
              <a:t>gross</a:t>
            </a:r>
            <a:r>
              <a:rPr dirty="0" spc="-5"/>
              <a:t> </a:t>
            </a:r>
            <a:r>
              <a:rPr dirty="0" spc="65"/>
              <a:t>superficial</a:t>
            </a:r>
            <a:r>
              <a:rPr dirty="0" spc="-5"/>
              <a:t> </a:t>
            </a:r>
            <a:r>
              <a:rPr dirty="0" spc="50"/>
              <a:t>morphological </a:t>
            </a:r>
            <a:r>
              <a:rPr dirty="0" spc="85"/>
              <a:t>characters</a:t>
            </a:r>
            <a:r>
              <a:rPr dirty="0" spc="20"/>
              <a:t> </a:t>
            </a:r>
            <a:r>
              <a:rPr dirty="0" spc="125"/>
              <a:t>such</a:t>
            </a:r>
            <a:r>
              <a:rPr dirty="0" spc="20"/>
              <a:t> </a:t>
            </a:r>
            <a:r>
              <a:rPr dirty="0" spc="114"/>
              <a:t>as</a:t>
            </a:r>
            <a:r>
              <a:rPr dirty="0" spc="20"/>
              <a:t> </a:t>
            </a:r>
            <a:r>
              <a:rPr dirty="0" spc="85"/>
              <a:t>habit,</a:t>
            </a:r>
            <a:r>
              <a:rPr dirty="0" spc="25"/>
              <a:t> </a:t>
            </a:r>
            <a:r>
              <a:rPr dirty="0" spc="65"/>
              <a:t>colour,</a:t>
            </a:r>
            <a:r>
              <a:rPr dirty="0" spc="20"/>
              <a:t> </a:t>
            </a:r>
            <a:r>
              <a:rPr dirty="0" spc="105"/>
              <a:t>number</a:t>
            </a:r>
            <a:r>
              <a:rPr dirty="0" spc="20"/>
              <a:t> </a:t>
            </a:r>
            <a:r>
              <a:rPr dirty="0" spc="110"/>
              <a:t>and</a:t>
            </a:r>
            <a:r>
              <a:rPr dirty="0" spc="20"/>
              <a:t> </a:t>
            </a:r>
            <a:r>
              <a:rPr dirty="0" spc="95"/>
              <a:t>shape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65"/>
              <a:t>leaves,</a:t>
            </a:r>
            <a:r>
              <a:rPr dirty="0" spc="20"/>
              <a:t> </a:t>
            </a:r>
            <a:r>
              <a:rPr dirty="0" spc="55"/>
              <a:t>etc.</a:t>
            </a:r>
            <a:r>
              <a:rPr dirty="0" spc="285"/>
              <a:t> </a:t>
            </a:r>
            <a:r>
              <a:rPr dirty="0" spc="70"/>
              <a:t>They </a:t>
            </a:r>
            <a:r>
              <a:rPr dirty="0" spc="55"/>
              <a:t>were</a:t>
            </a:r>
            <a:r>
              <a:rPr dirty="0" spc="300"/>
              <a:t> </a:t>
            </a:r>
            <a:r>
              <a:rPr dirty="0" spc="95"/>
              <a:t>based</a:t>
            </a:r>
            <a:r>
              <a:rPr dirty="0" spc="305"/>
              <a:t> </a:t>
            </a:r>
            <a:r>
              <a:rPr dirty="0" spc="110"/>
              <a:t>mainly</a:t>
            </a:r>
            <a:r>
              <a:rPr dirty="0" spc="305"/>
              <a:t> </a:t>
            </a:r>
            <a:r>
              <a:rPr dirty="0" spc="90"/>
              <a:t>on</a:t>
            </a:r>
            <a:r>
              <a:rPr dirty="0" spc="300"/>
              <a:t> </a:t>
            </a:r>
            <a:r>
              <a:rPr dirty="0" spc="60"/>
              <a:t>vegetative</a:t>
            </a:r>
            <a:r>
              <a:rPr dirty="0" spc="305"/>
              <a:t> </a:t>
            </a:r>
            <a:r>
              <a:rPr dirty="0" spc="100"/>
              <a:t>characters</a:t>
            </a:r>
            <a:r>
              <a:rPr dirty="0" spc="305"/>
              <a:t> </a:t>
            </a:r>
            <a:r>
              <a:rPr dirty="0" spc="70"/>
              <a:t>or</a:t>
            </a:r>
            <a:r>
              <a:rPr dirty="0" spc="300"/>
              <a:t> </a:t>
            </a:r>
            <a:r>
              <a:rPr dirty="0" spc="90"/>
              <a:t>on</a:t>
            </a:r>
            <a:r>
              <a:rPr dirty="0" spc="305"/>
              <a:t> </a:t>
            </a:r>
            <a:r>
              <a:rPr dirty="0" spc="70"/>
              <a:t>the</a:t>
            </a:r>
            <a:r>
              <a:rPr dirty="0" spc="305"/>
              <a:t> </a:t>
            </a:r>
            <a:r>
              <a:rPr dirty="0" spc="95"/>
              <a:t>androecium </a:t>
            </a:r>
            <a:r>
              <a:rPr dirty="0" spc="85"/>
              <a:t>structure</a:t>
            </a:r>
            <a:r>
              <a:rPr dirty="0" spc="20"/>
              <a:t> </a:t>
            </a:r>
            <a:r>
              <a:rPr dirty="0" spc="70"/>
              <a:t>(system</a:t>
            </a:r>
            <a:r>
              <a:rPr dirty="0" spc="25"/>
              <a:t> </a:t>
            </a:r>
            <a:r>
              <a:rPr dirty="0" spc="65"/>
              <a:t>given</a:t>
            </a:r>
            <a:r>
              <a:rPr dirty="0" spc="25"/>
              <a:t> </a:t>
            </a:r>
            <a:r>
              <a:rPr dirty="0" spc="85"/>
              <a:t>by</a:t>
            </a:r>
            <a:r>
              <a:rPr dirty="0" spc="20"/>
              <a:t> </a:t>
            </a:r>
            <a:r>
              <a:rPr dirty="0" spc="95"/>
              <a:t>Linnaeus).</a:t>
            </a:r>
            <a:r>
              <a:rPr dirty="0" spc="25"/>
              <a:t> </a:t>
            </a:r>
            <a:r>
              <a:rPr dirty="0" spc="140"/>
              <a:t>Such</a:t>
            </a:r>
            <a:r>
              <a:rPr dirty="0" spc="25"/>
              <a:t> </a:t>
            </a:r>
            <a:r>
              <a:rPr dirty="0" spc="85"/>
              <a:t>systems</a:t>
            </a:r>
            <a:r>
              <a:rPr dirty="0" spc="20"/>
              <a:t> </a:t>
            </a:r>
            <a:r>
              <a:rPr dirty="0"/>
              <a:t>were</a:t>
            </a:r>
            <a:r>
              <a:rPr dirty="0" spc="10"/>
              <a:t> </a:t>
            </a:r>
            <a:r>
              <a:rPr dirty="0" spc="90" b="1">
                <a:latin typeface="Calibri"/>
                <a:cs typeface="Calibri"/>
              </a:rPr>
              <a:t>artificial;</a:t>
            </a:r>
            <a:r>
              <a:rPr dirty="0" spc="40" b="1">
                <a:latin typeface="Calibri"/>
                <a:cs typeface="Calibri"/>
              </a:rPr>
              <a:t> </a:t>
            </a:r>
            <a:r>
              <a:rPr dirty="0" spc="45"/>
              <a:t>they </a:t>
            </a:r>
            <a:r>
              <a:rPr dirty="0" spc="75"/>
              <a:t>separated</a:t>
            </a:r>
            <a:r>
              <a:rPr dirty="0" spc="225"/>
              <a:t> </a:t>
            </a:r>
            <a:r>
              <a:rPr dirty="0" spc="60"/>
              <a:t>the</a:t>
            </a:r>
            <a:r>
              <a:rPr dirty="0" spc="225"/>
              <a:t> </a:t>
            </a:r>
            <a:r>
              <a:rPr dirty="0" spc="70"/>
              <a:t>closely</a:t>
            </a:r>
            <a:r>
              <a:rPr dirty="0" spc="229"/>
              <a:t> </a:t>
            </a:r>
            <a:r>
              <a:rPr dirty="0" spc="60"/>
              <a:t>related</a:t>
            </a:r>
            <a:r>
              <a:rPr dirty="0" spc="225"/>
              <a:t> </a:t>
            </a:r>
            <a:r>
              <a:rPr dirty="0" spc="75"/>
              <a:t>species</a:t>
            </a:r>
            <a:r>
              <a:rPr dirty="0" spc="229"/>
              <a:t> </a:t>
            </a:r>
            <a:r>
              <a:rPr dirty="0" spc="85"/>
              <a:t>since</a:t>
            </a:r>
            <a:r>
              <a:rPr dirty="0" spc="225"/>
              <a:t> </a:t>
            </a:r>
            <a:r>
              <a:rPr dirty="0" spc="70"/>
              <a:t>they</a:t>
            </a:r>
            <a:r>
              <a:rPr dirty="0" spc="229"/>
              <a:t> </a:t>
            </a:r>
            <a:r>
              <a:rPr dirty="0"/>
              <a:t>were</a:t>
            </a:r>
            <a:r>
              <a:rPr dirty="0" spc="225"/>
              <a:t> </a:t>
            </a:r>
            <a:r>
              <a:rPr dirty="0" spc="85"/>
              <a:t>based</a:t>
            </a:r>
            <a:r>
              <a:rPr dirty="0" spc="229"/>
              <a:t> </a:t>
            </a:r>
            <a:r>
              <a:rPr dirty="0" spc="85"/>
              <a:t>on</a:t>
            </a:r>
            <a:r>
              <a:rPr dirty="0" spc="225"/>
              <a:t> </a:t>
            </a:r>
            <a:r>
              <a:rPr dirty="0" spc="105"/>
              <a:t>a</a:t>
            </a:r>
            <a:r>
              <a:rPr dirty="0" spc="229"/>
              <a:t> </a:t>
            </a:r>
            <a:r>
              <a:rPr dirty="0" spc="-25"/>
              <a:t>few </a:t>
            </a:r>
            <a:r>
              <a:rPr dirty="0" spc="90"/>
              <a:t>characteristics.</a:t>
            </a:r>
            <a:r>
              <a:rPr dirty="0" spc="290"/>
              <a:t> </a:t>
            </a:r>
            <a:r>
              <a:rPr dirty="0" spc="85"/>
              <a:t>Also,</a:t>
            </a:r>
            <a:r>
              <a:rPr dirty="0" spc="295"/>
              <a:t> </a:t>
            </a:r>
            <a:r>
              <a:rPr dirty="0" spc="65"/>
              <a:t>the</a:t>
            </a:r>
            <a:r>
              <a:rPr dirty="0" spc="295"/>
              <a:t> </a:t>
            </a:r>
            <a:r>
              <a:rPr dirty="0" spc="80"/>
              <a:t>artificial</a:t>
            </a:r>
            <a:r>
              <a:rPr dirty="0" spc="295"/>
              <a:t> </a:t>
            </a:r>
            <a:r>
              <a:rPr dirty="0" spc="100"/>
              <a:t>systems</a:t>
            </a:r>
            <a:r>
              <a:rPr dirty="0" spc="295"/>
              <a:t> </a:t>
            </a:r>
            <a:r>
              <a:rPr dirty="0" spc="65"/>
              <a:t>gave</a:t>
            </a:r>
            <a:r>
              <a:rPr dirty="0" spc="290"/>
              <a:t> </a:t>
            </a:r>
            <a:r>
              <a:rPr dirty="0" spc="85"/>
              <a:t>equal</a:t>
            </a:r>
            <a:r>
              <a:rPr dirty="0" spc="295"/>
              <a:t> </a:t>
            </a:r>
            <a:r>
              <a:rPr dirty="0" spc="70"/>
              <a:t>weightage</a:t>
            </a:r>
            <a:r>
              <a:rPr dirty="0" spc="295"/>
              <a:t> </a:t>
            </a:r>
            <a:r>
              <a:rPr dirty="0" spc="-25"/>
              <a:t>to </a:t>
            </a:r>
            <a:r>
              <a:rPr dirty="0" spc="20"/>
              <a:t>vegetative</a:t>
            </a:r>
            <a:r>
              <a:rPr dirty="0" spc="5"/>
              <a:t> </a:t>
            </a:r>
            <a:r>
              <a:rPr dirty="0" spc="100"/>
              <a:t>and</a:t>
            </a:r>
            <a:r>
              <a:rPr dirty="0" spc="5"/>
              <a:t> </a:t>
            </a:r>
            <a:r>
              <a:rPr dirty="0" spc="90"/>
              <a:t>sexual</a:t>
            </a:r>
            <a:r>
              <a:rPr dirty="0" spc="5"/>
              <a:t> </a:t>
            </a:r>
            <a:r>
              <a:rPr dirty="0" spc="65"/>
              <a:t>characteristics;</a:t>
            </a:r>
            <a:r>
              <a:rPr dirty="0" spc="5"/>
              <a:t> </a:t>
            </a:r>
            <a:r>
              <a:rPr dirty="0" spc="85"/>
              <a:t>this</a:t>
            </a:r>
            <a:r>
              <a:rPr dirty="0" spc="5"/>
              <a:t> </a:t>
            </a:r>
            <a:r>
              <a:rPr dirty="0" spc="90"/>
              <a:t>is</a:t>
            </a:r>
            <a:r>
              <a:rPr dirty="0" spc="10"/>
              <a:t> </a:t>
            </a:r>
            <a:r>
              <a:rPr dirty="0" spc="55"/>
              <a:t>not</a:t>
            </a:r>
            <a:r>
              <a:rPr dirty="0" spc="5"/>
              <a:t> </a:t>
            </a:r>
            <a:r>
              <a:rPr dirty="0" spc="55"/>
              <a:t>acceptable</a:t>
            </a:r>
            <a:r>
              <a:rPr dirty="0" spc="5"/>
              <a:t> </a:t>
            </a:r>
            <a:r>
              <a:rPr dirty="0" spc="75"/>
              <a:t>since</a:t>
            </a:r>
            <a:r>
              <a:rPr dirty="0" spc="5"/>
              <a:t> </a:t>
            </a:r>
            <a:r>
              <a:rPr dirty="0" spc="20"/>
              <a:t>we</a:t>
            </a:r>
            <a:r>
              <a:rPr dirty="0" spc="5"/>
              <a:t> </a:t>
            </a:r>
            <a:r>
              <a:rPr dirty="0" spc="60"/>
              <a:t>know </a:t>
            </a:r>
            <a:r>
              <a:rPr dirty="0" spc="110"/>
              <a:t>that</a:t>
            </a:r>
            <a:r>
              <a:rPr dirty="0" spc="350"/>
              <a:t> </a:t>
            </a:r>
            <a:r>
              <a:rPr dirty="0" spc="75"/>
              <a:t>often</a:t>
            </a:r>
            <a:r>
              <a:rPr dirty="0" spc="350"/>
              <a:t> </a:t>
            </a:r>
            <a:r>
              <a:rPr dirty="0" spc="85"/>
              <a:t>the</a:t>
            </a:r>
            <a:r>
              <a:rPr dirty="0" spc="355"/>
              <a:t> </a:t>
            </a:r>
            <a:r>
              <a:rPr dirty="0" spc="85"/>
              <a:t>vegetative</a:t>
            </a:r>
            <a:r>
              <a:rPr dirty="0" spc="350"/>
              <a:t> </a:t>
            </a:r>
            <a:r>
              <a:rPr dirty="0" spc="125"/>
              <a:t>characters</a:t>
            </a:r>
            <a:r>
              <a:rPr dirty="0" spc="355"/>
              <a:t> </a:t>
            </a:r>
            <a:r>
              <a:rPr dirty="0" spc="95"/>
              <a:t>are</a:t>
            </a:r>
            <a:r>
              <a:rPr dirty="0" spc="350"/>
              <a:t> </a:t>
            </a:r>
            <a:r>
              <a:rPr dirty="0" spc="100"/>
              <a:t>more</a:t>
            </a:r>
            <a:r>
              <a:rPr dirty="0" spc="355"/>
              <a:t> </a:t>
            </a:r>
            <a:r>
              <a:rPr dirty="0" spc="110"/>
              <a:t>easily</a:t>
            </a:r>
            <a:r>
              <a:rPr dirty="0" spc="350"/>
              <a:t> </a:t>
            </a:r>
            <a:r>
              <a:rPr dirty="0" spc="75"/>
              <a:t>affected</a:t>
            </a:r>
            <a:r>
              <a:rPr dirty="0" spc="350"/>
              <a:t> </a:t>
            </a:r>
            <a:r>
              <a:rPr dirty="0" spc="100"/>
              <a:t>by </a:t>
            </a:r>
            <a:r>
              <a:rPr dirty="0" spc="65"/>
              <a:t>environment.</a:t>
            </a:r>
            <a:r>
              <a:rPr dirty="0"/>
              <a:t> </a:t>
            </a:r>
            <a:r>
              <a:rPr dirty="0" spc="105"/>
              <a:t>As</a:t>
            </a:r>
            <a:r>
              <a:rPr dirty="0"/>
              <a:t> </a:t>
            </a:r>
            <a:r>
              <a:rPr dirty="0" spc="80"/>
              <a:t>against</a:t>
            </a:r>
            <a:r>
              <a:rPr dirty="0"/>
              <a:t> </a:t>
            </a:r>
            <a:r>
              <a:rPr dirty="0" spc="80"/>
              <a:t>this,</a:t>
            </a:r>
            <a:r>
              <a:rPr dirty="0"/>
              <a:t> </a:t>
            </a:r>
            <a:r>
              <a:rPr dirty="0" spc="95" b="1">
                <a:latin typeface="Calibri"/>
                <a:cs typeface="Calibri"/>
              </a:rPr>
              <a:t>natural</a:t>
            </a:r>
            <a:r>
              <a:rPr dirty="0" spc="20" b="1">
                <a:latin typeface="Calibri"/>
                <a:cs typeface="Calibri"/>
              </a:rPr>
              <a:t> </a:t>
            </a:r>
            <a:r>
              <a:rPr dirty="0" spc="100" b="1">
                <a:latin typeface="Calibri"/>
                <a:cs typeface="Calibri"/>
              </a:rPr>
              <a:t>classification</a:t>
            </a:r>
            <a:r>
              <a:rPr dirty="0" spc="25" b="1">
                <a:latin typeface="Calibri"/>
                <a:cs typeface="Calibri"/>
              </a:rPr>
              <a:t> </a:t>
            </a:r>
            <a:r>
              <a:rPr dirty="0" spc="114" b="1">
                <a:latin typeface="Calibri"/>
                <a:cs typeface="Calibri"/>
              </a:rPr>
              <a:t>systems</a:t>
            </a:r>
            <a:r>
              <a:rPr dirty="0" spc="35" b="1">
                <a:latin typeface="Calibri"/>
                <a:cs typeface="Calibri"/>
              </a:rPr>
              <a:t> </a:t>
            </a:r>
            <a:r>
              <a:rPr dirty="0" spc="-10"/>
              <a:t>developed, </a:t>
            </a:r>
            <a:r>
              <a:rPr dirty="0" spc="85"/>
              <a:t>which</a:t>
            </a:r>
            <a:r>
              <a:rPr dirty="0" spc="5"/>
              <a:t> </a:t>
            </a:r>
            <a:r>
              <a:rPr dirty="0" spc="30"/>
              <a:t>were</a:t>
            </a:r>
            <a:r>
              <a:rPr dirty="0" spc="45"/>
              <a:t> </a:t>
            </a:r>
            <a:r>
              <a:rPr dirty="0" spc="70"/>
              <a:t>based</a:t>
            </a:r>
            <a:r>
              <a:rPr dirty="0" spc="5"/>
              <a:t> </a:t>
            </a:r>
            <a:r>
              <a:rPr dirty="0" spc="75"/>
              <a:t>on</a:t>
            </a:r>
            <a:r>
              <a:rPr dirty="0"/>
              <a:t> </a:t>
            </a:r>
            <a:r>
              <a:rPr dirty="0" spc="80"/>
              <a:t>natural</a:t>
            </a:r>
            <a:r>
              <a:rPr dirty="0" spc="5"/>
              <a:t> </a:t>
            </a:r>
            <a:r>
              <a:rPr dirty="0" spc="30"/>
              <a:t>affinities</a:t>
            </a:r>
            <a:r>
              <a:rPr dirty="0"/>
              <a:t> </a:t>
            </a:r>
            <a:r>
              <a:rPr dirty="0" spc="75"/>
              <a:t>among</a:t>
            </a:r>
            <a:r>
              <a:rPr dirty="0" spc="5"/>
              <a:t> </a:t>
            </a:r>
            <a:r>
              <a:rPr dirty="0" spc="30"/>
              <a:t>the</a:t>
            </a:r>
            <a:r>
              <a:rPr dirty="0"/>
              <a:t> </a:t>
            </a:r>
            <a:r>
              <a:rPr dirty="0" spc="80"/>
              <a:t>organisms</a:t>
            </a:r>
            <a:r>
              <a:rPr dirty="0" spc="5"/>
              <a:t> </a:t>
            </a:r>
            <a:r>
              <a:rPr dirty="0" spc="100"/>
              <a:t>and</a:t>
            </a:r>
            <a:r>
              <a:rPr dirty="0" spc="5"/>
              <a:t> </a:t>
            </a:r>
            <a:r>
              <a:rPr dirty="0" spc="45"/>
              <a:t>consider,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  <a:tabLst>
                <a:tab pos="1115695" algn="l"/>
              </a:tabLst>
            </a:pPr>
            <a:r>
              <a:rPr dirty="0" sz="3000" spc="220"/>
              <a:t>C</a:t>
            </a:r>
            <a:r>
              <a:rPr dirty="0" sz="1250" spc="220"/>
              <a:t>HAPTER</a:t>
            </a:r>
            <a:r>
              <a:rPr dirty="0" sz="1250"/>
              <a:t>	</a:t>
            </a:r>
            <a:r>
              <a:rPr dirty="0" sz="3000" spc="-50"/>
              <a:t>3 </a:t>
            </a:r>
            <a:r>
              <a:rPr dirty="0" sz="3000" spc="170"/>
              <a:t>P</a:t>
            </a:r>
            <a:r>
              <a:rPr dirty="0" spc="170"/>
              <a:t>LANT</a:t>
            </a:r>
            <a:r>
              <a:rPr dirty="0" spc="75"/>
              <a:t>  </a:t>
            </a:r>
            <a:r>
              <a:rPr dirty="0" sz="3000" spc="200"/>
              <a:t>K</a:t>
            </a:r>
            <a:r>
              <a:rPr dirty="0" spc="200"/>
              <a:t>INGDOM</a:t>
            </a:r>
            <a:endParaRPr sz="3000"/>
          </a:p>
        </p:txBody>
      </p:sp>
      <p:sp>
        <p:nvSpPr>
          <p:cNvPr id="15" name="object 15" descr=""/>
          <p:cNvSpPr txBox="1"/>
          <p:nvPr/>
        </p:nvSpPr>
        <p:spPr>
          <a:xfrm>
            <a:off x="749300" y="4691374"/>
            <a:ext cx="6083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3.1</a:t>
            </a:r>
            <a:r>
              <a:rPr dirty="0" sz="1000" spc="27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00ADEF"/>
                </a:solidFill>
                <a:latin typeface="Calibri"/>
                <a:cs typeface="Calibri"/>
              </a:rPr>
              <a:t>Algae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49300" y="4959598"/>
            <a:ext cx="9531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3.2</a:t>
            </a:r>
            <a:r>
              <a:rPr dirty="0" sz="1000" spc="27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Bryophytes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49300" y="5224774"/>
            <a:ext cx="10877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3.3</a:t>
            </a:r>
            <a:r>
              <a:rPr dirty="0" sz="1000" spc="27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40" i="1">
                <a:solidFill>
                  <a:srgbClr val="00ADEF"/>
                </a:solidFill>
                <a:latin typeface="Calibri"/>
                <a:cs typeface="Calibri"/>
              </a:rPr>
              <a:t>Pteridophytes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9300" y="5492998"/>
            <a:ext cx="11233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3.4</a:t>
            </a:r>
            <a:r>
              <a:rPr dirty="0" sz="1000" spc="27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60" i="1">
                <a:solidFill>
                  <a:srgbClr val="00ADEF"/>
                </a:solidFill>
                <a:latin typeface="Calibri"/>
                <a:cs typeface="Calibri"/>
              </a:rPr>
              <a:t>Gymnosperms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49300" y="5758174"/>
            <a:ext cx="10382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3.5</a:t>
            </a:r>
            <a:r>
              <a:rPr dirty="0" sz="1000" spc="27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00ADEF"/>
                </a:solidFill>
                <a:latin typeface="Calibri"/>
                <a:cs typeface="Calibri"/>
              </a:rPr>
              <a:t>Angiosperms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49300" y="5989822"/>
            <a:ext cx="1269365" cy="5956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65430" marR="5080" indent="-253365">
              <a:lnSpc>
                <a:spcPct val="125000"/>
              </a:lnSpc>
              <a:spcBef>
                <a:spcPts val="85"/>
              </a:spcBef>
            </a:pPr>
            <a:r>
              <a:rPr dirty="0" sz="1000" spc="65" i="1">
                <a:solidFill>
                  <a:srgbClr val="00ADEF"/>
                </a:solidFill>
                <a:latin typeface="Calibri"/>
                <a:cs typeface="Calibri"/>
              </a:rPr>
              <a:t>3.6</a:t>
            </a:r>
            <a:r>
              <a:rPr dirty="0" sz="1000" spc="28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70" i="1">
                <a:solidFill>
                  <a:srgbClr val="00ADEF"/>
                </a:solidFill>
                <a:latin typeface="Calibri"/>
                <a:cs typeface="Calibri"/>
              </a:rPr>
              <a:t>Plant</a:t>
            </a:r>
            <a:r>
              <a:rPr dirty="0" sz="1000" spc="-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75" i="1">
                <a:solidFill>
                  <a:srgbClr val="00ADEF"/>
                </a:solidFill>
                <a:latin typeface="Calibri"/>
                <a:cs typeface="Calibri"/>
              </a:rPr>
              <a:t>Life</a:t>
            </a:r>
            <a:r>
              <a:rPr dirty="0" sz="1000" spc="-5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100" i="1">
                <a:solidFill>
                  <a:srgbClr val="00ADEF"/>
                </a:solidFill>
                <a:latin typeface="Calibri"/>
                <a:cs typeface="Calibri"/>
              </a:rPr>
              <a:t>Cycles and</a:t>
            </a:r>
            <a:r>
              <a:rPr dirty="0" sz="1000" spc="-30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00ADEF"/>
                </a:solidFill>
                <a:latin typeface="Calibri"/>
                <a:cs typeface="Calibri"/>
              </a:rPr>
              <a:t>Alternation</a:t>
            </a:r>
            <a:r>
              <a:rPr dirty="0" sz="1000" spc="500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ADEF"/>
                </a:solidFill>
                <a:latin typeface="Calibri"/>
                <a:cs typeface="Calibri"/>
              </a:rPr>
              <a:t>of</a:t>
            </a:r>
            <a:r>
              <a:rPr dirty="0" sz="1000" spc="20" i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00ADEF"/>
                </a:solidFill>
                <a:latin typeface="Calibri"/>
                <a:cs typeface="Calibri"/>
              </a:rPr>
              <a:t>Generations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2929" y="1333505"/>
            <a:ext cx="1078863" cy="1078863"/>
          </a:xfrm>
          <a:prstGeom prst="rect">
            <a:avLst/>
          </a:prstGeom>
        </p:spPr>
      </p:pic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63755"/>
            <a:ext cx="7772400" cy="660400"/>
            <a:chOff x="0" y="9763755"/>
            <a:chExt cx="7772400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095" y="9769851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60207" y="0"/>
                  </a:moveTo>
                  <a:lnTo>
                    <a:pt x="0" y="0"/>
                  </a:lnTo>
                  <a:lnTo>
                    <a:pt x="0" y="648212"/>
                  </a:lnTo>
                  <a:lnTo>
                    <a:pt x="7760207" y="648212"/>
                  </a:lnTo>
                  <a:lnTo>
                    <a:pt x="7760207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095" y="9769851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8212"/>
                  </a:moveTo>
                  <a:lnTo>
                    <a:pt x="7760207" y="648212"/>
                  </a:lnTo>
                  <a:lnTo>
                    <a:pt x="7760207" y="0"/>
                  </a:lnTo>
                  <a:lnTo>
                    <a:pt x="0" y="0"/>
                  </a:lnTo>
                  <a:lnTo>
                    <a:pt x="0" y="648212"/>
                  </a:lnTo>
                  <a:close/>
                </a:path>
              </a:pathLst>
            </a:custGeom>
            <a:ln w="12191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6"/>
            <a:ext cx="7772400" cy="1333500"/>
            <a:chOff x="0" y="6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10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9"/>
                  </a:moveTo>
                  <a:lnTo>
                    <a:pt x="7772399" y="129539"/>
                  </a:lnTo>
                  <a:lnTo>
                    <a:pt x="7772399" y="0"/>
                  </a:lnTo>
                  <a:lnTo>
                    <a:pt x="0" y="0"/>
                  </a:lnTo>
                  <a:lnTo>
                    <a:pt x="0" y="129539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6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399" y="0"/>
                  </a:moveTo>
                  <a:lnTo>
                    <a:pt x="0" y="0"/>
                  </a:lnTo>
                  <a:lnTo>
                    <a:pt x="0" y="1041404"/>
                  </a:lnTo>
                  <a:lnTo>
                    <a:pt x="7772399" y="1041404"/>
                  </a:lnTo>
                  <a:lnTo>
                    <a:pt x="7772399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600" y="876299"/>
              <a:ext cx="445134" cy="457200"/>
            </a:xfrm>
            <a:custGeom>
              <a:avLst/>
              <a:gdLst/>
              <a:ahLst/>
              <a:cxnLst/>
              <a:rect l="l" t="t" r="r" b="b"/>
              <a:pathLst>
                <a:path w="445134" h="457200">
                  <a:moveTo>
                    <a:pt x="330208" y="0"/>
                  </a:moveTo>
                  <a:lnTo>
                    <a:pt x="114299" y="0"/>
                  </a:lnTo>
                  <a:lnTo>
                    <a:pt x="91500" y="2091"/>
                  </a:lnTo>
                  <a:lnTo>
                    <a:pt x="51089" y="18825"/>
                  </a:lnTo>
                  <a:lnTo>
                    <a:pt x="18835" y="51086"/>
                  </a:lnTo>
                  <a:lnTo>
                    <a:pt x="2093" y="91502"/>
                  </a:lnTo>
                  <a:lnTo>
                    <a:pt x="0" y="114299"/>
                  </a:lnTo>
                  <a:lnTo>
                    <a:pt x="0" y="342899"/>
                  </a:lnTo>
                  <a:lnTo>
                    <a:pt x="8372" y="386791"/>
                  </a:lnTo>
                  <a:lnTo>
                    <a:pt x="33479" y="423732"/>
                  </a:lnTo>
                  <a:lnTo>
                    <a:pt x="70429" y="448833"/>
                  </a:lnTo>
                  <a:lnTo>
                    <a:pt x="114299" y="457199"/>
                  </a:lnTo>
                  <a:lnTo>
                    <a:pt x="330208" y="457199"/>
                  </a:lnTo>
                  <a:lnTo>
                    <a:pt x="374086" y="448833"/>
                  </a:lnTo>
                  <a:lnTo>
                    <a:pt x="411028" y="423732"/>
                  </a:lnTo>
                  <a:lnTo>
                    <a:pt x="436139" y="386791"/>
                  </a:lnTo>
                  <a:lnTo>
                    <a:pt x="444508" y="342899"/>
                  </a:lnTo>
                  <a:lnTo>
                    <a:pt x="444508" y="114299"/>
                  </a:lnTo>
                  <a:lnTo>
                    <a:pt x="436139" y="70431"/>
                  </a:lnTo>
                  <a:lnTo>
                    <a:pt x="411028" y="33467"/>
                  </a:lnTo>
                  <a:lnTo>
                    <a:pt x="374086" y="8366"/>
                  </a:lnTo>
                  <a:lnTo>
                    <a:pt x="330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3724" y="1008874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30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3923" y="1008874"/>
            <a:ext cx="4984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0"/>
            <a:ext cx="231775" cy="234950"/>
            <a:chOff x="0" y="0"/>
            <a:chExt cx="231775" cy="234950"/>
          </a:xfrm>
        </p:grpSpPr>
        <p:sp>
          <p:nvSpPr>
            <p:cNvPr id="12" name="object 12" descr=""/>
            <p:cNvSpPr/>
            <p:nvPr/>
          </p:nvSpPr>
          <p:spPr>
            <a:xfrm>
              <a:off x="0" y="233171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0124" y="0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80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0" y="10194035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0124" y="10238231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9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7828" y="10192511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428748" y="1516621"/>
            <a:ext cx="4601210" cy="75177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11430">
              <a:lnSpc>
                <a:spcPct val="111100"/>
              </a:lnSpc>
              <a:spcBef>
                <a:spcPts val="90"/>
              </a:spcBef>
            </a:pP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only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external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features,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also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internal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features,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ultra- 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structure,</a:t>
            </a:r>
            <a:r>
              <a:rPr dirty="0" sz="1050" spc="4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anatomy,</a:t>
            </a:r>
            <a:r>
              <a:rPr dirty="0" sz="1050" spc="4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embryology</a:t>
            </a:r>
            <a:r>
              <a:rPr dirty="0" sz="1050" spc="4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phytochemistry.</a:t>
            </a:r>
            <a:r>
              <a:rPr dirty="0" sz="1050" spc="4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4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classification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flowering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was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given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George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Bentham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Joseph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Dalton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Hooker.</a:t>
            </a:r>
            <a:endParaRPr sz="1050">
              <a:latin typeface="Calibri"/>
              <a:cs typeface="Calibri"/>
            </a:endParaRPr>
          </a:p>
          <a:p>
            <a:pPr algn="just" marL="12700" marR="5080" indent="228600">
              <a:lnSpc>
                <a:spcPct val="1105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At</a:t>
            </a:r>
            <a:r>
              <a:rPr dirty="0" sz="1050" spc="3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present</a:t>
            </a:r>
            <a:r>
              <a:rPr dirty="0" sz="1050" spc="4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5" b="1">
                <a:solidFill>
                  <a:srgbClr val="231F1F"/>
                </a:solidFill>
                <a:latin typeface="Calibri"/>
                <a:cs typeface="Calibri"/>
              </a:rPr>
              <a:t>phylogenetic</a:t>
            </a:r>
            <a:r>
              <a:rPr dirty="0" sz="1050" spc="44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5" b="1">
                <a:solidFill>
                  <a:srgbClr val="231F1F"/>
                </a:solidFill>
                <a:latin typeface="Calibri"/>
                <a:cs typeface="Calibri"/>
              </a:rPr>
              <a:t>classification</a:t>
            </a:r>
            <a:r>
              <a:rPr dirty="0" sz="1050" spc="44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75" b="1">
                <a:solidFill>
                  <a:srgbClr val="231F1F"/>
                </a:solidFill>
                <a:latin typeface="Calibri"/>
                <a:cs typeface="Calibri"/>
              </a:rPr>
              <a:t>systems</a:t>
            </a:r>
            <a:r>
              <a:rPr dirty="0" sz="1050" spc="434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based</a:t>
            </a:r>
            <a:r>
              <a:rPr dirty="0" sz="1050" spc="3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on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evolutionary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relationships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between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various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organisms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acceptable.</a:t>
            </a:r>
            <a:endParaRPr sz="1050">
              <a:latin typeface="Calibri"/>
              <a:cs typeface="Calibri"/>
            </a:endParaRPr>
          </a:p>
          <a:p>
            <a:pPr algn="just" marL="12700" marR="8890">
              <a:lnSpc>
                <a:spcPct val="111000"/>
              </a:lnSpc>
              <a:spcBef>
                <a:spcPts val="20"/>
              </a:spcBef>
            </a:pP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assumes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organisms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belonging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same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taxa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common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ancestor.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We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now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use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information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many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sources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too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help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resolve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difficulties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classification.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become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more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important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when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there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no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supporting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fossil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evidence.</a:t>
            </a:r>
            <a:r>
              <a:rPr dirty="0" sz="1050" spc="3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 b="1">
                <a:solidFill>
                  <a:srgbClr val="231F1F"/>
                </a:solidFill>
                <a:latin typeface="Calibri"/>
                <a:cs typeface="Calibri"/>
              </a:rPr>
              <a:t>Numerical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5" b="1">
                <a:solidFill>
                  <a:srgbClr val="231F1F"/>
                </a:solidFill>
                <a:latin typeface="Calibri"/>
                <a:cs typeface="Calibri"/>
              </a:rPr>
              <a:t>Taxonomy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is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now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easily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carried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out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using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computers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based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all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observable characteristics.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Number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codes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assigned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all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characters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data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then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processed.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In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way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character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given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equal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importance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at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same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time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hundreds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characters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can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considered.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 b="1">
                <a:solidFill>
                  <a:srgbClr val="231F1F"/>
                </a:solidFill>
                <a:latin typeface="Calibri"/>
                <a:cs typeface="Calibri"/>
              </a:rPr>
              <a:t>Cytotaxonomy</a:t>
            </a:r>
            <a:r>
              <a:rPr dirty="0" sz="1050" spc="-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based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cytological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information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like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chromosome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number,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structure,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behaviour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 b="1">
                <a:solidFill>
                  <a:srgbClr val="231F1F"/>
                </a:solidFill>
                <a:latin typeface="Calibri"/>
                <a:cs typeface="Calibri"/>
              </a:rPr>
              <a:t>chemotaxonomy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that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uses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chemical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constituents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resolve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confusions,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also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used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taxonomists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days.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45134" algn="l"/>
              </a:tabLst>
            </a:pPr>
            <a:r>
              <a:rPr dirty="0" sz="1300" spc="120" b="1">
                <a:solidFill>
                  <a:srgbClr val="00ADEF"/>
                </a:solidFill>
                <a:latin typeface="Calibri"/>
                <a:cs typeface="Calibri"/>
              </a:rPr>
              <a:t>3.1</a:t>
            </a:r>
            <a:r>
              <a:rPr dirty="0" sz="1300" b="1">
                <a:solidFill>
                  <a:srgbClr val="00ADEF"/>
                </a:solidFill>
                <a:latin typeface="Calibri"/>
                <a:cs typeface="Calibri"/>
              </a:rPr>
              <a:t>	</a:t>
            </a:r>
            <a:r>
              <a:rPr dirty="0" sz="1300" spc="150" b="1">
                <a:solidFill>
                  <a:srgbClr val="00ADEF"/>
                </a:solidFill>
                <a:latin typeface="Calibri"/>
                <a:cs typeface="Calibri"/>
              </a:rPr>
              <a:t>A</a:t>
            </a:r>
            <a:r>
              <a:rPr dirty="0" sz="900" spc="150" b="1">
                <a:solidFill>
                  <a:srgbClr val="00ADEF"/>
                </a:solidFill>
                <a:latin typeface="Calibri"/>
                <a:cs typeface="Calibri"/>
              </a:rPr>
              <a:t>LGAE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Calibri"/>
              <a:cs typeface="Calibri"/>
            </a:endParaRPr>
          </a:p>
          <a:p>
            <a:pPr algn="just" marL="12700" marR="8890">
              <a:lnSpc>
                <a:spcPct val="111000"/>
              </a:lnSpc>
            </a:pP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chlorophyll-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bearing,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simple,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thalloid,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autotrophic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largely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aquatic</a:t>
            </a:r>
            <a:r>
              <a:rPr dirty="0" sz="105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(both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fresh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marine)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organisms.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occur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variety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habitats: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moist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stones,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soils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wood.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them also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occur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association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fungi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(lichen)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animals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(e.g.,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sloth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bear).</a:t>
            </a:r>
            <a:endParaRPr sz="1050">
              <a:latin typeface="Calibri"/>
              <a:cs typeface="Calibri"/>
            </a:endParaRPr>
          </a:p>
          <a:p>
            <a:pPr algn="just" marL="12700" marR="11430" indent="228600">
              <a:lnSpc>
                <a:spcPct val="111100"/>
              </a:lnSpc>
              <a:spcBef>
                <a:spcPts val="20"/>
              </a:spcBef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size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highly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variable,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ranging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colonial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forms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Volvox</a:t>
            </a:r>
            <a:r>
              <a:rPr dirty="0" sz="1050" spc="2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filamentous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forms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i="1">
                <a:solidFill>
                  <a:srgbClr val="231F1F"/>
                </a:solidFill>
                <a:latin typeface="Calibri"/>
                <a:cs typeface="Calibri"/>
              </a:rPr>
              <a:t>Ulothrix</a:t>
            </a:r>
            <a:r>
              <a:rPr dirty="0" sz="1050" spc="3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Spirogyra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3.1)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4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few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marine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forms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kelps,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massive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plant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bodies.</a:t>
            </a:r>
            <a:endParaRPr sz="1050">
              <a:latin typeface="Calibri"/>
              <a:cs typeface="Calibri"/>
            </a:endParaRPr>
          </a:p>
          <a:p>
            <a:pPr algn="just" marL="12700" marR="11430" indent="228600">
              <a:lnSpc>
                <a:spcPct val="110500"/>
              </a:lnSpc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vegetative,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asexual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methods.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Vegetative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fragmentation.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fragment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endParaRPr sz="1050">
              <a:latin typeface="Calibri"/>
              <a:cs typeface="Calibri"/>
            </a:endParaRPr>
          </a:p>
          <a:p>
            <a:pPr algn="just" marL="12700" marR="8255">
              <a:lnSpc>
                <a:spcPct val="111100"/>
              </a:lnSpc>
              <a:spcBef>
                <a:spcPts val="15"/>
              </a:spcBef>
            </a:pP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thallus.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Asexual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production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types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spores,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most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common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being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zoospores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flagellated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(motile)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germination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gives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rise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new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plants.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reproduction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takes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through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fusion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gametes.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can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be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flagellated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similar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size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(as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Ulothrix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)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non-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flagellated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(non-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motile)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similar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size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(as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i="1">
                <a:solidFill>
                  <a:srgbClr val="231F1F"/>
                </a:solidFill>
                <a:latin typeface="Calibri"/>
                <a:cs typeface="Calibri"/>
              </a:rPr>
              <a:t>Spirogyra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).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called </a:t>
            </a:r>
            <a:r>
              <a:rPr dirty="0" sz="1050" spc="114" b="1">
                <a:solidFill>
                  <a:srgbClr val="231F1F"/>
                </a:solidFill>
                <a:latin typeface="Calibri"/>
                <a:cs typeface="Calibri"/>
              </a:rPr>
              <a:t>isogamous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Fusion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dissimilar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size,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species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120" i="1">
                <a:solidFill>
                  <a:srgbClr val="231F1F"/>
                </a:solidFill>
                <a:latin typeface="Calibri"/>
                <a:cs typeface="Calibri"/>
              </a:rPr>
              <a:t>Eudorina</a:t>
            </a:r>
            <a:r>
              <a:rPr dirty="0" sz="1050" spc="11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termed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 b="1">
                <a:solidFill>
                  <a:srgbClr val="231F1F"/>
                </a:solidFill>
                <a:latin typeface="Calibri"/>
                <a:cs typeface="Calibri"/>
              </a:rPr>
              <a:t>anisogamous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Fusion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between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large,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non-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motile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(static)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smaller,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motile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termed </a:t>
            </a:r>
            <a:r>
              <a:rPr dirty="0" sz="1050" spc="110" b="1">
                <a:solidFill>
                  <a:srgbClr val="231F1F"/>
                </a:solidFill>
                <a:latin typeface="Calibri"/>
                <a:cs typeface="Calibri"/>
              </a:rPr>
              <a:t>oogamous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e.g.,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Volvox,</a:t>
            </a:r>
            <a:r>
              <a:rPr dirty="0" sz="1050" spc="5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 i="1">
                <a:solidFill>
                  <a:srgbClr val="231F1F"/>
                </a:solidFill>
                <a:latin typeface="Calibri"/>
                <a:cs typeface="Calibri"/>
              </a:rPr>
              <a:t>Fucus.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31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1149350" y="8825513"/>
          <a:ext cx="5197475" cy="410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575"/>
                <a:gridCol w="1075689"/>
                <a:gridCol w="875664"/>
                <a:gridCol w="1074420"/>
                <a:gridCol w="796289"/>
              </a:tblGrid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</a:pPr>
                      <a:r>
                        <a:rPr dirty="0" sz="950" spc="10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Figure</a:t>
                      </a:r>
                      <a:r>
                        <a:rPr dirty="0" sz="950" spc="20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3.1</a:t>
                      </a:r>
                      <a:r>
                        <a:rPr dirty="0" sz="950" spc="21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6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r>
                        <a:rPr dirty="0" sz="950" spc="1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919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(a)</a:t>
                      </a:r>
                      <a:r>
                        <a:rPr dirty="0" sz="950" spc="1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7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950" spc="17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919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(i)</a:t>
                      </a:r>
                      <a:r>
                        <a:rPr dirty="0" sz="950" spc="1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Volvox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919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(ii)</a:t>
                      </a:r>
                      <a:r>
                        <a:rPr dirty="0" sz="950" spc="23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Ulothrix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7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6545" indent="-192405">
                        <a:lnSpc>
                          <a:spcPts val="1005"/>
                        </a:lnSpc>
                        <a:buAutoNum type="alphaLcParenBoth" startAt="2"/>
                        <a:tabLst>
                          <a:tab pos="296545" algn="l"/>
                        </a:tabLst>
                      </a:pP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Brown</a:t>
                      </a:r>
                      <a:r>
                        <a:rPr dirty="0" sz="950" spc="17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327660" indent="-223520">
                        <a:lnSpc>
                          <a:spcPts val="1085"/>
                        </a:lnSpc>
                        <a:buAutoNum type="alphaLcParenBoth" startAt="2"/>
                        <a:tabLst>
                          <a:tab pos="327660" algn="l"/>
                        </a:tabLst>
                      </a:pP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Red</a:t>
                      </a:r>
                      <a:r>
                        <a:rPr dirty="0" sz="950" spc="13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005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(i)</a:t>
                      </a:r>
                      <a:r>
                        <a:rPr dirty="0" sz="950" spc="21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7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Laminaria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52069">
                        <a:lnSpc>
                          <a:spcPts val="1085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(i)</a:t>
                      </a:r>
                      <a:r>
                        <a:rPr dirty="0" sz="950" spc="17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50" spc="6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Porphyra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005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(ii)</a:t>
                      </a:r>
                      <a:r>
                        <a:rPr dirty="0" sz="950" spc="2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Fucus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78740">
                        <a:lnSpc>
                          <a:spcPts val="1085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(ii)</a:t>
                      </a:r>
                      <a:r>
                        <a:rPr dirty="0" sz="950" spc="2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Polysiphonia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005"/>
                        </a:lnSpc>
                      </a:pPr>
                      <a:r>
                        <a:rPr dirty="0" sz="9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(iii)</a:t>
                      </a:r>
                      <a:r>
                        <a:rPr dirty="0" sz="950" spc="2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Dictyota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2" y="1523977"/>
            <a:ext cx="5407657" cy="7243466"/>
          </a:xfrm>
          <a:prstGeom prst="rect">
            <a:avLst/>
          </a:prstGeom>
        </p:spPr>
      </p:pic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2" y="9763759"/>
            <a:ext cx="7773034" cy="660400"/>
            <a:chOff x="-112" y="9763759"/>
            <a:chExt cx="7773034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25"/>
            <a:ext cx="7772400" cy="1333500"/>
            <a:chOff x="0" y="25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24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8"/>
                  </a:moveTo>
                  <a:lnTo>
                    <a:pt x="7772284" y="129538"/>
                  </a:lnTo>
                  <a:lnTo>
                    <a:pt x="7772284" y="0"/>
                  </a:lnTo>
                  <a:lnTo>
                    <a:pt x="0" y="0"/>
                  </a:lnTo>
                  <a:lnTo>
                    <a:pt x="0" y="129538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25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284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7772284" y="1041399"/>
                  </a:lnTo>
                  <a:lnTo>
                    <a:pt x="7772284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486" y="876286"/>
              <a:ext cx="444500" cy="457200"/>
            </a:xfrm>
            <a:custGeom>
              <a:avLst/>
              <a:gdLst/>
              <a:ahLst/>
              <a:cxnLst/>
              <a:rect l="l" t="t" r="r" b="b"/>
              <a:pathLst>
                <a:path w="444500" h="457200">
                  <a:moveTo>
                    <a:pt x="330197" y="0"/>
                  </a:moveTo>
                  <a:lnTo>
                    <a:pt x="114303" y="0"/>
                  </a:lnTo>
                  <a:lnTo>
                    <a:pt x="91496" y="2091"/>
                  </a:lnTo>
                  <a:lnTo>
                    <a:pt x="51084" y="18826"/>
                  </a:lnTo>
                  <a:lnTo>
                    <a:pt x="18834" y="51079"/>
                  </a:lnTo>
                  <a:lnTo>
                    <a:pt x="2092" y="91524"/>
                  </a:lnTo>
                  <a:lnTo>
                    <a:pt x="0" y="114331"/>
                  </a:lnTo>
                  <a:lnTo>
                    <a:pt x="0" y="342924"/>
                  </a:lnTo>
                  <a:lnTo>
                    <a:pt x="8371" y="386784"/>
                  </a:lnTo>
                  <a:lnTo>
                    <a:pt x="33482" y="423716"/>
                  </a:lnTo>
                  <a:lnTo>
                    <a:pt x="70423" y="448818"/>
                  </a:lnTo>
                  <a:lnTo>
                    <a:pt x="114303" y="457184"/>
                  </a:lnTo>
                  <a:lnTo>
                    <a:pt x="330197" y="457184"/>
                  </a:lnTo>
                  <a:lnTo>
                    <a:pt x="374081" y="448818"/>
                  </a:lnTo>
                  <a:lnTo>
                    <a:pt x="411025" y="423716"/>
                  </a:lnTo>
                  <a:lnTo>
                    <a:pt x="436133" y="386784"/>
                  </a:lnTo>
                  <a:lnTo>
                    <a:pt x="444501" y="342924"/>
                  </a:lnTo>
                  <a:lnTo>
                    <a:pt x="444501" y="114331"/>
                  </a:lnTo>
                  <a:lnTo>
                    <a:pt x="436133" y="70435"/>
                  </a:lnTo>
                  <a:lnTo>
                    <a:pt x="411025" y="33468"/>
                  </a:lnTo>
                  <a:lnTo>
                    <a:pt x="374081" y="8367"/>
                  </a:lnTo>
                  <a:lnTo>
                    <a:pt x="330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2085" y="1008519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32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4952" y="1008519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9" y="1140"/>
            <a:ext cx="232410" cy="234315"/>
            <a:chOff x="1029" y="1140"/>
            <a:chExt cx="232410" cy="234315"/>
          </a:xfrm>
        </p:grpSpPr>
        <p:sp>
          <p:nvSpPr>
            <p:cNvPr id="12" name="object 12" descr=""/>
            <p:cNvSpPr/>
            <p:nvPr/>
          </p:nvSpPr>
          <p:spPr>
            <a:xfrm>
              <a:off x="1029" y="2335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1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537" y="11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2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029" y="1019251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1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1537" y="10238613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8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8874" y="10193655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438158" y="1504060"/>
            <a:ext cx="4599940" cy="7773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28600">
              <a:lnSpc>
                <a:spcPct val="111100"/>
              </a:lnSpc>
              <a:spcBef>
                <a:spcPts val="100"/>
              </a:spcBef>
            </a:pP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useful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man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variety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ways.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least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half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total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carbon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dioxide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fixation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earth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carried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out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through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photosynthesis.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Being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photosynthetic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increase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level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dissolved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oxygen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immediate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environment.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paramount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importance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primary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producers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energy-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rich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compounds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form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basis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cycles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all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aquatic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animals.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Many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species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 i="1">
                <a:solidFill>
                  <a:srgbClr val="231F1F"/>
                </a:solidFill>
                <a:latin typeface="Calibri"/>
                <a:cs typeface="Calibri"/>
              </a:rPr>
              <a:t>Porphyra, </a:t>
            </a:r>
            <a:r>
              <a:rPr dirty="0" sz="1050" spc="90" i="1">
                <a:solidFill>
                  <a:srgbClr val="231F1F"/>
                </a:solidFill>
                <a:latin typeface="Calibri"/>
                <a:cs typeface="Calibri"/>
              </a:rPr>
              <a:t>Laminaria</a:t>
            </a:r>
            <a:r>
              <a:rPr dirty="0" sz="1050" spc="18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i="1">
                <a:solidFill>
                  <a:srgbClr val="231F1F"/>
                </a:solidFill>
                <a:latin typeface="Calibri"/>
                <a:cs typeface="Calibri"/>
              </a:rPr>
              <a:t>Sargassum</a:t>
            </a:r>
            <a:r>
              <a:rPr dirty="0" sz="1050" spc="185" i="1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among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70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species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marine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algae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used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Certain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marine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brown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large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amounts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hydrocolloids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(water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holding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substances),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e.g.,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algin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(brown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algae)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carrageen</a:t>
            </a:r>
            <a:r>
              <a:rPr dirty="0" sz="1050" spc="26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(red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algae)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used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commercially.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Agar,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commercial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products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obtained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 i="1">
                <a:solidFill>
                  <a:srgbClr val="231F1F"/>
                </a:solidFill>
                <a:latin typeface="Calibri"/>
                <a:cs typeface="Calibri"/>
              </a:rPr>
              <a:t>Gelidium</a:t>
            </a:r>
            <a:r>
              <a:rPr dirty="0" sz="1050" spc="6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 i="1">
                <a:solidFill>
                  <a:srgbClr val="231F1F"/>
                </a:solidFill>
                <a:latin typeface="Calibri"/>
                <a:cs typeface="Calibri"/>
              </a:rPr>
              <a:t>Gracilaria</a:t>
            </a:r>
            <a:r>
              <a:rPr dirty="0" sz="1050" spc="4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used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grow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microbes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preparations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ice-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creams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jellies.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Chlorella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unicellular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alga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rich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proteins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used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supplement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even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space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travellers.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divided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three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classes: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Chlorophyceae, 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Phaeophyceae</a:t>
            </a:r>
            <a:r>
              <a:rPr dirty="0" sz="1050" spc="21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Rhodophyceae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lvl="2" marL="568325" indent="-555625">
              <a:lnSpc>
                <a:spcPct val="100000"/>
              </a:lnSpc>
              <a:spcBef>
                <a:spcPts val="1190"/>
              </a:spcBef>
              <a:buAutoNum type="arabicPeriod"/>
              <a:tabLst>
                <a:tab pos="568325" algn="l"/>
              </a:tabLst>
            </a:pPr>
            <a:r>
              <a:rPr dirty="0" sz="1200" spc="120" b="1">
                <a:solidFill>
                  <a:srgbClr val="00ADEF"/>
                </a:solidFill>
                <a:latin typeface="Calibri"/>
                <a:cs typeface="Calibri"/>
              </a:rPr>
              <a:t>Chlorophyceae</a:t>
            </a:r>
            <a:endParaRPr sz="1200">
              <a:latin typeface="Calibri"/>
              <a:cs typeface="Calibri"/>
            </a:endParaRPr>
          </a:p>
          <a:p>
            <a:pPr algn="just" marL="12700" marR="9525">
              <a:lnSpc>
                <a:spcPct val="111100"/>
              </a:lnSpc>
              <a:spcBef>
                <a:spcPts val="570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chlorophyceae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commonly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green</a:t>
            </a:r>
            <a:r>
              <a:rPr dirty="0" sz="1050" spc="17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unicellular,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colonial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filamentous.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usually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grass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green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due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dominance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pigments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chlorophyll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 i="1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b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pigments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are localised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definite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chloroplasts.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chloroplasts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be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discoid,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plate-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like,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reticulate,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cup-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shaped,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spiral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ribbon-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shaped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species.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Most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more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storage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bodies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pyrenoids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located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chloroplasts.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Pyrenoids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contain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protein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besides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starch.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store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oil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droplets.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Green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rigid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wall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made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inner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layer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cellulose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outer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layer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pectose.</a:t>
            </a:r>
            <a:endParaRPr sz="1050">
              <a:latin typeface="Calibri"/>
              <a:cs typeface="Calibri"/>
            </a:endParaRPr>
          </a:p>
          <a:p>
            <a:pPr algn="just" marL="12700" marR="6985" indent="228600">
              <a:lnSpc>
                <a:spcPct val="111100"/>
              </a:lnSpc>
            </a:pP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Vegetative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takes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fragmentation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types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spores.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Asexual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flagellated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zoospores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zoosporangia.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reproduction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shows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considerable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variation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type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cells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it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isogamous,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anisogamous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oogamous.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commonly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found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green algae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are: </a:t>
            </a:r>
            <a:r>
              <a:rPr dirty="0" sz="1050" spc="95" i="1">
                <a:solidFill>
                  <a:srgbClr val="231F1F"/>
                </a:solidFill>
                <a:latin typeface="Calibri"/>
                <a:cs typeface="Calibri"/>
              </a:rPr>
              <a:t>Chlamydomonas,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 i="1">
                <a:solidFill>
                  <a:srgbClr val="231F1F"/>
                </a:solidFill>
                <a:latin typeface="Calibri"/>
                <a:cs typeface="Calibri"/>
              </a:rPr>
              <a:t>Volvox,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 i="1">
                <a:solidFill>
                  <a:srgbClr val="231F1F"/>
                </a:solidFill>
                <a:latin typeface="Calibri"/>
                <a:cs typeface="Calibri"/>
              </a:rPr>
              <a:t>Ulothrix,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Spirogyra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i="1">
                <a:solidFill>
                  <a:srgbClr val="231F1F"/>
                </a:solidFill>
                <a:latin typeface="Calibri"/>
                <a:cs typeface="Calibri"/>
              </a:rPr>
              <a:t>Chara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3.1a)</a:t>
            </a:r>
            <a:r>
              <a:rPr dirty="0" sz="1050" spc="55" i="1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lvl="2" marL="568325" indent="-555625">
              <a:lnSpc>
                <a:spcPct val="100000"/>
              </a:lnSpc>
              <a:spcBef>
                <a:spcPts val="1190"/>
              </a:spcBef>
              <a:buAutoNum type="arabicPeriod" startAt="2"/>
              <a:tabLst>
                <a:tab pos="568325" algn="l"/>
              </a:tabLst>
            </a:pPr>
            <a:r>
              <a:rPr dirty="0" sz="1200" spc="110" b="1">
                <a:solidFill>
                  <a:srgbClr val="00ADEF"/>
                </a:solidFill>
                <a:latin typeface="Calibri"/>
                <a:cs typeface="Calibri"/>
              </a:rPr>
              <a:t>Phaeophyceae</a:t>
            </a:r>
            <a:endParaRPr sz="1200">
              <a:latin typeface="Calibri"/>
              <a:cs typeface="Calibri"/>
            </a:endParaRPr>
          </a:p>
          <a:p>
            <a:pPr algn="just" marL="12700" marR="7620">
              <a:lnSpc>
                <a:spcPct val="111100"/>
              </a:lnSpc>
              <a:spcBef>
                <a:spcPts val="570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phaeophyceae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231F1F"/>
                </a:solidFill>
                <a:latin typeface="Calibri"/>
                <a:cs typeface="Calibri"/>
              </a:rPr>
              <a:t>brown</a:t>
            </a:r>
            <a:r>
              <a:rPr dirty="0" sz="1050" spc="20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8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found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primarily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marine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habitats.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show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great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variation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size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form.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range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simple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branched,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filamentous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forms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Ectocarpus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)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profusely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branched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forms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represented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kelps,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reach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height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100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metres.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possess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chlorophyll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c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carotenoids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xanthophylls.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colour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olive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green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various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shades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brown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depending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upon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amount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xanthophyll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pigment,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fucoxanthin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present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33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49300" y="1517407"/>
            <a:ext cx="4984750" cy="5046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391795">
              <a:lnSpc>
                <a:spcPct val="111100"/>
              </a:lnSpc>
              <a:spcBef>
                <a:spcPts val="95"/>
              </a:spcBef>
            </a:pP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them.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Food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stored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complex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carbohydrates,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laminarin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mannitol.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vegetative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cells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cellulosic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wall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covered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outside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gelatinous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coating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algin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protoplast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contains,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addition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plastids,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centrally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located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vacuole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nucleus.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attached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substratum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a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holdfast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has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stalk,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stipe</a:t>
            </a:r>
            <a:r>
              <a:rPr dirty="0" sz="1050" spc="7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leaf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photosynthetic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organ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231F1F"/>
                </a:solidFill>
                <a:latin typeface="Calibri"/>
                <a:cs typeface="Calibri"/>
              </a:rPr>
              <a:t>frond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Vegetative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takes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fragmentation.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Asexual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most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brown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biflagellate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zoospores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pear-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shaped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unequal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laterally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attached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flagella.</a:t>
            </a:r>
            <a:endParaRPr sz="1050">
              <a:latin typeface="Calibri"/>
              <a:cs typeface="Calibri"/>
            </a:endParaRPr>
          </a:p>
          <a:p>
            <a:pPr algn="just" marL="12700" marR="391160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be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isogamous,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anisogamous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oogamous.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Union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take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oogonium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(oogamous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species).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pyriform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(pear-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shaped)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bear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laterally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attached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flagella.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common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forms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Ectocarpus,</a:t>
            </a:r>
            <a:r>
              <a:rPr dirty="0" sz="1050" spc="-1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31F1F"/>
                </a:solidFill>
                <a:latin typeface="Calibri"/>
                <a:cs typeface="Calibri"/>
              </a:rPr>
              <a:t>Dictyota, </a:t>
            </a:r>
            <a:r>
              <a:rPr dirty="0" sz="1050" spc="80" i="1">
                <a:solidFill>
                  <a:srgbClr val="231F1F"/>
                </a:solidFill>
                <a:latin typeface="Calibri"/>
                <a:cs typeface="Calibri"/>
              </a:rPr>
              <a:t>Laminaria,</a:t>
            </a:r>
            <a:r>
              <a:rPr dirty="0" sz="1050" spc="16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i="1">
                <a:solidFill>
                  <a:srgbClr val="231F1F"/>
                </a:solidFill>
                <a:latin typeface="Calibri"/>
                <a:cs typeface="Calibri"/>
              </a:rPr>
              <a:t>Sargassum</a:t>
            </a:r>
            <a:r>
              <a:rPr dirty="0" sz="1050" spc="204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 i="1">
                <a:solidFill>
                  <a:srgbClr val="231F1F"/>
                </a:solidFill>
                <a:latin typeface="Calibri"/>
                <a:cs typeface="Calibri"/>
              </a:rPr>
              <a:t>Fucus</a:t>
            </a:r>
            <a:r>
              <a:rPr dirty="0" sz="1050" spc="18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3.1b)</a:t>
            </a:r>
            <a:r>
              <a:rPr dirty="0" sz="1050" spc="55" i="1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190"/>
              </a:spcBef>
            </a:pPr>
            <a:r>
              <a:rPr dirty="0" sz="1200" spc="140" b="1">
                <a:solidFill>
                  <a:srgbClr val="00ADEF"/>
                </a:solidFill>
                <a:latin typeface="Calibri"/>
                <a:cs typeface="Calibri"/>
              </a:rPr>
              <a:t>3.1.3</a:t>
            </a:r>
            <a:r>
              <a:rPr dirty="0" sz="1200" spc="225" b="1">
                <a:solidFill>
                  <a:srgbClr val="00ADEF"/>
                </a:solidFill>
                <a:latin typeface="Calibri"/>
                <a:cs typeface="Calibri"/>
              </a:rPr>
              <a:t>  </a:t>
            </a:r>
            <a:r>
              <a:rPr dirty="0" sz="1200" spc="110" b="1">
                <a:solidFill>
                  <a:srgbClr val="00ADEF"/>
                </a:solidFill>
                <a:latin typeface="Calibri"/>
                <a:cs typeface="Calibri"/>
              </a:rPr>
              <a:t>Rhodophyceae</a:t>
            </a:r>
            <a:endParaRPr sz="1200">
              <a:latin typeface="Calibri"/>
              <a:cs typeface="Calibri"/>
            </a:endParaRPr>
          </a:p>
          <a:p>
            <a:pPr algn="just" marL="12700" marR="394970">
              <a:lnSpc>
                <a:spcPct val="111100"/>
              </a:lnSpc>
              <a:spcBef>
                <a:spcPts val="570"/>
              </a:spcBef>
            </a:pP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rhodophyceae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commonly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b="1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because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predominance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pigment,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phycoerythrin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body.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Majority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of the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algae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marine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greater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concentrations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found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warmer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areas.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occur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both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well-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lighted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regions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close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surface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water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also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great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depths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oceans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where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relatively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little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light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penetrates.</a:t>
            </a:r>
            <a:endParaRPr sz="1050">
              <a:latin typeface="Calibri"/>
              <a:cs typeface="Calibri"/>
            </a:endParaRPr>
          </a:p>
          <a:p>
            <a:pPr algn="just" marL="12700" marR="393065" indent="228600">
              <a:lnSpc>
                <a:spcPct val="1111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thalli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most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multicellular.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them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complex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organisation.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stored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floridean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starch which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very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similar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amylopectin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glycogen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structure.</a:t>
            </a:r>
            <a:endParaRPr sz="1050">
              <a:latin typeface="Calibri"/>
              <a:cs typeface="Calibri"/>
            </a:endParaRPr>
          </a:p>
          <a:p>
            <a:pPr algn="just" marL="12700" marR="392430" indent="228600">
              <a:lnSpc>
                <a:spcPct val="1112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reproduce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vegetatively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fragmentation.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They reproduce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asexually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non-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motile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sexually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non-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motile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50">
              <a:latin typeface="Calibri"/>
              <a:cs typeface="Calibri"/>
            </a:endParaRPr>
          </a:p>
          <a:p>
            <a:pPr marL="1066800">
              <a:lnSpc>
                <a:spcPct val="100000"/>
              </a:lnSpc>
              <a:spcBef>
                <a:spcPts val="5"/>
              </a:spcBef>
            </a:pPr>
            <a:r>
              <a:rPr dirty="0" sz="1100" spc="150" b="1">
                <a:solidFill>
                  <a:srgbClr val="231F1F"/>
                </a:solidFill>
                <a:latin typeface="Calibri"/>
                <a:cs typeface="Calibri"/>
              </a:rPr>
              <a:t>T</a:t>
            </a:r>
            <a:r>
              <a:rPr dirty="0" sz="750" spc="150" b="1">
                <a:solidFill>
                  <a:srgbClr val="231F1F"/>
                </a:solidFill>
                <a:latin typeface="Calibri"/>
                <a:cs typeface="Calibri"/>
              </a:rPr>
              <a:t>ABLE</a:t>
            </a:r>
            <a:r>
              <a:rPr dirty="0" sz="750" spc="40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100" spc="125" b="1">
                <a:solidFill>
                  <a:srgbClr val="231F1F"/>
                </a:solidFill>
                <a:latin typeface="Calibri"/>
                <a:cs typeface="Calibri"/>
              </a:rPr>
              <a:t>3.1</a:t>
            </a:r>
            <a:r>
              <a:rPr dirty="0" sz="1100" spc="24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231F1F"/>
                </a:solidFill>
                <a:latin typeface="Calibri"/>
                <a:cs typeface="Calibri"/>
              </a:rPr>
              <a:t>Divisions</a:t>
            </a:r>
            <a:r>
              <a:rPr dirty="0" sz="950" spc="26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0" b="1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950" spc="26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0" b="1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950" spc="26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950" spc="26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950" spc="26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5" b="1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950" spc="26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00" b="1">
                <a:solidFill>
                  <a:srgbClr val="231F1F"/>
                </a:solidFill>
                <a:latin typeface="Calibri"/>
                <a:cs typeface="Calibri"/>
              </a:rPr>
              <a:t>Characteristics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761995" y="6683375"/>
          <a:ext cx="6103620" cy="2545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280"/>
                <a:gridCol w="687705"/>
                <a:gridCol w="984250"/>
                <a:gridCol w="767714"/>
                <a:gridCol w="728979"/>
                <a:gridCol w="880110"/>
                <a:gridCol w="994410"/>
              </a:tblGrid>
              <a:tr h="62865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13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BE75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431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15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Common </a:t>
                      </a:r>
                      <a:r>
                        <a:rPr dirty="0" sz="950" spc="13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2768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7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Major </a:t>
                      </a:r>
                      <a:r>
                        <a:rPr dirty="0" sz="950" spc="13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Pigments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2597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114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Stored </a:t>
                      </a:r>
                      <a:r>
                        <a:rPr dirty="0" sz="950" spc="10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Food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10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Cell</a:t>
                      </a:r>
                      <a:r>
                        <a:rPr dirty="0" sz="950" spc="18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Wall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1460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10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Flagellar Number</a:t>
                      </a:r>
                      <a:r>
                        <a:rPr dirty="0" sz="950" spc="28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950" spc="10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r>
                        <a:rPr dirty="0" sz="950" spc="30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950" spc="120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Insertions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50" spc="125" b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Habitat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BE75"/>
                      </a:solidFill>
                      <a:prstDash val="solid"/>
                    </a:lnR>
                    <a:lnT w="12700">
                      <a:solidFill>
                        <a:srgbClr val="FFBE75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Chlorophyceae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BE75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252729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10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Green </a:t>
                      </a: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Chlorophyll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950" spc="6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a,</a:t>
                      </a:r>
                      <a:r>
                        <a:rPr dirty="0" sz="950" spc="14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2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13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Starch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Cellulose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1492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2-8,</a:t>
                      </a:r>
                      <a:r>
                        <a:rPr dirty="0" sz="950" spc="254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equal, </a:t>
                      </a:r>
                      <a:r>
                        <a:rPr dirty="0" sz="950" spc="10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apical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40005" marR="120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950" spc="10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Fresh</a:t>
                      </a:r>
                      <a:r>
                        <a:rPr dirty="0" sz="950" spc="26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water, </a:t>
                      </a:r>
                      <a:r>
                        <a:rPr dirty="0" sz="950" spc="10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brackish</a:t>
                      </a:r>
                      <a:r>
                        <a:rPr dirty="0" sz="950" spc="2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water, </a:t>
                      </a: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salt</a:t>
                      </a:r>
                      <a:r>
                        <a:rPr dirty="0" sz="950" spc="254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BE75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</a:tr>
              <a:tr h="640715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Phaeophyceae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BE75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224154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12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Brown </a:t>
                      </a: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1549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Chlorophyll </a:t>
                      </a:r>
                      <a:r>
                        <a:rPr dirty="0" sz="950" spc="6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a,</a:t>
                      </a:r>
                      <a:r>
                        <a:rPr dirty="0" sz="950" spc="13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c,</a:t>
                      </a:r>
                      <a:r>
                        <a:rPr dirty="0" sz="950" spc="10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fucoxanthin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774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Mannitol, </a:t>
                      </a:r>
                      <a:r>
                        <a:rPr dirty="0" sz="950" spc="114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laminarin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38735" marR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Cellulose </a:t>
                      </a:r>
                      <a:r>
                        <a:rPr dirty="0" sz="950" spc="10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50" spc="26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algin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10096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2,</a:t>
                      </a:r>
                      <a:r>
                        <a:rPr dirty="0" sz="950" spc="2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unequal, </a:t>
                      </a: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lateral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40005" marR="29209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50" spc="11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Fresh</a:t>
                      </a:r>
                      <a:r>
                        <a:rPr dirty="0" sz="950" spc="27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 (rare)</a:t>
                      </a:r>
                      <a:r>
                        <a:rPr dirty="0" sz="950" spc="2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10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brackish </a:t>
                      </a:r>
                      <a:r>
                        <a:rPr dirty="0" sz="950" spc="5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water,</a:t>
                      </a:r>
                      <a:r>
                        <a:rPr dirty="0" sz="950" spc="2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salt </a:t>
                      </a:r>
                      <a:r>
                        <a:rPr dirty="0" sz="950" spc="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BE75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Rhodophyceae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BE75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2990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7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Red </a:t>
                      </a: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algae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Chlorophyll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950" spc="6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a,</a:t>
                      </a:r>
                      <a:r>
                        <a:rPr dirty="0" sz="950" spc="130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 i="1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d,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950" spc="9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phycoerythrin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1079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9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Floridean </a:t>
                      </a:r>
                      <a:r>
                        <a:rPr dirty="0" sz="950" spc="12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starch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38735" marR="234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Cellulose, </a:t>
                      </a:r>
                      <a:r>
                        <a:rPr dirty="0" sz="950" spc="8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pectin</a:t>
                      </a:r>
                      <a:r>
                        <a:rPr dirty="0" sz="950" spc="254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950" spc="5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poly </a:t>
                      </a:r>
                      <a:r>
                        <a:rPr dirty="0" sz="950" spc="10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sulphate </a:t>
                      </a:r>
                      <a:r>
                        <a:rPr dirty="0" sz="950" spc="8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esters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10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Absent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  <a:tc>
                  <a:txBody>
                    <a:bodyPr/>
                    <a:lstStyle/>
                    <a:p>
                      <a:pPr marL="40005" marR="1930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950" spc="11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Fresh</a:t>
                      </a:r>
                      <a:r>
                        <a:rPr dirty="0" sz="950" spc="27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 </a:t>
                      </a:r>
                      <a:r>
                        <a:rPr dirty="0" sz="950" spc="5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(some), </a:t>
                      </a:r>
                      <a:r>
                        <a:rPr dirty="0" sz="950" spc="120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brackish </a:t>
                      </a:r>
                      <a:r>
                        <a:rPr dirty="0" sz="950" spc="5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water,</a:t>
                      </a:r>
                      <a:r>
                        <a:rPr dirty="0" sz="950" spc="2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6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salt water</a:t>
                      </a:r>
                      <a:r>
                        <a:rPr dirty="0" sz="950" spc="24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>
                          <a:solidFill>
                            <a:srgbClr val="231F1F"/>
                          </a:solidFill>
                          <a:latin typeface="Calibri"/>
                          <a:cs typeface="Calibri"/>
                        </a:rPr>
                        <a:t>(most)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BE75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BE75"/>
                      </a:solidFill>
                      <a:prstDash val="solid"/>
                    </a:lnB>
                    <a:solidFill>
                      <a:srgbClr val="FFDD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2" y="9763759"/>
            <a:ext cx="7773034" cy="660400"/>
            <a:chOff x="-112" y="9763759"/>
            <a:chExt cx="7773034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25"/>
            <a:ext cx="7772400" cy="1333500"/>
            <a:chOff x="0" y="25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24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8"/>
                  </a:moveTo>
                  <a:lnTo>
                    <a:pt x="7772284" y="129538"/>
                  </a:lnTo>
                  <a:lnTo>
                    <a:pt x="7772284" y="0"/>
                  </a:lnTo>
                  <a:lnTo>
                    <a:pt x="0" y="0"/>
                  </a:lnTo>
                  <a:lnTo>
                    <a:pt x="0" y="129538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25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284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7772284" y="1041399"/>
                  </a:lnTo>
                  <a:lnTo>
                    <a:pt x="7772284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486" y="876286"/>
              <a:ext cx="444500" cy="457200"/>
            </a:xfrm>
            <a:custGeom>
              <a:avLst/>
              <a:gdLst/>
              <a:ahLst/>
              <a:cxnLst/>
              <a:rect l="l" t="t" r="r" b="b"/>
              <a:pathLst>
                <a:path w="444500" h="457200">
                  <a:moveTo>
                    <a:pt x="330197" y="0"/>
                  </a:moveTo>
                  <a:lnTo>
                    <a:pt x="114303" y="0"/>
                  </a:lnTo>
                  <a:lnTo>
                    <a:pt x="91496" y="2091"/>
                  </a:lnTo>
                  <a:lnTo>
                    <a:pt x="51084" y="18826"/>
                  </a:lnTo>
                  <a:lnTo>
                    <a:pt x="18834" y="51079"/>
                  </a:lnTo>
                  <a:lnTo>
                    <a:pt x="2092" y="91524"/>
                  </a:lnTo>
                  <a:lnTo>
                    <a:pt x="0" y="114331"/>
                  </a:lnTo>
                  <a:lnTo>
                    <a:pt x="0" y="342924"/>
                  </a:lnTo>
                  <a:lnTo>
                    <a:pt x="8371" y="386784"/>
                  </a:lnTo>
                  <a:lnTo>
                    <a:pt x="33482" y="423716"/>
                  </a:lnTo>
                  <a:lnTo>
                    <a:pt x="70423" y="448818"/>
                  </a:lnTo>
                  <a:lnTo>
                    <a:pt x="114303" y="457184"/>
                  </a:lnTo>
                  <a:lnTo>
                    <a:pt x="330197" y="457184"/>
                  </a:lnTo>
                  <a:lnTo>
                    <a:pt x="374081" y="448818"/>
                  </a:lnTo>
                  <a:lnTo>
                    <a:pt x="411025" y="423716"/>
                  </a:lnTo>
                  <a:lnTo>
                    <a:pt x="436133" y="386784"/>
                  </a:lnTo>
                  <a:lnTo>
                    <a:pt x="444501" y="342924"/>
                  </a:lnTo>
                  <a:lnTo>
                    <a:pt x="444501" y="114331"/>
                  </a:lnTo>
                  <a:lnTo>
                    <a:pt x="436133" y="70435"/>
                  </a:lnTo>
                  <a:lnTo>
                    <a:pt x="411025" y="33468"/>
                  </a:lnTo>
                  <a:lnTo>
                    <a:pt x="374081" y="8367"/>
                  </a:lnTo>
                  <a:lnTo>
                    <a:pt x="330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2085" y="1008519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34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4952" y="1008519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9" y="1140"/>
            <a:ext cx="232410" cy="234315"/>
            <a:chOff x="1029" y="1140"/>
            <a:chExt cx="232410" cy="234315"/>
          </a:xfrm>
        </p:grpSpPr>
        <p:sp>
          <p:nvSpPr>
            <p:cNvPr id="12" name="object 12" descr=""/>
            <p:cNvSpPr/>
            <p:nvPr/>
          </p:nvSpPr>
          <p:spPr>
            <a:xfrm>
              <a:off x="1029" y="2335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1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537" y="11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2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029" y="1019251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1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1537" y="10238613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8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8874" y="10193655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620478" y="5399460"/>
            <a:ext cx="1682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415100" y="543841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537941" y="8534849"/>
            <a:ext cx="1606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539891" y="8345199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(d)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0570" y="3160257"/>
            <a:ext cx="1919903" cy="2275111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425585" y="1517407"/>
            <a:ext cx="4597400" cy="208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715">
              <a:lnSpc>
                <a:spcPct val="111100"/>
              </a:lnSpc>
              <a:spcBef>
                <a:spcPts val="95"/>
              </a:spcBef>
            </a:pP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gametes.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oogamous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accompanied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complex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post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fertilisation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developments.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common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are: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 i="1">
                <a:solidFill>
                  <a:srgbClr val="231F1F"/>
                </a:solidFill>
                <a:latin typeface="Calibri"/>
                <a:cs typeface="Calibri"/>
              </a:rPr>
              <a:t>Polysiphonia,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Porphyra</a:t>
            </a:r>
            <a:r>
              <a:rPr dirty="0" sz="1050" spc="15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3.1c),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 i="1">
                <a:solidFill>
                  <a:srgbClr val="231F1F"/>
                </a:solidFill>
                <a:latin typeface="Calibri"/>
                <a:cs typeface="Calibri"/>
              </a:rPr>
              <a:t>Gracilaria</a:t>
            </a:r>
            <a:r>
              <a:rPr dirty="0" sz="1050" spc="16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 i="1">
                <a:solidFill>
                  <a:srgbClr val="231F1F"/>
                </a:solidFill>
                <a:latin typeface="Calibri"/>
                <a:cs typeface="Calibri"/>
              </a:rPr>
              <a:t>Gelidium.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42595" algn="l"/>
              </a:tabLst>
            </a:pPr>
            <a:r>
              <a:rPr dirty="0" cap="small" sz="1300" spc="110" b="1">
                <a:solidFill>
                  <a:srgbClr val="00ADEF"/>
                </a:solidFill>
                <a:latin typeface="Calibri"/>
                <a:cs typeface="Calibri"/>
              </a:rPr>
              <a:t>3.</a:t>
            </a:r>
            <a:r>
              <a:rPr dirty="0" cap="small" sz="1300" spc="110" b="1">
                <a:solidFill>
                  <a:srgbClr val="00ADEF"/>
                </a:solidFill>
                <a:latin typeface="Calibri"/>
                <a:cs typeface="Calibri"/>
              </a:rPr>
              <a:t>2</a:t>
            </a:r>
            <a:r>
              <a:rPr dirty="0" cap="small" sz="1300" b="1">
                <a:solidFill>
                  <a:srgbClr val="00ADEF"/>
                </a:solidFill>
                <a:latin typeface="Calibri"/>
                <a:cs typeface="Calibri"/>
              </a:rPr>
              <a:t>	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B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ryophytes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alibri"/>
              <a:cs typeface="Calibri"/>
            </a:endParaRPr>
          </a:p>
          <a:p>
            <a:pPr algn="just" marL="12700" marR="5080">
              <a:lnSpc>
                <a:spcPct val="111200"/>
              </a:lnSpc>
            </a:pP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include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various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found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commonly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growing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moist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shaded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areas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hills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3.2).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050">
              <a:latin typeface="Calibri"/>
              <a:cs typeface="Calibri"/>
            </a:endParaRPr>
          </a:p>
          <a:p>
            <a:pPr marL="3227070">
              <a:lnSpc>
                <a:spcPct val="100000"/>
              </a:lnSpc>
            </a:pPr>
            <a:r>
              <a:rPr dirty="0" sz="950" spc="60">
                <a:solidFill>
                  <a:srgbClr val="231F1F"/>
                </a:solidFill>
                <a:latin typeface="Calibri"/>
                <a:cs typeface="Calibri"/>
              </a:rPr>
              <a:t>Antheridiophore</a:t>
            </a:r>
            <a:endParaRPr sz="950">
              <a:latin typeface="Calibri"/>
              <a:cs typeface="Calibri"/>
            </a:endParaRPr>
          </a:p>
          <a:p>
            <a:pPr marL="56515">
              <a:lnSpc>
                <a:spcPct val="100000"/>
              </a:lnSpc>
              <a:spcBef>
                <a:spcPts val="145"/>
              </a:spcBef>
            </a:pPr>
            <a:r>
              <a:rPr dirty="0" sz="950" spc="60">
                <a:solidFill>
                  <a:srgbClr val="231F1F"/>
                </a:solidFill>
                <a:latin typeface="Calibri"/>
                <a:cs typeface="Calibri"/>
              </a:rPr>
              <a:t>Archegoniophore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160836" y="5836974"/>
            <a:ext cx="5035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Capsule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446724" y="5697299"/>
            <a:ext cx="68199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70">
                <a:solidFill>
                  <a:srgbClr val="231F1F"/>
                </a:solidFill>
                <a:latin typeface="Calibri"/>
                <a:cs typeface="Calibri"/>
              </a:rPr>
              <a:t>Antheridial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564961" y="5839539"/>
            <a:ext cx="4457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branch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431214" y="5897565"/>
            <a:ext cx="5854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95">
                <a:solidFill>
                  <a:srgbClr val="231F1F"/>
                </a:solidFill>
                <a:latin typeface="Calibri"/>
                <a:cs typeface="Calibri"/>
              </a:rPr>
              <a:t>Branches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237932" y="7185574"/>
            <a:ext cx="721360" cy="31242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5"/>
              </a:spcBef>
            </a:pPr>
            <a:r>
              <a:rPr dirty="0" sz="950" spc="70">
                <a:solidFill>
                  <a:srgbClr val="231F1F"/>
                </a:solidFill>
                <a:latin typeface="Calibri"/>
                <a:cs typeface="Calibri"/>
              </a:rPr>
              <a:t>Archegonial </a:t>
            </a: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branch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571061" y="6477651"/>
            <a:ext cx="442595" cy="552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Seta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950">
              <a:latin typeface="Calibri"/>
              <a:cs typeface="Calibri"/>
            </a:endParaRPr>
          </a:p>
          <a:p>
            <a:pPr algn="r" marR="27940">
              <a:lnSpc>
                <a:spcPct val="100000"/>
              </a:lnSpc>
            </a:pPr>
            <a:r>
              <a:rPr dirty="0" sz="950" spc="70">
                <a:solidFill>
                  <a:srgbClr val="231F1F"/>
                </a:solidFill>
                <a:latin typeface="Calibri"/>
                <a:cs typeface="Calibri"/>
              </a:rPr>
              <a:t>Leaves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242108" y="6301705"/>
            <a:ext cx="6972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150985" y="7611621"/>
            <a:ext cx="8096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927423" y="7806960"/>
            <a:ext cx="711200" cy="4064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950" spc="85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9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axis</a:t>
            </a:r>
            <a:endParaRPr sz="950">
              <a:latin typeface="Calibri"/>
              <a:cs typeface="Calibri"/>
            </a:endParaRPr>
          </a:p>
          <a:p>
            <a:pPr marL="196215">
              <a:lnSpc>
                <a:spcPct val="100000"/>
              </a:lnSpc>
              <a:spcBef>
                <a:spcPts val="360"/>
              </a:spcBef>
            </a:pP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Rhizoids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993342" y="5645547"/>
            <a:ext cx="1120775" cy="2802255"/>
            <a:chOff x="1993342" y="5645547"/>
            <a:chExt cx="1120775" cy="2802255"/>
          </a:xfrm>
        </p:grpSpPr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3629" y="5645547"/>
              <a:ext cx="950070" cy="280217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996517" y="5847182"/>
              <a:ext cx="140970" cy="1200785"/>
            </a:xfrm>
            <a:custGeom>
              <a:avLst/>
              <a:gdLst/>
              <a:ahLst/>
              <a:cxnLst/>
              <a:rect l="l" t="t" r="r" b="b"/>
              <a:pathLst>
                <a:path w="140969" h="1200784">
                  <a:moveTo>
                    <a:pt x="113715" y="0"/>
                  </a:moveTo>
                  <a:lnTo>
                    <a:pt x="0" y="0"/>
                  </a:lnTo>
                  <a:lnTo>
                    <a:pt x="0" y="1200726"/>
                  </a:lnTo>
                  <a:lnTo>
                    <a:pt x="140469" y="1200726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08669" y="7133701"/>
              <a:ext cx="140970" cy="1137285"/>
            </a:xfrm>
            <a:custGeom>
              <a:avLst/>
              <a:gdLst/>
              <a:ahLst/>
              <a:cxnLst/>
              <a:rect l="l" t="t" r="r" b="b"/>
              <a:pathLst>
                <a:path w="140969" h="1137284">
                  <a:moveTo>
                    <a:pt x="113708" y="0"/>
                  </a:moveTo>
                  <a:lnTo>
                    <a:pt x="0" y="0"/>
                  </a:lnTo>
                  <a:lnTo>
                    <a:pt x="0" y="1136833"/>
                  </a:lnTo>
                  <a:lnTo>
                    <a:pt x="140469" y="1136833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" name="object 3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0555" y="3203388"/>
            <a:ext cx="1919903" cy="2247580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2667099" y="4144967"/>
            <a:ext cx="7397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00">
                <a:solidFill>
                  <a:srgbClr val="231F1F"/>
                </a:solidFill>
                <a:latin typeface="Calibri"/>
                <a:cs typeface="Calibri"/>
              </a:rPr>
              <a:t>Gemma </a:t>
            </a: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cup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874312" y="5179903"/>
            <a:ext cx="5276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Rhizoids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737106" y="4129359"/>
            <a:ext cx="7397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00">
                <a:solidFill>
                  <a:srgbClr val="231F1F"/>
                </a:solidFill>
                <a:latin typeface="Calibri"/>
                <a:cs typeface="Calibri"/>
              </a:rPr>
              <a:t>Gemma </a:t>
            </a: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cup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944320" y="5164294"/>
            <a:ext cx="52768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Rhizoids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4846280" y="5681204"/>
            <a:ext cx="1583690" cy="2716530"/>
            <a:chOff x="4846280" y="5681204"/>
            <a:chExt cx="1583690" cy="2716530"/>
          </a:xfrm>
        </p:grpSpPr>
        <p:pic>
          <p:nvPicPr>
            <p:cNvPr id="42" name="object 4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5265" y="8234980"/>
              <a:ext cx="128735" cy="162231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5159069" y="826240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AF8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314521" y="824412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CECCC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067625" y="823193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195649" y="820146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EFECE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2634" y="8143557"/>
              <a:ext cx="89120" cy="13176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4890833" y="814660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AF8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963768" y="8143557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229174" y="8137461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EEEC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9645" y="7942421"/>
              <a:ext cx="354300" cy="421272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5863186" y="809174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C5C2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195649" y="7942421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3F1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7669" y="7780908"/>
              <a:ext cx="528036" cy="42736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03384" y="7750438"/>
              <a:ext cx="204944" cy="39383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6280" y="7777859"/>
              <a:ext cx="262856" cy="36946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957890" y="777785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257768" y="7779742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772" y="0"/>
                  </a:lnTo>
                </a:path>
              </a:pathLst>
            </a:custGeom>
            <a:ln w="3766">
              <a:solidFill>
                <a:srgbClr val="F9F8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308425" y="777785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000348" y="775043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DEDCD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00335" y="7732155"/>
              <a:ext cx="83016" cy="34235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884517" y="773215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AF8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915001" y="7719961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790025" y="770776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A8A4A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10289" y="7564544"/>
              <a:ext cx="948683" cy="217088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1569" y="7591965"/>
              <a:ext cx="256759" cy="159183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5762590" y="763158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72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3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726016" y="757977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D1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52158" y="7543205"/>
              <a:ext cx="134831" cy="49477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5262706" y="756148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9F8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902808" y="754320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E6E4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704678" y="752187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C0BD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887566" y="747616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1EF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15098" y="7265889"/>
              <a:ext cx="771891" cy="305462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5372433" y="726588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8F5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387675" y="725674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D4C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05363" y="7159224"/>
              <a:ext cx="936489" cy="113479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5675359" y="7161107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772" y="0"/>
                  </a:lnTo>
                </a:path>
              </a:pathLst>
            </a:custGeom>
            <a:ln w="3766">
              <a:solidFill>
                <a:srgbClr val="FAF9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05363" y="7150086"/>
              <a:ext cx="143983" cy="9862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5241368" y="715008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9C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92588" y="7028187"/>
              <a:ext cx="229324" cy="122609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69961" y="7009897"/>
              <a:ext cx="1015740" cy="153093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89539" y="6973330"/>
              <a:ext cx="113500" cy="58622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86861" y="6955047"/>
              <a:ext cx="226275" cy="5861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04672" y="6942854"/>
              <a:ext cx="384776" cy="67760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86491" y="6961137"/>
              <a:ext cx="46443" cy="15959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92478" y="6887997"/>
              <a:ext cx="320768" cy="58622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269961" y="6796574"/>
              <a:ext cx="476228" cy="22013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18037" y="6887997"/>
              <a:ext cx="34249" cy="3766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5503506" y="679353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8F5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985107" y="674476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72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CFAF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03493" y="6647254"/>
              <a:ext cx="1046224" cy="174424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5143827" y="667467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81354" y="6644198"/>
              <a:ext cx="40339" cy="6821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58247" y="6632012"/>
              <a:ext cx="207992" cy="19007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20612" y="6443070"/>
              <a:ext cx="817610" cy="232330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6123435" y="649066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341957" y="644307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32217" y="6269362"/>
              <a:ext cx="1165096" cy="256709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95527" y="6244982"/>
              <a:ext cx="598148" cy="34242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044410" y="6229748"/>
              <a:ext cx="49484" cy="43380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5988155" y="624498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C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251678" y="6126138"/>
              <a:ext cx="683496" cy="146989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6219810" y="6187077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72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98466" y="6135269"/>
              <a:ext cx="284187" cy="113479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169160" y="6120042"/>
              <a:ext cx="113500" cy="15952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5925312" y="6128021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48630" y="6059088"/>
              <a:ext cx="281146" cy="76905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05843" y="6010329"/>
              <a:ext cx="275049" cy="116520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5442546" y="605908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CF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975961" y="601032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36436" y="5867098"/>
              <a:ext cx="308574" cy="195756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739375" y="5891478"/>
              <a:ext cx="116548" cy="134803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910070" y="5836628"/>
              <a:ext cx="314677" cy="174418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5850992" y="589147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CFC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468091" y="5815290"/>
              <a:ext cx="98258" cy="55574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6125318" y="583662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263872" y="5809193"/>
              <a:ext cx="116541" cy="58622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745472" y="5693397"/>
              <a:ext cx="107403" cy="198797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5284045" y="580615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489430" y="5751295"/>
              <a:ext cx="67781" cy="64712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285203" y="5681204"/>
              <a:ext cx="95217" cy="128713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5063988" y="5872087"/>
              <a:ext cx="290195" cy="0"/>
            </a:xfrm>
            <a:custGeom>
              <a:avLst/>
              <a:gdLst/>
              <a:ahLst/>
              <a:cxnLst/>
              <a:rect l="l" t="t" r="r" b="b"/>
              <a:pathLst>
                <a:path w="290195" h="0">
                  <a:moveTo>
                    <a:pt x="290162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005677" y="5958306"/>
              <a:ext cx="421640" cy="230504"/>
            </a:xfrm>
            <a:custGeom>
              <a:avLst/>
              <a:gdLst/>
              <a:ahLst/>
              <a:cxnLst/>
              <a:rect l="l" t="t" r="r" b="b"/>
              <a:pathLst>
                <a:path w="421639" h="230504">
                  <a:moveTo>
                    <a:pt x="159854" y="230022"/>
                  </a:moveTo>
                  <a:lnTo>
                    <a:pt x="421081" y="3898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604094" y="7260473"/>
              <a:ext cx="608330" cy="78105"/>
            </a:xfrm>
            <a:custGeom>
              <a:avLst/>
              <a:gdLst/>
              <a:ahLst/>
              <a:cxnLst/>
              <a:rect l="l" t="t" r="r" b="b"/>
              <a:pathLst>
                <a:path w="608329" h="78104">
                  <a:moveTo>
                    <a:pt x="0" y="0"/>
                  </a:moveTo>
                  <a:lnTo>
                    <a:pt x="608222" y="77976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 txBox="1"/>
          <p:nvPr/>
        </p:nvSpPr>
        <p:spPr>
          <a:xfrm>
            <a:off x="1422412" y="8784716"/>
            <a:ext cx="70358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950" spc="30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5" b="1">
                <a:solidFill>
                  <a:srgbClr val="231F1F"/>
                </a:solidFill>
                <a:latin typeface="Calibri"/>
                <a:cs typeface="Calibri"/>
              </a:rPr>
              <a:t>3.2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8" name="object 12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127" name="object 127" descr=""/>
          <p:cNvSpPr txBox="1"/>
          <p:nvPr/>
        </p:nvSpPr>
        <p:spPr>
          <a:xfrm>
            <a:off x="2209558" y="8784716"/>
            <a:ext cx="444436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Bryophytes:</a:t>
            </a:r>
            <a:r>
              <a:rPr dirty="0" sz="9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9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1F"/>
                </a:solidFill>
                <a:latin typeface="Calibri"/>
                <a:cs typeface="Calibri"/>
              </a:rPr>
              <a:t>liverwort</a:t>
            </a:r>
            <a:r>
              <a:rPr dirty="0" sz="95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95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0" i="1">
                <a:solidFill>
                  <a:srgbClr val="231F1F"/>
                </a:solidFill>
                <a:latin typeface="Calibri"/>
                <a:cs typeface="Calibri"/>
              </a:rPr>
              <a:t>Marchantia</a:t>
            </a:r>
            <a:r>
              <a:rPr dirty="0" sz="950" spc="22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r>
              <a:rPr dirty="0" sz="9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95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1F"/>
                </a:solidFill>
                <a:latin typeface="Calibri"/>
                <a:cs typeface="Calibri"/>
              </a:rPr>
              <a:t>thallus</a:t>
            </a:r>
            <a:r>
              <a:rPr dirty="0" sz="950" spc="245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r>
              <a:rPr dirty="0" sz="9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5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9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thallus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950" spc="220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0" i="1">
                <a:solidFill>
                  <a:srgbClr val="231F1F"/>
                </a:solidFill>
                <a:latin typeface="Calibri"/>
                <a:cs typeface="Calibri"/>
              </a:rPr>
              <a:t>Funaria</a:t>
            </a: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(d)</a:t>
            </a:r>
            <a:r>
              <a:rPr dirty="0" sz="9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1F"/>
                </a:solidFill>
                <a:latin typeface="Calibri"/>
                <a:cs typeface="Calibri"/>
              </a:rPr>
              <a:t>Sphagnum </a:t>
            </a: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35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49300" y="1517407"/>
            <a:ext cx="4598670" cy="772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255">
              <a:lnSpc>
                <a:spcPct val="111100"/>
              </a:lnSpc>
              <a:spcBef>
                <a:spcPts val="95"/>
              </a:spcBef>
            </a:pP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also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amphibians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because these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can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live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soil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dependent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sexual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occur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damp,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humid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shaded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localities.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important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role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succession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bare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rocks/soil.</a:t>
            </a:r>
            <a:endParaRPr sz="1050">
              <a:latin typeface="Calibri"/>
              <a:cs typeface="Calibri"/>
            </a:endParaRPr>
          </a:p>
          <a:p>
            <a:pPr algn="r" marL="12700" marR="8890" indent="228600">
              <a:lnSpc>
                <a:spcPts val="1400"/>
              </a:lnSpc>
              <a:spcBef>
                <a:spcPts val="70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more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differentiated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than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algae.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It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thallus-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prostrate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or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erect,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attached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substratum</a:t>
            </a:r>
            <a:endParaRPr sz="1050">
              <a:latin typeface="Calibri"/>
              <a:cs typeface="Calibri"/>
            </a:endParaRPr>
          </a:p>
          <a:p>
            <a:pPr algn="r" marL="12700" marR="8890">
              <a:lnSpc>
                <a:spcPts val="1400"/>
              </a:lnSpc>
            </a:pP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unicellular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rhizoids.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lack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true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roots,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stem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or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leaves.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possess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root-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like,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leaf-like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stem-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structures.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endParaRPr sz="1050">
              <a:latin typeface="Calibri"/>
              <a:cs typeface="Calibri"/>
            </a:endParaRPr>
          </a:p>
          <a:p>
            <a:pPr algn="r" marR="7620">
              <a:lnSpc>
                <a:spcPct val="100000"/>
              </a:lnSpc>
              <a:spcBef>
                <a:spcPts val="70"/>
              </a:spcBef>
            </a:pP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bryophyte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haploid.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gametes,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hence</a:t>
            </a:r>
            <a:endParaRPr sz="1050">
              <a:latin typeface="Calibri"/>
              <a:cs typeface="Calibri"/>
            </a:endParaRPr>
          </a:p>
          <a:p>
            <a:pPr algn="just" marL="12700" marR="5080">
              <a:lnSpc>
                <a:spcPct val="111100"/>
              </a:lnSpc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multicellular.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organ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antheridium.</a:t>
            </a:r>
            <a:r>
              <a:rPr dirty="0" sz="1050" spc="23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biflagellate 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antherozoids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organ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 b="1">
                <a:solidFill>
                  <a:srgbClr val="231F1F"/>
                </a:solidFill>
                <a:latin typeface="Calibri"/>
                <a:cs typeface="Calibri"/>
              </a:rPr>
              <a:t>archegonium</a:t>
            </a:r>
            <a:r>
              <a:rPr dirty="0" sz="1050" spc="2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flask-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shaped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single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egg.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antherozoids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released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where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come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in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contact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archegonium.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antherozoid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fuses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zygote.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Zygotes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do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undergo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reduction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division immediately.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.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free-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living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attached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photosynthetic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derives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nourishment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it.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cells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undergo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reduction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division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(meiosis)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haploid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spores.</a:t>
            </a:r>
            <a:r>
              <a:rPr dirty="0" sz="1050" spc="3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gametophyte.</a:t>
            </a:r>
            <a:endParaRPr sz="1050">
              <a:latin typeface="Calibri"/>
              <a:cs typeface="Calibri"/>
            </a:endParaRPr>
          </a:p>
          <a:p>
            <a:pPr algn="just" marL="12700" marR="8890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general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little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economic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importance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some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provide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herbaceous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mammals,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birds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animals.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Species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i="1">
                <a:solidFill>
                  <a:srgbClr val="231F1F"/>
                </a:solidFill>
                <a:latin typeface="Calibri"/>
                <a:cs typeface="Calibri"/>
              </a:rPr>
              <a:t>Sphagnum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moss,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provide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peat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long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been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used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as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fuel,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packing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material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trans-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shipment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living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material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because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capacity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hold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water.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along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lichens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first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organisms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colonise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rocks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hence,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great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ecological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importance.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decompose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rocks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making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substrate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suitable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growth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higher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plants.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Since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dense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mats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soil,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reduce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impact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of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falling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rain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prevent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soil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erosion.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divided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50" spc="2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190"/>
              </a:spcBef>
            </a:pPr>
            <a:r>
              <a:rPr dirty="0" sz="1200" spc="135" b="1">
                <a:solidFill>
                  <a:srgbClr val="00ADEF"/>
                </a:solidFill>
                <a:latin typeface="Calibri"/>
                <a:cs typeface="Calibri"/>
              </a:rPr>
              <a:t>3.2.1</a:t>
            </a:r>
            <a:r>
              <a:rPr dirty="0" sz="1200" spc="325" b="1">
                <a:solidFill>
                  <a:srgbClr val="00ADEF"/>
                </a:solidFill>
                <a:latin typeface="Calibri"/>
                <a:cs typeface="Calibri"/>
              </a:rPr>
              <a:t>  </a:t>
            </a:r>
            <a:r>
              <a:rPr dirty="0" sz="1200" spc="114" b="1">
                <a:solidFill>
                  <a:srgbClr val="00ADEF"/>
                </a:solidFill>
                <a:latin typeface="Calibri"/>
                <a:cs typeface="Calibri"/>
              </a:rPr>
              <a:t>Liverworts</a:t>
            </a:r>
            <a:endParaRPr sz="1200">
              <a:latin typeface="Calibri"/>
              <a:cs typeface="Calibri"/>
            </a:endParaRPr>
          </a:p>
          <a:p>
            <a:pPr algn="just" marL="12700" marR="8890">
              <a:lnSpc>
                <a:spcPct val="111100"/>
              </a:lnSpc>
              <a:spcBef>
                <a:spcPts val="565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grow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moist,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shady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habitats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banks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streams,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marshy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ground,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damp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soil,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bark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trees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deep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woods.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body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liverwort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thalloid,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e.g.,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 i="1">
                <a:solidFill>
                  <a:srgbClr val="231F1F"/>
                </a:solidFill>
                <a:latin typeface="Calibri"/>
                <a:cs typeface="Calibri"/>
              </a:rPr>
              <a:t>Marchantia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thallus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is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dorsiventral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closely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appressed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substrate.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leafy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members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tiny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leaf-like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appendages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rows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stem-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structures.</a:t>
            </a:r>
            <a:endParaRPr sz="1050">
              <a:latin typeface="Calibri"/>
              <a:cs typeface="Calibri"/>
            </a:endParaRPr>
          </a:p>
          <a:p>
            <a:pPr algn="just" marL="12700" marR="8255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Asexual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takes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fragmentation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thalli,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specialised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structures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 b="1">
                <a:solidFill>
                  <a:srgbClr val="231F1F"/>
                </a:solidFill>
                <a:latin typeface="Calibri"/>
                <a:cs typeface="Calibri"/>
              </a:rPr>
              <a:t>gemmae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(sing.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gemma).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Gemmae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green,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multicellular,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asexual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buds,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which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develop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small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receptacles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gemma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cups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located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thalli.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gemmae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become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detached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parent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new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individuals.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During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2" y="9763759"/>
            <a:ext cx="7773034" cy="660400"/>
            <a:chOff x="-112" y="9763759"/>
            <a:chExt cx="7773034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25"/>
            <a:ext cx="7772400" cy="1333500"/>
            <a:chOff x="0" y="25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24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8"/>
                  </a:moveTo>
                  <a:lnTo>
                    <a:pt x="7772284" y="129538"/>
                  </a:lnTo>
                  <a:lnTo>
                    <a:pt x="7772284" y="0"/>
                  </a:lnTo>
                  <a:lnTo>
                    <a:pt x="0" y="0"/>
                  </a:lnTo>
                  <a:lnTo>
                    <a:pt x="0" y="129538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25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284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7772284" y="1041399"/>
                  </a:lnTo>
                  <a:lnTo>
                    <a:pt x="7772284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486" y="876286"/>
              <a:ext cx="444500" cy="457200"/>
            </a:xfrm>
            <a:custGeom>
              <a:avLst/>
              <a:gdLst/>
              <a:ahLst/>
              <a:cxnLst/>
              <a:rect l="l" t="t" r="r" b="b"/>
              <a:pathLst>
                <a:path w="444500" h="457200">
                  <a:moveTo>
                    <a:pt x="330197" y="0"/>
                  </a:moveTo>
                  <a:lnTo>
                    <a:pt x="114303" y="0"/>
                  </a:lnTo>
                  <a:lnTo>
                    <a:pt x="91496" y="2091"/>
                  </a:lnTo>
                  <a:lnTo>
                    <a:pt x="51084" y="18826"/>
                  </a:lnTo>
                  <a:lnTo>
                    <a:pt x="18834" y="51079"/>
                  </a:lnTo>
                  <a:lnTo>
                    <a:pt x="2092" y="91524"/>
                  </a:lnTo>
                  <a:lnTo>
                    <a:pt x="0" y="114331"/>
                  </a:lnTo>
                  <a:lnTo>
                    <a:pt x="0" y="342924"/>
                  </a:lnTo>
                  <a:lnTo>
                    <a:pt x="8371" y="386784"/>
                  </a:lnTo>
                  <a:lnTo>
                    <a:pt x="33482" y="423716"/>
                  </a:lnTo>
                  <a:lnTo>
                    <a:pt x="70423" y="448818"/>
                  </a:lnTo>
                  <a:lnTo>
                    <a:pt x="114303" y="457184"/>
                  </a:lnTo>
                  <a:lnTo>
                    <a:pt x="330197" y="457184"/>
                  </a:lnTo>
                  <a:lnTo>
                    <a:pt x="374081" y="448818"/>
                  </a:lnTo>
                  <a:lnTo>
                    <a:pt x="411025" y="423716"/>
                  </a:lnTo>
                  <a:lnTo>
                    <a:pt x="436133" y="386784"/>
                  </a:lnTo>
                  <a:lnTo>
                    <a:pt x="444501" y="342924"/>
                  </a:lnTo>
                  <a:lnTo>
                    <a:pt x="444501" y="114331"/>
                  </a:lnTo>
                  <a:lnTo>
                    <a:pt x="436133" y="70435"/>
                  </a:lnTo>
                  <a:lnTo>
                    <a:pt x="411025" y="33468"/>
                  </a:lnTo>
                  <a:lnTo>
                    <a:pt x="374081" y="8367"/>
                  </a:lnTo>
                  <a:lnTo>
                    <a:pt x="330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2085" y="1008519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36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4952" y="1008519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9" y="1140"/>
            <a:ext cx="232410" cy="234315"/>
            <a:chOff x="1029" y="1140"/>
            <a:chExt cx="232410" cy="234315"/>
          </a:xfrm>
        </p:grpSpPr>
        <p:sp>
          <p:nvSpPr>
            <p:cNvPr id="12" name="object 12" descr=""/>
            <p:cNvSpPr/>
            <p:nvPr/>
          </p:nvSpPr>
          <p:spPr>
            <a:xfrm>
              <a:off x="1029" y="2335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1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537" y="11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2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029" y="1019251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1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1537" y="10238613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8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8874" y="10193655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425585" y="1517407"/>
            <a:ext cx="4603750" cy="7747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2700">
              <a:lnSpc>
                <a:spcPct val="111100"/>
              </a:lnSpc>
              <a:spcBef>
                <a:spcPts val="95"/>
              </a:spcBef>
            </a:pP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either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same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thalli.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differentiated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foot,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seta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capsule.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meiosis,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capsule.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form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free-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living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gametophytes.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190"/>
              </a:spcBef>
            </a:pPr>
            <a:r>
              <a:rPr dirty="0" sz="1200" spc="135" b="1">
                <a:solidFill>
                  <a:srgbClr val="00ADEF"/>
                </a:solidFill>
                <a:latin typeface="Calibri"/>
                <a:cs typeface="Calibri"/>
              </a:rPr>
              <a:t>3.2.2</a:t>
            </a:r>
            <a:r>
              <a:rPr dirty="0" sz="1200" spc="325" b="1">
                <a:solidFill>
                  <a:srgbClr val="00ADEF"/>
                </a:solidFill>
                <a:latin typeface="Calibri"/>
                <a:cs typeface="Calibri"/>
              </a:rPr>
              <a:t>  </a:t>
            </a:r>
            <a:r>
              <a:rPr dirty="0" sz="1200" spc="95" b="1">
                <a:solidFill>
                  <a:srgbClr val="00ADEF"/>
                </a:solidFill>
                <a:latin typeface="Calibri"/>
                <a:cs typeface="Calibri"/>
              </a:rPr>
              <a:t>Mosses</a:t>
            </a:r>
            <a:endParaRPr sz="1200">
              <a:latin typeface="Calibri"/>
              <a:cs typeface="Calibri"/>
            </a:endParaRPr>
          </a:p>
          <a:p>
            <a:pPr algn="just" marL="12700" marR="13970">
              <a:lnSpc>
                <a:spcPct val="111100"/>
              </a:lnSpc>
              <a:spcBef>
                <a:spcPts val="570"/>
              </a:spcBef>
            </a:pP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predominant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stage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of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life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of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moss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which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consists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stages.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first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stage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protonema</a:t>
            </a:r>
            <a:r>
              <a:rPr dirty="0" sz="1050" spc="21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stage,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which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directly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spore.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It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creeping,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green,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branched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frequently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filamentous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stage.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second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stage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leafy</a:t>
            </a:r>
            <a:r>
              <a:rPr dirty="0" sz="1050" spc="4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stage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which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secondary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protonema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lateral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bud.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consist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upright,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slender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axes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bearing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spirally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arranged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leaves.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attached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soil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through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branched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rhizoids.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stage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bears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organs.</a:t>
            </a:r>
            <a:endParaRPr sz="1050">
              <a:latin typeface="Calibri"/>
              <a:cs typeface="Calibri"/>
            </a:endParaRPr>
          </a:p>
          <a:p>
            <a:pPr algn="just" marL="12700" marR="13970" indent="228600">
              <a:lnSpc>
                <a:spcPts val="1400"/>
              </a:lnSpc>
              <a:spcBef>
                <a:spcPts val="70"/>
              </a:spcBef>
            </a:pP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Vegetative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reproduction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fragmentation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budding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secondary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protonema.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reproduction,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endParaRPr sz="1050">
              <a:latin typeface="Calibri"/>
              <a:cs typeface="Calibri"/>
            </a:endParaRPr>
          </a:p>
          <a:p>
            <a:pPr algn="just" marL="12700" marR="13335">
              <a:lnSpc>
                <a:spcPts val="1400"/>
              </a:lnSpc>
            </a:pP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antheridia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archegonia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are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at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apex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leafy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shoots.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fertilisation,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sporophyte,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consisting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70"/>
              </a:spcBef>
            </a:pP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foot,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seta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capsule.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more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elaborate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than</a:t>
            </a:r>
            <a:endParaRPr sz="1050">
              <a:latin typeface="Calibri"/>
              <a:cs typeface="Calibri"/>
            </a:endParaRPr>
          </a:p>
          <a:p>
            <a:pPr algn="just" marL="12700" marR="13970">
              <a:lnSpc>
                <a:spcPct val="111100"/>
              </a:lnSpc>
            </a:pP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liverworts.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capsule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contains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spores.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formed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after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meiosis.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elaborate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mechanism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spore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dispersal.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Common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examples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Funaria,</a:t>
            </a:r>
            <a:r>
              <a:rPr dirty="0" sz="1050" spc="13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Polytrichum</a:t>
            </a:r>
            <a:r>
              <a:rPr dirty="0" sz="1050" spc="13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Sphagnum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3.2)</a:t>
            </a:r>
            <a:r>
              <a:rPr dirty="0" sz="1050" spc="50" i="1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cap="small" sz="1300" spc="140" b="1">
                <a:solidFill>
                  <a:srgbClr val="00ADEF"/>
                </a:solidFill>
                <a:latin typeface="Calibri"/>
                <a:cs typeface="Calibri"/>
              </a:rPr>
              <a:t>3.</a:t>
            </a:r>
            <a:r>
              <a:rPr dirty="0" cap="small" sz="1300" spc="140" b="1">
                <a:solidFill>
                  <a:srgbClr val="00ADEF"/>
                </a:solidFill>
                <a:latin typeface="Calibri"/>
                <a:cs typeface="Calibri"/>
              </a:rPr>
              <a:t>3</a:t>
            </a:r>
            <a:r>
              <a:rPr dirty="0" cap="small" sz="1300" spc="48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10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P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teridophytes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alibri"/>
              <a:cs typeface="Calibri"/>
            </a:endParaRPr>
          </a:p>
          <a:p>
            <a:pPr algn="just" marL="12700" marR="13970">
              <a:lnSpc>
                <a:spcPct val="1111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include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horsetails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and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ferns.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used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medicinal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purposes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soil-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binders.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also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frequently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grown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ornamentals.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Evolutionarily,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first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terrestrial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possess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vascular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tissues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xylem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phloem.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You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shall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study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more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about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tissues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Chapter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6.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found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cool,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damp,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shady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places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though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some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flourish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well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sandy-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soil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conditions.</a:t>
            </a:r>
            <a:endParaRPr sz="1050">
              <a:latin typeface="Calibri"/>
              <a:cs typeface="Calibri"/>
            </a:endParaRPr>
          </a:p>
          <a:p>
            <a:pPr algn="just" marL="12700" marR="5080" indent="228600">
              <a:lnSpc>
                <a:spcPct val="111100"/>
              </a:lnSpc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You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recall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dominant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phase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life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gametophytic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body.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However,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pteridophytes,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is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which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differentiated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true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root,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stem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leaves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3.3).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possess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well-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differentiated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vascular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tissues.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leaves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pteridophyta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are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small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(microphylls)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as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80" i="1">
                <a:solidFill>
                  <a:srgbClr val="231F1F"/>
                </a:solidFill>
                <a:latin typeface="Calibri"/>
                <a:cs typeface="Calibri"/>
              </a:rPr>
              <a:t>Selaginella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large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(macrophylls)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ferns.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sporophytes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bear 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sporangia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subtended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leaf-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appendages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called 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sporophylls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cases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sporophylls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distinct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compact 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structures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strobili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cones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105" i="1">
                <a:solidFill>
                  <a:srgbClr val="231F1F"/>
                </a:solidFill>
                <a:latin typeface="Calibri"/>
                <a:cs typeface="Calibri"/>
              </a:rPr>
              <a:t>Selaginella,</a:t>
            </a:r>
            <a:r>
              <a:rPr dirty="0" sz="1050" spc="31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 i="1">
                <a:solidFill>
                  <a:srgbClr val="231F1F"/>
                </a:solidFill>
                <a:latin typeface="Calibri"/>
                <a:cs typeface="Calibri"/>
              </a:rPr>
              <a:t>Equisetum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).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sporangia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meiosis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mother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cells.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give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rise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inconspicuous,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small</a:t>
            </a:r>
            <a:r>
              <a:rPr dirty="0" sz="1050" spc="3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3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multicellular,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37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93189" y="9036177"/>
            <a:ext cx="47593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05" b="1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950" spc="22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231F1F"/>
                </a:solidFill>
                <a:latin typeface="Calibri"/>
                <a:cs typeface="Calibri"/>
              </a:rPr>
              <a:t>3.3</a:t>
            </a:r>
            <a:r>
              <a:rPr dirty="0" sz="950" spc="225" b="1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9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1F"/>
                </a:solidFill>
                <a:latin typeface="Calibri"/>
                <a:cs typeface="Calibri"/>
              </a:rPr>
              <a:t>:</a:t>
            </a:r>
            <a:r>
              <a:rPr dirty="0" sz="950" spc="200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r>
              <a:rPr dirty="0" sz="9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0" i="1">
                <a:solidFill>
                  <a:srgbClr val="231F1F"/>
                </a:solidFill>
                <a:latin typeface="Calibri"/>
                <a:cs typeface="Calibri"/>
              </a:rPr>
              <a:t>Selaginella</a:t>
            </a:r>
            <a:r>
              <a:rPr dirty="0" sz="950" spc="204" i="1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r>
              <a:rPr dirty="0" sz="9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 i="1">
                <a:solidFill>
                  <a:srgbClr val="231F1F"/>
                </a:solidFill>
                <a:latin typeface="Calibri"/>
                <a:cs typeface="Calibri"/>
              </a:rPr>
              <a:t>Equisetum</a:t>
            </a:r>
            <a:r>
              <a:rPr dirty="0" sz="950" spc="190" i="1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r>
              <a:rPr dirty="0" sz="9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Fern</a:t>
            </a:r>
            <a:r>
              <a:rPr dirty="0" sz="9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(d)</a:t>
            </a:r>
            <a:r>
              <a:rPr dirty="0" sz="9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0" i="1">
                <a:solidFill>
                  <a:srgbClr val="231F1F"/>
                </a:solidFill>
                <a:latin typeface="Calibri"/>
                <a:cs typeface="Calibri"/>
              </a:rPr>
              <a:t>Salvinia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57878" y="1761167"/>
            <a:ext cx="2820035" cy="2292985"/>
            <a:chOff x="957878" y="1761167"/>
            <a:chExt cx="2820035" cy="2292985"/>
          </a:xfrm>
        </p:grpSpPr>
        <p:sp>
          <p:nvSpPr>
            <p:cNvPr id="15" name="object 15" descr=""/>
            <p:cNvSpPr/>
            <p:nvPr/>
          </p:nvSpPr>
          <p:spPr>
            <a:xfrm>
              <a:off x="2646463" y="405194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3793" y="3946438"/>
              <a:ext cx="113500" cy="10738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3404" y="3940341"/>
              <a:ext cx="750524" cy="11348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793032" y="394222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07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9686" y="3894623"/>
              <a:ext cx="265890" cy="5254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530639" y="3896506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772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5870" y="3614237"/>
              <a:ext cx="1326596" cy="35729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352958" y="371176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9631" y="3531945"/>
              <a:ext cx="171405" cy="18053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774742" y="361306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52567" y="356735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07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96205" y="353077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12749" y="3497251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07" y="0"/>
                  </a:lnTo>
                </a:path>
              </a:pathLst>
            </a:custGeom>
            <a:ln w="3772">
              <a:solidFill>
                <a:srgbClr val="FEFE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0115" y="3294236"/>
              <a:ext cx="287229" cy="23842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433367" y="329306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81552" y="32900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CF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094524" y="321987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4117" y="2867534"/>
              <a:ext cx="1884384" cy="74741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669685" y="286753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356910" y="2854211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862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77529" y="2824829"/>
              <a:ext cx="156170" cy="46468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2865918" y="282671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39661" y="2641998"/>
              <a:ext cx="457916" cy="235394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7878" y="2550546"/>
              <a:ext cx="2295858" cy="94554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2910478" y="2675537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931816" y="2675537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212231" y="264199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584345" y="255054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7F7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466638" y="254937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07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6099" y="2523118"/>
              <a:ext cx="40346" cy="2813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41923" y="2498745"/>
              <a:ext cx="884639" cy="55563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15405" y="2416461"/>
              <a:ext cx="1094948" cy="29937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83757" y="2425627"/>
              <a:ext cx="134831" cy="140874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166767" y="249874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09431" y="2486594"/>
              <a:ext cx="83023" cy="12861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6794" y="2389032"/>
              <a:ext cx="107389" cy="11042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3292640" y="2454938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862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87845" y="241834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07" y="0"/>
                  </a:lnTo>
                </a:path>
              </a:pathLst>
            </a:custGeom>
            <a:ln w="3766">
              <a:solidFill>
                <a:srgbClr val="F2F1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41538" y="2401254"/>
              <a:ext cx="15959" cy="22001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76619" y="2209185"/>
              <a:ext cx="521925" cy="30246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27467" y="2294526"/>
              <a:ext cx="634693" cy="125700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163464" y="229147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71891" y="2270153"/>
              <a:ext cx="290270" cy="25083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96271" y="2251891"/>
              <a:ext cx="171405" cy="22027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76816" y="2084266"/>
              <a:ext cx="174453" cy="211037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090572" y="220918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67481" y="1761167"/>
              <a:ext cx="863300" cy="448796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894624" y="2619231"/>
              <a:ext cx="635" cy="226060"/>
            </a:xfrm>
            <a:custGeom>
              <a:avLst/>
              <a:gdLst/>
              <a:ahLst/>
              <a:cxnLst/>
              <a:rect l="l" t="t" r="r" b="b"/>
              <a:pathLst>
                <a:path w="635" h="226060">
                  <a:moveTo>
                    <a:pt x="0" y="0"/>
                  </a:moveTo>
                  <a:lnTo>
                    <a:pt x="277" y="225545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54580" y="3146862"/>
              <a:ext cx="322829" cy="83137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88215" y="2867961"/>
              <a:ext cx="296765" cy="86263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35076" y="2264610"/>
              <a:ext cx="385551" cy="83279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2032839" y="2372083"/>
              <a:ext cx="189865" cy="201930"/>
            </a:xfrm>
            <a:custGeom>
              <a:avLst/>
              <a:gdLst/>
              <a:ahLst/>
              <a:cxnLst/>
              <a:rect l="l" t="t" r="r" b="b"/>
              <a:pathLst>
                <a:path w="189864" h="201930">
                  <a:moveTo>
                    <a:pt x="126547" y="201314"/>
                  </a:moveTo>
                  <a:lnTo>
                    <a:pt x="189821" y="0"/>
                  </a:lnTo>
                  <a:lnTo>
                    <a:pt x="0" y="178361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214410" y="2629322"/>
              <a:ext cx="336550" cy="475615"/>
            </a:xfrm>
            <a:custGeom>
              <a:avLst/>
              <a:gdLst/>
              <a:ahLst/>
              <a:cxnLst/>
              <a:rect l="l" t="t" r="r" b="b"/>
              <a:pathLst>
                <a:path w="336550" h="475614">
                  <a:moveTo>
                    <a:pt x="0" y="379320"/>
                  </a:moveTo>
                  <a:lnTo>
                    <a:pt x="336542" y="475465"/>
                  </a:lnTo>
                  <a:lnTo>
                    <a:pt x="309832" y="0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942643" y="3617278"/>
            <a:ext cx="13335" cy="25400"/>
            <a:chOff x="942643" y="3617278"/>
            <a:chExt cx="13335" cy="25400"/>
          </a:xfrm>
        </p:grpSpPr>
        <p:pic>
          <p:nvPicPr>
            <p:cNvPr id="69" name="object 6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42643" y="3620326"/>
              <a:ext cx="12911" cy="22056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944526" y="361727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6">
              <a:solidFill>
                <a:srgbClr val="FCF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1" name="object 7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231252" y="4194479"/>
            <a:ext cx="123412" cy="105342"/>
          </a:xfrm>
          <a:prstGeom prst="rect">
            <a:avLst/>
          </a:prstGeom>
        </p:spPr>
      </p:pic>
      <p:sp>
        <p:nvSpPr>
          <p:cNvPr id="72" name="object 72" descr=""/>
          <p:cNvSpPr txBox="1"/>
          <p:nvPr/>
        </p:nvSpPr>
        <p:spPr>
          <a:xfrm>
            <a:off x="5949779" y="1941785"/>
            <a:ext cx="5645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85">
                <a:solidFill>
                  <a:srgbClr val="231F1F"/>
                </a:solidFill>
                <a:latin typeface="Calibri"/>
                <a:cs typeface="Calibri"/>
              </a:rPr>
              <a:t>Strobilus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926198" y="2707024"/>
            <a:ext cx="596265" cy="454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065">
              <a:lnSpc>
                <a:spcPct val="100000"/>
              </a:lnSpc>
              <a:spcBef>
                <a:spcPts val="100"/>
              </a:spcBef>
            </a:pPr>
            <a:r>
              <a:rPr dirty="0" sz="950" spc="35">
                <a:solidFill>
                  <a:srgbClr val="231F1F"/>
                </a:solidFill>
                <a:latin typeface="Calibri"/>
                <a:cs typeface="Calibri"/>
              </a:rPr>
              <a:t>Node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950" spc="60">
                <a:solidFill>
                  <a:srgbClr val="231F1F"/>
                </a:solidFill>
                <a:latin typeface="Calibri"/>
                <a:cs typeface="Calibri"/>
              </a:rPr>
              <a:t>Internode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6062557" y="4090841"/>
            <a:ext cx="4597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10">
                <a:solidFill>
                  <a:srgbClr val="231F1F"/>
                </a:solidFill>
                <a:latin typeface="Calibri"/>
                <a:cs typeface="Calibri"/>
              </a:rPr>
              <a:t>Branch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4306729" y="4998840"/>
            <a:ext cx="5302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Rhizome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395089" y="1681769"/>
            <a:ext cx="1658183" cy="4048201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5255065" y="5514191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78" name="object 78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39188" y="5925820"/>
            <a:ext cx="1950716" cy="2600958"/>
          </a:xfrm>
          <a:prstGeom prst="rect">
            <a:avLst/>
          </a:prstGeom>
        </p:spPr>
      </p:pic>
      <p:pic>
        <p:nvPicPr>
          <p:cNvPr id="79" name="object 79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406895" y="5778503"/>
            <a:ext cx="1774188" cy="3072127"/>
          </a:xfrm>
          <a:prstGeom prst="rect">
            <a:avLst/>
          </a:prstGeom>
        </p:spPr>
      </p:pic>
      <p:sp>
        <p:nvSpPr>
          <p:cNvPr id="80" name="object 80" descr=""/>
          <p:cNvSpPr txBox="1"/>
          <p:nvPr/>
        </p:nvSpPr>
        <p:spPr>
          <a:xfrm>
            <a:off x="2043557" y="8599169"/>
            <a:ext cx="1727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30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81" name="object 81" descr=""/>
          <p:cNvSpPr txBox="1"/>
          <p:nvPr/>
        </p:nvSpPr>
        <p:spPr>
          <a:xfrm>
            <a:off x="5528183" y="8535542"/>
            <a:ext cx="1809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(d)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2" y="9763759"/>
            <a:ext cx="7773034" cy="660400"/>
            <a:chOff x="-112" y="9763759"/>
            <a:chExt cx="7773034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25"/>
            <a:ext cx="7772400" cy="1333500"/>
            <a:chOff x="0" y="25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24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8"/>
                  </a:moveTo>
                  <a:lnTo>
                    <a:pt x="7772284" y="129538"/>
                  </a:lnTo>
                  <a:lnTo>
                    <a:pt x="7772284" y="0"/>
                  </a:lnTo>
                  <a:lnTo>
                    <a:pt x="0" y="0"/>
                  </a:lnTo>
                  <a:lnTo>
                    <a:pt x="0" y="129538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25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284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7772284" y="1041399"/>
                  </a:lnTo>
                  <a:lnTo>
                    <a:pt x="7772284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486" y="876286"/>
              <a:ext cx="444500" cy="457200"/>
            </a:xfrm>
            <a:custGeom>
              <a:avLst/>
              <a:gdLst/>
              <a:ahLst/>
              <a:cxnLst/>
              <a:rect l="l" t="t" r="r" b="b"/>
              <a:pathLst>
                <a:path w="444500" h="457200">
                  <a:moveTo>
                    <a:pt x="330197" y="0"/>
                  </a:moveTo>
                  <a:lnTo>
                    <a:pt x="114303" y="0"/>
                  </a:lnTo>
                  <a:lnTo>
                    <a:pt x="91496" y="2091"/>
                  </a:lnTo>
                  <a:lnTo>
                    <a:pt x="51084" y="18826"/>
                  </a:lnTo>
                  <a:lnTo>
                    <a:pt x="18834" y="51079"/>
                  </a:lnTo>
                  <a:lnTo>
                    <a:pt x="2092" y="91524"/>
                  </a:lnTo>
                  <a:lnTo>
                    <a:pt x="0" y="114331"/>
                  </a:lnTo>
                  <a:lnTo>
                    <a:pt x="0" y="342924"/>
                  </a:lnTo>
                  <a:lnTo>
                    <a:pt x="8371" y="386784"/>
                  </a:lnTo>
                  <a:lnTo>
                    <a:pt x="33482" y="423716"/>
                  </a:lnTo>
                  <a:lnTo>
                    <a:pt x="70423" y="448818"/>
                  </a:lnTo>
                  <a:lnTo>
                    <a:pt x="114303" y="457184"/>
                  </a:lnTo>
                  <a:lnTo>
                    <a:pt x="330197" y="457184"/>
                  </a:lnTo>
                  <a:lnTo>
                    <a:pt x="374081" y="448818"/>
                  </a:lnTo>
                  <a:lnTo>
                    <a:pt x="411025" y="423716"/>
                  </a:lnTo>
                  <a:lnTo>
                    <a:pt x="436133" y="386784"/>
                  </a:lnTo>
                  <a:lnTo>
                    <a:pt x="444501" y="342924"/>
                  </a:lnTo>
                  <a:lnTo>
                    <a:pt x="444501" y="114331"/>
                  </a:lnTo>
                  <a:lnTo>
                    <a:pt x="436133" y="70435"/>
                  </a:lnTo>
                  <a:lnTo>
                    <a:pt x="411025" y="33468"/>
                  </a:lnTo>
                  <a:lnTo>
                    <a:pt x="374081" y="8367"/>
                  </a:lnTo>
                  <a:lnTo>
                    <a:pt x="330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2085" y="1008519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38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4952" y="1008519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9" y="1140"/>
            <a:ext cx="232410" cy="234315"/>
            <a:chOff x="1029" y="1140"/>
            <a:chExt cx="232410" cy="234315"/>
          </a:xfrm>
        </p:grpSpPr>
        <p:sp>
          <p:nvSpPr>
            <p:cNvPr id="12" name="object 12" descr=""/>
            <p:cNvSpPr/>
            <p:nvPr/>
          </p:nvSpPr>
          <p:spPr>
            <a:xfrm>
              <a:off x="1029" y="2335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1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537" y="11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2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029" y="1019251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1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1537" y="10238613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8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8874" y="10193655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387485" y="1517407"/>
            <a:ext cx="4673600" cy="7340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50800" marR="36195">
              <a:lnSpc>
                <a:spcPct val="111100"/>
              </a:lnSpc>
              <a:spcBef>
                <a:spcPts val="95"/>
              </a:spcBef>
            </a:pP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free-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living,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mostly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photosynthetic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thalloid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called </a:t>
            </a:r>
            <a:r>
              <a:rPr dirty="0" sz="1050" spc="110" b="1">
                <a:solidFill>
                  <a:srgbClr val="231F1F"/>
                </a:solidFill>
                <a:latin typeface="Calibri"/>
                <a:cs typeface="Calibri"/>
              </a:rPr>
              <a:t>prothallus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require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cool,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damp,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shady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places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grow.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Because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specific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restricted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requirement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and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need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for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fertilisation,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spread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living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limited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and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restricted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narrow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geographical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regions.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bear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male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antheridia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archegonia,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respectively.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required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transfer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antherozoids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released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antheridia,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mouth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archegonium.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Fusion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gamete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present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archegonium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result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zygote.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thereafter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well-differentiated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sporophyte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dominant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phase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pteridophytes.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majority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all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similar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kinds;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 </a:t>
            </a:r>
            <a:r>
              <a:rPr dirty="0" sz="1050" spc="114" b="1">
                <a:solidFill>
                  <a:srgbClr val="231F1F"/>
                </a:solidFill>
                <a:latin typeface="Calibri"/>
                <a:cs typeface="Calibri"/>
              </a:rPr>
              <a:t>homosporous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Genera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Selaginella</a:t>
            </a:r>
            <a:r>
              <a:rPr dirty="0" sz="1050" spc="26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i="1">
                <a:solidFill>
                  <a:srgbClr val="231F1F"/>
                </a:solidFill>
                <a:latin typeface="Calibri"/>
                <a:cs typeface="Calibri"/>
              </a:rPr>
              <a:t>Salvinia</a:t>
            </a:r>
            <a:r>
              <a:rPr dirty="0" sz="1050" spc="26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kinds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spores,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macro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(large)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micro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(small)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spores,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known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heterosporous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megaspores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microspores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give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rise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gametophytes,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respectively.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female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retained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parent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sporophytes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variable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periods.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development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zygotes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young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embryos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take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gametophytes.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event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precursor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seed </a:t>
            </a:r>
            <a:r>
              <a:rPr dirty="0" sz="1050" spc="110" b="1">
                <a:solidFill>
                  <a:srgbClr val="231F1F"/>
                </a:solidFill>
                <a:latin typeface="Calibri"/>
                <a:cs typeface="Calibri"/>
              </a:rPr>
              <a:t>habit</a:t>
            </a:r>
            <a:r>
              <a:rPr dirty="0" sz="1050" spc="10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considered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important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step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evolution.</a:t>
            </a:r>
            <a:endParaRPr sz="1050">
              <a:latin typeface="Calibri"/>
              <a:cs typeface="Calibri"/>
            </a:endParaRPr>
          </a:p>
          <a:p>
            <a:pPr algn="just" marL="50800" marR="43180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pteridophytes are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further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classified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into four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classes: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Psilopsida </a:t>
            </a:r>
            <a:r>
              <a:rPr dirty="0" sz="1050" spc="30" i="1">
                <a:solidFill>
                  <a:srgbClr val="231F1F"/>
                </a:solidFill>
                <a:latin typeface="Calibri"/>
                <a:cs typeface="Calibri"/>
              </a:rPr>
              <a:t>(Psilotum);</a:t>
            </a:r>
            <a:r>
              <a:rPr dirty="0" sz="1050" spc="2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Lycopsida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(Selaginella,</a:t>
            </a:r>
            <a:r>
              <a:rPr dirty="0" sz="1050" spc="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Lycopodium)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Sphenopsida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 i="1">
                <a:solidFill>
                  <a:srgbClr val="231F1F"/>
                </a:solidFill>
                <a:latin typeface="Calibri"/>
                <a:cs typeface="Calibri"/>
              </a:rPr>
              <a:t>(Equisetum)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Pteropsida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 i="1">
                <a:solidFill>
                  <a:srgbClr val="231F1F"/>
                </a:solidFill>
                <a:latin typeface="Calibri"/>
                <a:cs typeface="Calibri"/>
              </a:rPr>
              <a:t>(Dryopteris,</a:t>
            </a:r>
            <a:r>
              <a:rPr dirty="0" sz="1050" spc="16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 i="1">
                <a:solidFill>
                  <a:srgbClr val="231F1F"/>
                </a:solidFill>
                <a:latin typeface="Calibri"/>
                <a:cs typeface="Calibri"/>
              </a:rPr>
              <a:t>Pteris,</a:t>
            </a:r>
            <a:r>
              <a:rPr dirty="0" sz="1050" spc="16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Adiantum)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tabLst>
                <a:tab pos="481965" algn="l"/>
              </a:tabLst>
            </a:pPr>
            <a:r>
              <a:rPr dirty="0" cap="small" sz="1300" spc="114" b="1">
                <a:solidFill>
                  <a:srgbClr val="00ADEF"/>
                </a:solidFill>
                <a:latin typeface="Calibri"/>
                <a:cs typeface="Calibri"/>
              </a:rPr>
              <a:t>3.</a:t>
            </a:r>
            <a:r>
              <a:rPr dirty="0" cap="small" sz="1300" spc="114" b="1">
                <a:solidFill>
                  <a:srgbClr val="00ADEF"/>
                </a:solidFill>
                <a:latin typeface="Calibri"/>
                <a:cs typeface="Calibri"/>
              </a:rPr>
              <a:t>4</a:t>
            </a:r>
            <a:r>
              <a:rPr dirty="0" cap="small" sz="1300" b="1">
                <a:solidFill>
                  <a:srgbClr val="00ADEF"/>
                </a:solidFill>
                <a:latin typeface="Calibri"/>
                <a:cs typeface="Calibri"/>
              </a:rPr>
              <a:t>	</a:t>
            </a:r>
            <a:r>
              <a:rPr dirty="0" cap="small" sz="1300" spc="-10" b="1">
                <a:solidFill>
                  <a:srgbClr val="00ADEF"/>
                </a:solidFill>
                <a:latin typeface="Calibri"/>
                <a:cs typeface="Calibri"/>
              </a:rPr>
              <a:t>G</a:t>
            </a:r>
            <a:r>
              <a:rPr dirty="0" cap="small" sz="1300" spc="-10" b="1">
                <a:solidFill>
                  <a:srgbClr val="00ADEF"/>
                </a:solidFill>
                <a:latin typeface="Calibri"/>
                <a:cs typeface="Calibri"/>
              </a:rPr>
              <a:t>ymnosperms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alibri"/>
              <a:cs typeface="Calibri"/>
            </a:endParaRPr>
          </a:p>
          <a:p>
            <a:pPr algn="just" marL="50800" marR="43180">
              <a:lnSpc>
                <a:spcPct val="1111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gymnos</a:t>
            </a:r>
            <a:r>
              <a:rPr dirty="0" sz="1050" spc="2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: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naked,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i="1">
                <a:solidFill>
                  <a:srgbClr val="231F1F"/>
                </a:solidFill>
                <a:latin typeface="Calibri"/>
                <a:cs typeface="Calibri"/>
              </a:rPr>
              <a:t>sperma</a:t>
            </a:r>
            <a:r>
              <a:rPr dirty="0" sz="1050" spc="2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: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seeds)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which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enclosed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ovary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wall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remain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exposed,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both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before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fertilisation.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seeds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develop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post-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fertilisation,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covered,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i.e.,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naked.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include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medium-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sized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trees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tall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trees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shrubs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3.4).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gymnosperms,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giant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redwood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tree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Sequoia</a:t>
            </a:r>
            <a:r>
              <a:rPr dirty="0" sz="1050" spc="22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tallest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tree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species.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roots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generally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tap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roots.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Roots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genera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fungal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association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110" b="1">
                <a:solidFill>
                  <a:srgbClr val="231F1F"/>
                </a:solidFill>
                <a:latin typeface="Calibri"/>
                <a:cs typeface="Calibri"/>
              </a:rPr>
              <a:t>mycorrhiza</a:t>
            </a:r>
            <a:r>
              <a:rPr dirty="0" sz="1050" spc="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 i="1">
                <a:solidFill>
                  <a:srgbClr val="231F1F"/>
                </a:solidFill>
                <a:latin typeface="Calibri"/>
                <a:cs typeface="Calibri"/>
              </a:rPr>
              <a:t>(Pinus)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while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others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(Cycas)</a:t>
            </a:r>
            <a:r>
              <a:rPr dirty="0" sz="1050" spc="-1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small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specialised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roots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coralloid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roots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associated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N</a:t>
            </a:r>
            <a:r>
              <a:rPr dirty="0" baseline="-32407" sz="900" spc="127">
                <a:solidFill>
                  <a:srgbClr val="231F1F"/>
                </a:solidFill>
                <a:latin typeface="Calibri"/>
                <a:cs typeface="Calibri"/>
              </a:rPr>
              <a:t>2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fixing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cyanobacteria.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stems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unbranched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Cycas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)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branched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60" i="1">
                <a:solidFill>
                  <a:srgbClr val="231F1F"/>
                </a:solidFill>
                <a:latin typeface="Calibri"/>
                <a:cs typeface="Calibri"/>
              </a:rPr>
              <a:t>Pinus,</a:t>
            </a:r>
            <a:r>
              <a:rPr dirty="0" sz="1050" spc="-3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Cedrus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).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leaves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simple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compound.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 i="1">
                <a:solidFill>
                  <a:srgbClr val="231F1F"/>
                </a:solidFill>
                <a:latin typeface="Calibri"/>
                <a:cs typeface="Calibri"/>
              </a:rPr>
              <a:t>Cycas</a:t>
            </a:r>
            <a:r>
              <a:rPr dirty="0" sz="1050" spc="-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pinnate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leaves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persist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few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years.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leaves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well-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adapted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withstand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extremes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temperature,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humidity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wind.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conifers,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needle-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leaves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reduce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surface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area.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thick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cuticle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sunken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stomata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also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help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reduce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water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loss.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39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49300" y="1517407"/>
            <a:ext cx="3378200" cy="7315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7620" indent="228600">
              <a:lnSpc>
                <a:spcPct val="111100"/>
              </a:lnSpc>
              <a:spcBef>
                <a:spcPts val="95"/>
              </a:spcBef>
            </a:pP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heterosporous;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produce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microspores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megaspores.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kinds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sporangia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borne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sporophylls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arranged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spirally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along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axis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lax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compact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strobili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cones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strobili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bearing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microsporophylls</a:t>
            </a:r>
            <a:r>
              <a:rPr dirty="0" sz="1050" spc="254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microsporangia</a:t>
            </a:r>
            <a:r>
              <a:rPr dirty="0" sz="1050" spc="26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microsporangiate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55" b="1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409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 b="1">
                <a:solidFill>
                  <a:srgbClr val="231F1F"/>
                </a:solidFill>
                <a:latin typeface="Calibri"/>
                <a:cs typeface="Calibri"/>
              </a:rPr>
              <a:t>strobili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The microspores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develop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3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3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gametophytic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generation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highly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reduced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confined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only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limited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number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cells.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reduced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 b="1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1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231F1F"/>
                </a:solidFill>
                <a:latin typeface="Calibri"/>
                <a:cs typeface="Calibri"/>
              </a:rPr>
              <a:t>grain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development</a:t>
            </a:r>
            <a:r>
              <a:rPr dirty="0" sz="1050" spc="5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grains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take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microsporangia.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cones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bearing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megasporophylls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or </a:t>
            </a:r>
            <a:r>
              <a:rPr dirty="0" sz="1050" spc="80" b="1">
                <a:solidFill>
                  <a:srgbClr val="231F1F"/>
                </a:solidFill>
                <a:latin typeface="Calibri"/>
                <a:cs typeface="Calibri"/>
              </a:rPr>
              <a:t>megasporangia</a:t>
            </a:r>
            <a:r>
              <a:rPr dirty="0" sz="1050" spc="-1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macrosporangiate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-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 b="1">
                <a:solidFill>
                  <a:srgbClr val="231F1F"/>
                </a:solidFill>
                <a:latin typeface="Calibri"/>
                <a:cs typeface="Calibri"/>
              </a:rPr>
              <a:t>female </a:t>
            </a:r>
            <a:r>
              <a:rPr dirty="0" sz="1050" spc="70" b="1">
                <a:solidFill>
                  <a:srgbClr val="231F1F"/>
                </a:solidFill>
                <a:latin typeface="Calibri"/>
                <a:cs typeface="Calibri"/>
              </a:rPr>
              <a:t>strobili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cones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strobili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be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borne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same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tree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(</a:t>
            </a:r>
            <a:r>
              <a:rPr dirty="0" sz="1050" spc="45" i="1">
                <a:solidFill>
                  <a:srgbClr val="231F1F"/>
                </a:solidFill>
                <a:latin typeface="Calibri"/>
                <a:cs typeface="Calibri"/>
              </a:rPr>
              <a:t>Pinus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).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However,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cycas</a:t>
            </a:r>
            <a:r>
              <a:rPr dirty="0" sz="1050" spc="2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male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cones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megasporophylls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are borne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different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trees.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megaspore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mother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differentiated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cells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nucellus.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nucellus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protected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envelopes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composite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structure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an </a:t>
            </a:r>
            <a:r>
              <a:rPr dirty="0" sz="1050" spc="70" b="1">
                <a:solidFill>
                  <a:srgbClr val="231F1F"/>
                </a:solidFill>
                <a:latin typeface="Calibri"/>
                <a:cs typeface="Calibri"/>
              </a:rPr>
              <a:t>ovule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borne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megasporophylls</a:t>
            </a:r>
            <a:r>
              <a:rPr dirty="0" sz="1050" spc="-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which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clustered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cones.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megaspore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mother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divides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meiotically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four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megaspores.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megaspores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enclosed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megasporangium</a:t>
            </a:r>
            <a:r>
              <a:rPr dirty="0" sz="1050" spc="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female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bears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more</a:t>
            </a:r>
            <a:r>
              <a:rPr dirty="0" sz="105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archegonia</a:t>
            </a:r>
            <a:r>
              <a:rPr dirty="0" sz="1050" spc="24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or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organs.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gametophyte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also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retained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megasporangium.</a:t>
            </a:r>
            <a:endParaRPr sz="1050">
              <a:latin typeface="Calibri"/>
              <a:cs typeface="Calibri"/>
            </a:endParaRPr>
          </a:p>
          <a:p>
            <a:pPr algn="just" marL="12700" marR="5080" indent="228600">
              <a:lnSpc>
                <a:spcPts val="1400"/>
              </a:lnSpc>
              <a:spcBef>
                <a:spcPts val="70"/>
              </a:spcBef>
            </a:pP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Unlike</a:t>
            </a:r>
            <a:r>
              <a:rPr dirty="0" sz="1050" spc="48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4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pteridophytes,</a:t>
            </a:r>
            <a:r>
              <a:rPr dirty="0" sz="1050" spc="4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endParaRPr sz="1050">
              <a:latin typeface="Calibri"/>
              <a:cs typeface="Calibri"/>
            </a:endParaRPr>
          </a:p>
          <a:p>
            <a:pPr algn="just" marL="12700" marR="6985">
              <a:lnSpc>
                <a:spcPts val="1400"/>
              </a:lnSpc>
            </a:pP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do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independent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free-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living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existence.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They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remain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sporangia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retained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endParaRPr sz="10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70"/>
              </a:spcBef>
            </a:pP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sporophytes.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grain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released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endParaRPr sz="1050">
              <a:latin typeface="Calibri"/>
              <a:cs typeface="Calibri"/>
            </a:endParaRPr>
          </a:p>
          <a:p>
            <a:pPr algn="just" marL="12700" marR="15240">
              <a:lnSpc>
                <a:spcPct val="111100"/>
              </a:lnSpc>
            </a:pP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microsporangium.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carried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air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currents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come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contact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opening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borne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megasporophylls.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tube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carrying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grows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towards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archegonia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ovules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discharge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contents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near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mouth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archegonia.</a:t>
            </a:r>
            <a:r>
              <a:rPr dirty="0" sz="1050" spc="3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Following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fertilisation,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3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develops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embryo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seeds.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seeds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covered.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248022" y="8428113"/>
            <a:ext cx="2554605" cy="4572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L="21590">
              <a:lnSpc>
                <a:spcPct val="100000"/>
              </a:lnSpc>
              <a:spcBef>
                <a:spcPts val="655"/>
              </a:spcBef>
            </a:pPr>
            <a:r>
              <a:rPr dirty="0" sz="950" spc="30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950" spc="29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3.4</a:t>
            </a:r>
            <a:r>
              <a:rPr dirty="0" sz="950" spc="46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50">
                <a:solidFill>
                  <a:srgbClr val="231F1F"/>
                </a:solidFill>
                <a:latin typeface="Calibri"/>
                <a:cs typeface="Calibri"/>
              </a:rPr>
              <a:t>Gymnosperms:</a:t>
            </a:r>
            <a:r>
              <a:rPr dirty="0" sz="950" spc="225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 spc="7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r>
              <a:rPr dirty="0" sz="950" spc="225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 spc="170" i="1">
                <a:solidFill>
                  <a:srgbClr val="231F1F"/>
                </a:solidFill>
                <a:latin typeface="Calibri"/>
                <a:cs typeface="Calibri"/>
              </a:rPr>
              <a:t>Cycas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10022" y="8859405"/>
            <a:ext cx="11868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r>
              <a:rPr dirty="0" sz="95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0" i="1">
                <a:solidFill>
                  <a:srgbClr val="231F1F"/>
                </a:solidFill>
                <a:latin typeface="Calibri"/>
                <a:cs typeface="Calibri"/>
              </a:rPr>
              <a:t>Pinus</a:t>
            </a:r>
            <a:r>
              <a:rPr dirty="0" sz="950" spc="22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r>
              <a:rPr dirty="0" sz="9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55" i="1">
                <a:solidFill>
                  <a:srgbClr val="231F1F"/>
                </a:solidFill>
                <a:latin typeface="Calibri"/>
                <a:cs typeface="Calibri"/>
              </a:rPr>
              <a:t>Ginkgo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9765" y="3690623"/>
            <a:ext cx="2019301" cy="269239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7042" y="1562135"/>
            <a:ext cx="2524756" cy="1893536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4306505" y="6624253"/>
            <a:ext cx="2426335" cy="1854835"/>
            <a:chOff x="4306505" y="6624253"/>
            <a:chExt cx="2426335" cy="1854835"/>
          </a:xfrm>
        </p:grpSpPr>
        <p:sp>
          <p:nvSpPr>
            <p:cNvPr id="19" name="object 19" descr=""/>
            <p:cNvSpPr/>
            <p:nvPr/>
          </p:nvSpPr>
          <p:spPr>
            <a:xfrm>
              <a:off x="4306505" y="6624253"/>
              <a:ext cx="2426335" cy="1854835"/>
            </a:xfrm>
            <a:custGeom>
              <a:avLst/>
              <a:gdLst/>
              <a:ahLst/>
              <a:cxnLst/>
              <a:rect l="l" t="t" r="r" b="b"/>
              <a:pathLst>
                <a:path w="2426334" h="1854834">
                  <a:moveTo>
                    <a:pt x="2425829" y="0"/>
                  </a:moveTo>
                  <a:lnTo>
                    <a:pt x="0" y="0"/>
                  </a:lnTo>
                  <a:lnTo>
                    <a:pt x="0" y="1854327"/>
                  </a:lnTo>
                  <a:lnTo>
                    <a:pt x="2425829" y="1854327"/>
                  </a:lnTo>
                  <a:lnTo>
                    <a:pt x="2425829" y="0"/>
                  </a:lnTo>
                  <a:close/>
                </a:path>
              </a:pathLst>
            </a:custGeom>
            <a:solidFill>
              <a:srgbClr val="C5D4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82093" y="8125259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736D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87401" y="8125247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615B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5961" y="7878093"/>
              <a:ext cx="1103707" cy="33858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805885" y="7879168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625D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7065" y="7811556"/>
              <a:ext cx="1253897" cy="17444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8543" y="7778705"/>
              <a:ext cx="1008165" cy="3500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7589" y="7739177"/>
              <a:ext cx="133026" cy="7392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7921" y="7734613"/>
              <a:ext cx="506043" cy="4610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863982" y="7735688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1" y="0"/>
                  </a:lnTo>
                </a:path>
              </a:pathLst>
            </a:custGeom>
            <a:ln w="3175">
              <a:solidFill>
                <a:srgbClr val="FAF9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713659" y="7709709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F8F6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18536" y="7580606"/>
              <a:ext cx="688058" cy="19888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0549" y="7439675"/>
              <a:ext cx="444435" cy="41657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441182" y="7580779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6A636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90874" y="7558959"/>
              <a:ext cx="5732" cy="741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59444" y="7334921"/>
              <a:ext cx="575389" cy="24692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549432" y="7440753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40" h="0">
                  <a:moveTo>
                    <a:pt x="0" y="0"/>
                  </a:moveTo>
                  <a:lnTo>
                    <a:pt x="2181" y="0"/>
                  </a:lnTo>
                </a:path>
              </a:pathLst>
            </a:custGeom>
            <a:ln w="3175">
              <a:solidFill>
                <a:srgbClr val="5853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442532" y="7335974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5B55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19088" y="7262010"/>
              <a:ext cx="727217" cy="18393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5460211" y="7335943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615B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433692" y="7334237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5853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16009" y="7278869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FEF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146038" y="7263079"/>
              <a:ext cx="4445" cy="0"/>
            </a:xfrm>
            <a:custGeom>
              <a:avLst/>
              <a:gdLst/>
              <a:ahLst/>
              <a:cxnLst/>
              <a:rect l="l" t="t" r="r" b="b"/>
              <a:pathLst>
                <a:path w="4445" h="0">
                  <a:moveTo>
                    <a:pt x="0" y="0"/>
                  </a:moveTo>
                  <a:lnTo>
                    <a:pt x="3957" y="0"/>
                  </a:lnTo>
                </a:path>
              </a:pathLst>
            </a:custGeom>
            <a:ln w="3175">
              <a:solidFill>
                <a:srgbClr val="5E58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947965" y="7223195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70696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24726" y="7101481"/>
              <a:ext cx="771323" cy="23509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767429" y="7101104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188" y="0"/>
                  </a:lnTo>
                </a:path>
              </a:pathLst>
            </a:custGeom>
            <a:ln w="3175">
              <a:solidFill>
                <a:srgbClr val="5E585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31747" y="6918659"/>
              <a:ext cx="300964" cy="18444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70960" y="6718349"/>
              <a:ext cx="617625" cy="545792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5087492" y="7583040"/>
              <a:ext cx="788035" cy="88900"/>
            </a:xfrm>
            <a:custGeom>
              <a:avLst/>
              <a:gdLst/>
              <a:ahLst/>
              <a:cxnLst/>
              <a:rect l="l" t="t" r="r" b="b"/>
              <a:pathLst>
                <a:path w="788035" h="88900">
                  <a:moveTo>
                    <a:pt x="0" y="0"/>
                  </a:moveTo>
                  <a:lnTo>
                    <a:pt x="787524" y="88779"/>
                  </a:lnTo>
                </a:path>
              </a:pathLst>
            </a:custGeom>
            <a:ln w="647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076819" y="7048502"/>
              <a:ext cx="649605" cy="412750"/>
            </a:xfrm>
            <a:custGeom>
              <a:avLst/>
              <a:gdLst/>
              <a:ahLst/>
              <a:cxnLst/>
              <a:rect l="l" t="t" r="r" b="b"/>
              <a:pathLst>
                <a:path w="649604" h="412750">
                  <a:moveTo>
                    <a:pt x="0" y="0"/>
                  </a:moveTo>
                  <a:lnTo>
                    <a:pt x="649608" y="412617"/>
                  </a:lnTo>
                </a:path>
              </a:pathLst>
            </a:custGeom>
            <a:ln w="647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087492" y="8116442"/>
              <a:ext cx="546100" cy="76200"/>
            </a:xfrm>
            <a:custGeom>
              <a:avLst/>
              <a:gdLst/>
              <a:ahLst/>
              <a:cxnLst/>
              <a:rect l="l" t="t" r="r" b="b"/>
              <a:pathLst>
                <a:path w="546100" h="76200">
                  <a:moveTo>
                    <a:pt x="0" y="76202"/>
                  </a:moveTo>
                  <a:lnTo>
                    <a:pt x="545971" y="0"/>
                  </a:lnTo>
                </a:path>
              </a:pathLst>
            </a:custGeom>
            <a:ln w="647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4306505" y="6624253"/>
            <a:ext cx="2426335" cy="1854835"/>
          </a:xfrm>
          <a:prstGeom prst="rect">
            <a:avLst/>
          </a:prstGeom>
          <a:ln w="12572">
            <a:solidFill>
              <a:srgbClr val="C5D49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Times New Roman"/>
              <a:cs typeface="Times New Roman"/>
            </a:endParaRPr>
          </a:p>
          <a:p>
            <a:pPr algn="r" marR="1629410">
              <a:lnSpc>
                <a:spcPct val="100000"/>
              </a:lnSpc>
            </a:pPr>
            <a:r>
              <a:rPr dirty="0" sz="900" spc="75">
                <a:solidFill>
                  <a:srgbClr val="231F1F"/>
                </a:solidFill>
                <a:latin typeface="Calibri"/>
                <a:cs typeface="Calibri"/>
              </a:rPr>
              <a:t>Dwarf</a:t>
            </a:r>
            <a:r>
              <a:rPr dirty="0" sz="90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31F1F"/>
                </a:solidFill>
                <a:latin typeface="Calibri"/>
                <a:cs typeface="Calibri"/>
              </a:rPr>
              <a:t>Shoot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>
              <a:latin typeface="Calibri"/>
              <a:cs typeface="Calibri"/>
            </a:endParaRPr>
          </a:p>
          <a:p>
            <a:pPr algn="r" marR="1659889">
              <a:lnSpc>
                <a:spcPct val="100000"/>
              </a:lnSpc>
              <a:spcBef>
                <a:spcPts val="5"/>
              </a:spcBef>
            </a:pPr>
            <a:r>
              <a:rPr dirty="0" sz="900" spc="80">
                <a:solidFill>
                  <a:srgbClr val="231F1F"/>
                </a:solidFill>
                <a:latin typeface="Calibri"/>
                <a:cs typeface="Calibri"/>
              </a:rPr>
              <a:t>Long</a:t>
            </a:r>
            <a:r>
              <a:rPr dirty="0" sz="90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231F1F"/>
                </a:solidFill>
                <a:latin typeface="Calibri"/>
                <a:cs typeface="Calibri"/>
              </a:rPr>
              <a:t>Shoot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>
              <a:latin typeface="Calibri"/>
              <a:cs typeface="Calibri"/>
            </a:endParaRPr>
          </a:p>
          <a:p>
            <a:pPr algn="r" marR="1654810">
              <a:lnSpc>
                <a:spcPct val="100000"/>
              </a:lnSpc>
            </a:pPr>
            <a:r>
              <a:rPr dirty="0" sz="900" spc="45">
                <a:solidFill>
                  <a:srgbClr val="231F1F"/>
                </a:solidFill>
                <a:latin typeface="Calibri"/>
                <a:cs typeface="Calibri"/>
              </a:rPr>
              <a:t>Seeds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51" name="object 51" descr=""/>
          <p:cNvSpPr txBox="1"/>
          <p:nvPr/>
        </p:nvSpPr>
        <p:spPr>
          <a:xfrm>
            <a:off x="5445125" y="6390513"/>
            <a:ext cx="1809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445125" y="3456813"/>
            <a:ext cx="18288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4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763755"/>
            <a:ext cx="7772400" cy="660400"/>
            <a:chOff x="0" y="9763755"/>
            <a:chExt cx="7772400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095" y="9769851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60207" y="0"/>
                  </a:moveTo>
                  <a:lnTo>
                    <a:pt x="0" y="0"/>
                  </a:lnTo>
                  <a:lnTo>
                    <a:pt x="0" y="648212"/>
                  </a:lnTo>
                  <a:lnTo>
                    <a:pt x="7760207" y="648212"/>
                  </a:lnTo>
                  <a:lnTo>
                    <a:pt x="7760207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095" y="9769851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8212"/>
                  </a:moveTo>
                  <a:lnTo>
                    <a:pt x="7760207" y="648212"/>
                  </a:lnTo>
                  <a:lnTo>
                    <a:pt x="7760207" y="0"/>
                  </a:lnTo>
                  <a:lnTo>
                    <a:pt x="0" y="0"/>
                  </a:lnTo>
                  <a:lnTo>
                    <a:pt x="0" y="648212"/>
                  </a:lnTo>
                  <a:close/>
                </a:path>
              </a:pathLst>
            </a:custGeom>
            <a:ln w="12191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6"/>
            <a:ext cx="7772400" cy="1333500"/>
            <a:chOff x="0" y="6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10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9"/>
                  </a:moveTo>
                  <a:lnTo>
                    <a:pt x="7772399" y="129539"/>
                  </a:lnTo>
                  <a:lnTo>
                    <a:pt x="7772399" y="0"/>
                  </a:lnTo>
                  <a:lnTo>
                    <a:pt x="0" y="0"/>
                  </a:lnTo>
                  <a:lnTo>
                    <a:pt x="0" y="129539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6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399" y="0"/>
                  </a:moveTo>
                  <a:lnTo>
                    <a:pt x="0" y="0"/>
                  </a:lnTo>
                  <a:lnTo>
                    <a:pt x="0" y="1041404"/>
                  </a:lnTo>
                  <a:lnTo>
                    <a:pt x="7772399" y="1041404"/>
                  </a:lnTo>
                  <a:lnTo>
                    <a:pt x="7772399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600" y="876299"/>
              <a:ext cx="445134" cy="457200"/>
            </a:xfrm>
            <a:custGeom>
              <a:avLst/>
              <a:gdLst/>
              <a:ahLst/>
              <a:cxnLst/>
              <a:rect l="l" t="t" r="r" b="b"/>
              <a:pathLst>
                <a:path w="445134" h="457200">
                  <a:moveTo>
                    <a:pt x="330208" y="0"/>
                  </a:moveTo>
                  <a:lnTo>
                    <a:pt x="114299" y="0"/>
                  </a:lnTo>
                  <a:lnTo>
                    <a:pt x="91500" y="2091"/>
                  </a:lnTo>
                  <a:lnTo>
                    <a:pt x="51089" y="18825"/>
                  </a:lnTo>
                  <a:lnTo>
                    <a:pt x="18835" y="51086"/>
                  </a:lnTo>
                  <a:lnTo>
                    <a:pt x="2093" y="91502"/>
                  </a:lnTo>
                  <a:lnTo>
                    <a:pt x="0" y="114299"/>
                  </a:lnTo>
                  <a:lnTo>
                    <a:pt x="0" y="342899"/>
                  </a:lnTo>
                  <a:lnTo>
                    <a:pt x="8372" y="386791"/>
                  </a:lnTo>
                  <a:lnTo>
                    <a:pt x="33479" y="423732"/>
                  </a:lnTo>
                  <a:lnTo>
                    <a:pt x="70429" y="448833"/>
                  </a:lnTo>
                  <a:lnTo>
                    <a:pt x="114299" y="457199"/>
                  </a:lnTo>
                  <a:lnTo>
                    <a:pt x="330208" y="457199"/>
                  </a:lnTo>
                  <a:lnTo>
                    <a:pt x="374086" y="448833"/>
                  </a:lnTo>
                  <a:lnTo>
                    <a:pt x="411028" y="423732"/>
                  </a:lnTo>
                  <a:lnTo>
                    <a:pt x="436139" y="386791"/>
                  </a:lnTo>
                  <a:lnTo>
                    <a:pt x="444508" y="342899"/>
                  </a:lnTo>
                  <a:lnTo>
                    <a:pt x="444508" y="114299"/>
                  </a:lnTo>
                  <a:lnTo>
                    <a:pt x="436139" y="70431"/>
                  </a:lnTo>
                  <a:lnTo>
                    <a:pt x="411028" y="33467"/>
                  </a:lnTo>
                  <a:lnTo>
                    <a:pt x="374086" y="8366"/>
                  </a:lnTo>
                  <a:lnTo>
                    <a:pt x="330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3724" y="1008874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40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3923" y="1008874"/>
            <a:ext cx="4984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0"/>
            <a:ext cx="231775" cy="234950"/>
            <a:chOff x="0" y="0"/>
            <a:chExt cx="231775" cy="234950"/>
          </a:xfrm>
        </p:grpSpPr>
        <p:sp>
          <p:nvSpPr>
            <p:cNvPr id="12" name="object 12" descr=""/>
            <p:cNvSpPr/>
            <p:nvPr/>
          </p:nvSpPr>
          <p:spPr>
            <a:xfrm>
              <a:off x="0" y="233171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0124" y="0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80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0" y="10194035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0124" y="10238231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9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7828" y="10192511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425700" y="1501635"/>
            <a:ext cx="4606925" cy="4636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134" algn="l"/>
              </a:tabLst>
            </a:pPr>
            <a:r>
              <a:rPr dirty="0" cap="small" sz="1300" spc="120" b="1">
                <a:solidFill>
                  <a:srgbClr val="00ADEF"/>
                </a:solidFill>
                <a:latin typeface="Calibri"/>
                <a:cs typeface="Calibri"/>
              </a:rPr>
              <a:t>3.</a:t>
            </a:r>
            <a:r>
              <a:rPr dirty="0" cap="small" sz="1300" spc="120" b="1">
                <a:solidFill>
                  <a:srgbClr val="00ADEF"/>
                </a:solidFill>
                <a:latin typeface="Calibri"/>
                <a:cs typeface="Calibri"/>
              </a:rPr>
              <a:t>5</a:t>
            </a:r>
            <a:r>
              <a:rPr dirty="0" cap="small" sz="1300" b="1">
                <a:solidFill>
                  <a:srgbClr val="00ADEF"/>
                </a:solidFill>
                <a:latin typeface="Calibri"/>
                <a:cs typeface="Calibri"/>
              </a:rPr>
              <a:t>	</a:t>
            </a:r>
            <a:r>
              <a:rPr dirty="0" cap="small" sz="1300" spc="50" b="1">
                <a:solidFill>
                  <a:srgbClr val="00ADEF"/>
                </a:solidFill>
                <a:latin typeface="Calibri"/>
                <a:cs typeface="Calibri"/>
              </a:rPr>
              <a:t>A</a:t>
            </a:r>
            <a:r>
              <a:rPr dirty="0" cap="small" sz="1300" spc="50" b="1">
                <a:solidFill>
                  <a:srgbClr val="00ADEF"/>
                </a:solidFill>
                <a:latin typeface="Calibri"/>
                <a:cs typeface="Calibri"/>
              </a:rPr>
              <a:t>ngiosperms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algn="just" marL="12700" marR="5080">
              <a:lnSpc>
                <a:spcPct val="1111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Unlike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where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naked,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angiosperms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flowering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plants,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grains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developed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specialised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structures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flowers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angiosperms,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seeds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enclosed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fruits.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angiosperms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exceptionally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large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group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occurring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wide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range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habitats.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range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size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smallest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 i="1">
                <a:solidFill>
                  <a:srgbClr val="231F1F"/>
                </a:solidFill>
                <a:latin typeface="Calibri"/>
                <a:cs typeface="Calibri"/>
              </a:rPr>
              <a:t>Wolffia</a:t>
            </a:r>
            <a:r>
              <a:rPr dirty="0" sz="1050" spc="5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tall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trees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 i="1">
                <a:solidFill>
                  <a:srgbClr val="231F1F"/>
                </a:solidFill>
                <a:latin typeface="Calibri"/>
                <a:cs typeface="Calibri"/>
              </a:rPr>
              <a:t>Eucalyptus</a:t>
            </a:r>
            <a:r>
              <a:rPr dirty="0" sz="1050" spc="5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(over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100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metres).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provide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us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food,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fodder,</a:t>
            </a:r>
            <a:r>
              <a:rPr dirty="0" sz="1050" spc="4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fuel,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medicines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several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commercially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important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products.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divided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classes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: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dicotyledons 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80" b="1">
                <a:solidFill>
                  <a:srgbClr val="231F1F"/>
                </a:solidFill>
                <a:latin typeface="Calibri"/>
                <a:cs typeface="Calibri"/>
              </a:rPr>
              <a:t>monocotyledons</a:t>
            </a:r>
            <a:r>
              <a:rPr dirty="0" sz="1050" spc="47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3.5).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dicotyledons</a:t>
            </a:r>
            <a:r>
              <a:rPr dirty="0" sz="1050" spc="4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characterised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seeds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having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cotyledons,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reticulate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venations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leaves,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tetramerous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pentamerous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flowers,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i.e.,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having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four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five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floral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whorls.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monocotyledons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hand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characterised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single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cotyledonous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seeds,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parallel</a:t>
            </a:r>
            <a:r>
              <a:rPr dirty="0" sz="105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venation</a:t>
            </a:r>
            <a:r>
              <a:rPr dirty="0" sz="1050" spc="2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leaves,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trimerous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flowers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having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three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members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floral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whorls.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organ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flower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stamen.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stamen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consists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slender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filament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anther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tip.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Within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anthers,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pollen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mother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divide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meiosis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microspores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matures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grains.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organ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flower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pistil.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Pistil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consists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swollen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ovary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at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its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base,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long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slender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style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stigma.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Inside</a:t>
            </a:r>
            <a:r>
              <a:rPr dirty="0" sz="1050" spc="3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ovary,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present.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Generally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ovule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has</a:t>
            </a:r>
            <a:r>
              <a:rPr dirty="0" sz="1050" spc="3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megaspore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mother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undergoes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meiosis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four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haploid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megaspores.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Three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them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degenerate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divide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to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embryo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sac.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embryo-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sac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has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three-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celled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 b="1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 b="1">
                <a:solidFill>
                  <a:srgbClr val="231F1F"/>
                </a:solidFill>
                <a:latin typeface="Calibri"/>
                <a:cs typeface="Calibri"/>
              </a:rPr>
              <a:t>apparatus</a:t>
            </a:r>
            <a:r>
              <a:rPr dirty="0" sz="1050" spc="7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4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 b="1">
                <a:solidFill>
                  <a:srgbClr val="231F1F"/>
                </a:solidFill>
                <a:latin typeface="Calibri"/>
                <a:cs typeface="Calibri"/>
              </a:rPr>
              <a:t>cell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synergids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three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b="1">
                <a:solidFill>
                  <a:srgbClr val="231F1F"/>
                </a:solidFill>
                <a:latin typeface="Calibri"/>
                <a:cs typeface="Calibri"/>
              </a:rPr>
              <a:t>antipodal</a:t>
            </a:r>
            <a:r>
              <a:rPr dirty="0" sz="1050" spc="3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cells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polar</a:t>
            </a:r>
            <a:r>
              <a:rPr dirty="0" sz="1050" spc="5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nuclei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polar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66308" y="8901162"/>
            <a:ext cx="1708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608323" y="8916403"/>
            <a:ext cx="173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3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721355" y="9074645"/>
            <a:ext cx="39700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950" spc="32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3.5</a:t>
            </a:r>
            <a:r>
              <a:rPr dirty="0" sz="950" spc="49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5">
                <a:solidFill>
                  <a:srgbClr val="231F1F"/>
                </a:solidFill>
                <a:latin typeface="Calibri"/>
                <a:cs typeface="Calibri"/>
              </a:rPr>
              <a:t>Angiosperms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1F"/>
                </a:solidFill>
                <a:latin typeface="Calibri"/>
                <a:cs typeface="Calibri"/>
              </a:rPr>
              <a:t>: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dicotyledon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9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231F1F"/>
                </a:solidFill>
                <a:latin typeface="Calibri"/>
                <a:cs typeface="Calibri"/>
              </a:rPr>
              <a:t>monocotyledon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6568440"/>
            <a:ext cx="1562099" cy="228663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2700" y="6553200"/>
            <a:ext cx="1386199" cy="2301873"/>
          </a:xfrm>
          <a:prstGeom prst="rect">
            <a:avLst/>
          </a:prstGeom>
        </p:spPr>
      </p:pic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41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998061" y="4482227"/>
            <a:ext cx="5564505" cy="4390390"/>
            <a:chOff x="998061" y="4482227"/>
            <a:chExt cx="5564505" cy="4390390"/>
          </a:xfrm>
        </p:grpSpPr>
        <p:sp>
          <p:nvSpPr>
            <p:cNvPr id="14" name="object 14" descr=""/>
            <p:cNvSpPr/>
            <p:nvPr/>
          </p:nvSpPr>
          <p:spPr>
            <a:xfrm>
              <a:off x="3110875" y="5622489"/>
              <a:ext cx="2299970" cy="2958465"/>
            </a:xfrm>
            <a:custGeom>
              <a:avLst/>
              <a:gdLst/>
              <a:ahLst/>
              <a:cxnLst/>
              <a:rect l="l" t="t" r="r" b="b"/>
              <a:pathLst>
                <a:path w="2299970" h="2958465">
                  <a:moveTo>
                    <a:pt x="1936739" y="0"/>
                  </a:moveTo>
                  <a:lnTo>
                    <a:pt x="1906450" y="33791"/>
                  </a:lnTo>
                  <a:lnTo>
                    <a:pt x="1872352" y="75223"/>
                  </a:lnTo>
                  <a:lnTo>
                    <a:pt x="1834651" y="123859"/>
                  </a:lnTo>
                  <a:lnTo>
                    <a:pt x="1793553" y="179264"/>
                  </a:lnTo>
                  <a:lnTo>
                    <a:pt x="1749263" y="241003"/>
                  </a:lnTo>
                  <a:lnTo>
                    <a:pt x="1725985" y="274111"/>
                  </a:lnTo>
                  <a:lnTo>
                    <a:pt x="1701986" y="308640"/>
                  </a:lnTo>
                  <a:lnTo>
                    <a:pt x="1677292" y="344535"/>
                  </a:lnTo>
                  <a:lnTo>
                    <a:pt x="1651929" y="381740"/>
                  </a:lnTo>
                  <a:lnTo>
                    <a:pt x="1625921" y="420203"/>
                  </a:lnTo>
                  <a:lnTo>
                    <a:pt x="1599296" y="459868"/>
                  </a:lnTo>
                  <a:lnTo>
                    <a:pt x="1572078" y="500682"/>
                  </a:lnTo>
                  <a:lnTo>
                    <a:pt x="1544293" y="542589"/>
                  </a:lnTo>
                  <a:lnTo>
                    <a:pt x="1515967" y="585535"/>
                  </a:lnTo>
                  <a:lnTo>
                    <a:pt x="1487125" y="629466"/>
                  </a:lnTo>
                  <a:lnTo>
                    <a:pt x="1457794" y="674327"/>
                  </a:lnTo>
                  <a:lnTo>
                    <a:pt x="1427998" y="720064"/>
                  </a:lnTo>
                  <a:lnTo>
                    <a:pt x="1397765" y="766623"/>
                  </a:lnTo>
                  <a:lnTo>
                    <a:pt x="1367118" y="813949"/>
                  </a:lnTo>
                  <a:lnTo>
                    <a:pt x="1336085" y="861987"/>
                  </a:lnTo>
                  <a:lnTo>
                    <a:pt x="1304690" y="910684"/>
                  </a:lnTo>
                  <a:lnTo>
                    <a:pt x="1272960" y="959985"/>
                  </a:lnTo>
                  <a:lnTo>
                    <a:pt x="1240919" y="1009835"/>
                  </a:lnTo>
                  <a:lnTo>
                    <a:pt x="1208595" y="1060180"/>
                  </a:lnTo>
                  <a:lnTo>
                    <a:pt x="1176011" y="1110966"/>
                  </a:lnTo>
                  <a:lnTo>
                    <a:pt x="1043606" y="1317426"/>
                  </a:lnTo>
                  <a:lnTo>
                    <a:pt x="1010115" y="1369598"/>
                  </a:lnTo>
                  <a:lnTo>
                    <a:pt x="976520" y="1421885"/>
                  </a:lnTo>
                  <a:lnTo>
                    <a:pt x="942846" y="1474230"/>
                  </a:lnTo>
                  <a:lnTo>
                    <a:pt x="909118" y="1526582"/>
                  </a:lnTo>
                  <a:lnTo>
                    <a:pt x="875364" y="1578884"/>
                  </a:lnTo>
                  <a:lnTo>
                    <a:pt x="841607" y="1631082"/>
                  </a:lnTo>
                  <a:lnTo>
                    <a:pt x="807874" y="1683122"/>
                  </a:lnTo>
                  <a:lnTo>
                    <a:pt x="774192" y="1734950"/>
                  </a:lnTo>
                  <a:lnTo>
                    <a:pt x="740584" y="1786511"/>
                  </a:lnTo>
                  <a:lnTo>
                    <a:pt x="707077" y="1837750"/>
                  </a:lnTo>
                  <a:lnTo>
                    <a:pt x="673697" y="1888614"/>
                  </a:lnTo>
                  <a:lnTo>
                    <a:pt x="640470" y="1939048"/>
                  </a:lnTo>
                  <a:lnTo>
                    <a:pt x="607420" y="1988997"/>
                  </a:lnTo>
                  <a:lnTo>
                    <a:pt x="574575" y="2038407"/>
                  </a:lnTo>
                  <a:lnTo>
                    <a:pt x="541958" y="2087224"/>
                  </a:lnTo>
                  <a:lnTo>
                    <a:pt x="509597" y="2135392"/>
                  </a:lnTo>
                  <a:lnTo>
                    <a:pt x="477517" y="2182859"/>
                  </a:lnTo>
                  <a:lnTo>
                    <a:pt x="445743" y="2229569"/>
                  </a:lnTo>
                  <a:lnTo>
                    <a:pt x="414301" y="2275467"/>
                  </a:lnTo>
                  <a:lnTo>
                    <a:pt x="383217" y="2320501"/>
                  </a:lnTo>
                  <a:lnTo>
                    <a:pt x="352516" y="2364614"/>
                  </a:lnTo>
                  <a:lnTo>
                    <a:pt x="322225" y="2407753"/>
                  </a:lnTo>
                  <a:lnTo>
                    <a:pt x="292369" y="2449863"/>
                  </a:lnTo>
                  <a:lnTo>
                    <a:pt x="262973" y="2490889"/>
                  </a:lnTo>
                  <a:lnTo>
                    <a:pt x="234064" y="2530779"/>
                  </a:lnTo>
                  <a:lnTo>
                    <a:pt x="205666" y="2569476"/>
                  </a:lnTo>
                  <a:lnTo>
                    <a:pt x="177807" y="2606926"/>
                  </a:lnTo>
                  <a:lnTo>
                    <a:pt x="150510" y="2643076"/>
                  </a:lnTo>
                  <a:lnTo>
                    <a:pt x="123803" y="2677870"/>
                  </a:lnTo>
                  <a:lnTo>
                    <a:pt x="97710" y="2711255"/>
                  </a:lnTo>
                  <a:lnTo>
                    <a:pt x="72257" y="2743175"/>
                  </a:lnTo>
                  <a:lnTo>
                    <a:pt x="47471" y="2773577"/>
                  </a:lnTo>
                  <a:lnTo>
                    <a:pt x="0" y="2829607"/>
                  </a:lnTo>
                  <a:lnTo>
                    <a:pt x="38005" y="2850041"/>
                  </a:lnTo>
                  <a:lnTo>
                    <a:pt x="76316" y="2868603"/>
                  </a:lnTo>
                  <a:lnTo>
                    <a:pt x="114913" y="2885323"/>
                  </a:lnTo>
                  <a:lnTo>
                    <a:pt x="153774" y="2900232"/>
                  </a:lnTo>
                  <a:lnTo>
                    <a:pt x="192879" y="2913358"/>
                  </a:lnTo>
                  <a:lnTo>
                    <a:pt x="232207" y="2924732"/>
                  </a:lnTo>
                  <a:lnTo>
                    <a:pt x="271736" y="2934384"/>
                  </a:lnTo>
                  <a:lnTo>
                    <a:pt x="311448" y="2942342"/>
                  </a:lnTo>
                  <a:lnTo>
                    <a:pt x="351319" y="2948637"/>
                  </a:lnTo>
                  <a:lnTo>
                    <a:pt x="391330" y="2953299"/>
                  </a:lnTo>
                  <a:lnTo>
                    <a:pt x="431460" y="2956357"/>
                  </a:lnTo>
                  <a:lnTo>
                    <a:pt x="471688" y="2957842"/>
                  </a:lnTo>
                  <a:lnTo>
                    <a:pt x="511993" y="2957782"/>
                  </a:lnTo>
                  <a:lnTo>
                    <a:pt x="552355" y="2956208"/>
                  </a:lnTo>
                  <a:lnTo>
                    <a:pt x="592751" y="2953150"/>
                  </a:lnTo>
                  <a:lnTo>
                    <a:pt x="633163" y="2948637"/>
                  </a:lnTo>
                  <a:lnTo>
                    <a:pt x="673568" y="2942698"/>
                  </a:lnTo>
                  <a:lnTo>
                    <a:pt x="713946" y="2935365"/>
                  </a:lnTo>
                  <a:lnTo>
                    <a:pt x="754277" y="2926666"/>
                  </a:lnTo>
                  <a:lnTo>
                    <a:pt x="794538" y="2916632"/>
                  </a:lnTo>
                  <a:lnTo>
                    <a:pt x="834711" y="2905291"/>
                  </a:lnTo>
                  <a:lnTo>
                    <a:pt x="874772" y="2892674"/>
                  </a:lnTo>
                  <a:lnTo>
                    <a:pt x="914703" y="2878811"/>
                  </a:lnTo>
                  <a:lnTo>
                    <a:pt x="954482" y="2863731"/>
                  </a:lnTo>
                  <a:lnTo>
                    <a:pt x="994088" y="2847465"/>
                  </a:lnTo>
                  <a:lnTo>
                    <a:pt x="1033500" y="2830041"/>
                  </a:lnTo>
                  <a:lnTo>
                    <a:pt x="1072698" y="2811490"/>
                  </a:lnTo>
                  <a:lnTo>
                    <a:pt x="1111661" y="2791841"/>
                  </a:lnTo>
                  <a:lnTo>
                    <a:pt x="1150367" y="2771125"/>
                  </a:lnTo>
                  <a:lnTo>
                    <a:pt x="1188797" y="2749370"/>
                  </a:lnTo>
                  <a:lnTo>
                    <a:pt x="1226929" y="2726608"/>
                  </a:lnTo>
                  <a:lnTo>
                    <a:pt x="1264742" y="2702866"/>
                  </a:lnTo>
                  <a:lnTo>
                    <a:pt x="1302216" y="2678176"/>
                  </a:lnTo>
                  <a:lnTo>
                    <a:pt x="1339329" y="2652567"/>
                  </a:lnTo>
                  <a:lnTo>
                    <a:pt x="1376062" y="2626069"/>
                  </a:lnTo>
                  <a:lnTo>
                    <a:pt x="1412393" y="2598711"/>
                  </a:lnTo>
                  <a:lnTo>
                    <a:pt x="1448301" y="2570524"/>
                  </a:lnTo>
                  <a:lnTo>
                    <a:pt x="1483765" y="2541536"/>
                  </a:lnTo>
                  <a:lnTo>
                    <a:pt x="1518765" y="2511779"/>
                  </a:lnTo>
                  <a:lnTo>
                    <a:pt x="1553280" y="2481281"/>
                  </a:lnTo>
                  <a:lnTo>
                    <a:pt x="1587289" y="2450072"/>
                  </a:lnTo>
                  <a:lnTo>
                    <a:pt x="1620771" y="2418183"/>
                  </a:lnTo>
                  <a:lnTo>
                    <a:pt x="1653705" y="2385642"/>
                  </a:lnTo>
                  <a:lnTo>
                    <a:pt x="1686071" y="2352481"/>
                  </a:lnTo>
                  <a:lnTo>
                    <a:pt x="1717847" y="2318727"/>
                  </a:lnTo>
                  <a:lnTo>
                    <a:pt x="1749014" y="2284412"/>
                  </a:lnTo>
                  <a:lnTo>
                    <a:pt x="1779549" y="2249565"/>
                  </a:lnTo>
                  <a:lnTo>
                    <a:pt x="1809433" y="2214215"/>
                  </a:lnTo>
                  <a:lnTo>
                    <a:pt x="1838644" y="2178393"/>
                  </a:lnTo>
                  <a:lnTo>
                    <a:pt x="1867161" y="2142128"/>
                  </a:lnTo>
                  <a:lnTo>
                    <a:pt x="1894964" y="2105451"/>
                  </a:lnTo>
                  <a:lnTo>
                    <a:pt x="1922032" y="2068390"/>
                  </a:lnTo>
                  <a:lnTo>
                    <a:pt x="1948345" y="2030975"/>
                  </a:lnTo>
                  <a:lnTo>
                    <a:pt x="1973880" y="1993237"/>
                  </a:lnTo>
                  <a:lnTo>
                    <a:pt x="1998618" y="1955205"/>
                  </a:lnTo>
                  <a:lnTo>
                    <a:pt x="2022537" y="1916909"/>
                  </a:lnTo>
                  <a:lnTo>
                    <a:pt x="2045617" y="1878379"/>
                  </a:lnTo>
                  <a:lnTo>
                    <a:pt x="2067837" y="1839644"/>
                  </a:lnTo>
                  <a:lnTo>
                    <a:pt x="2089177" y="1800734"/>
                  </a:lnTo>
                  <a:lnTo>
                    <a:pt x="2109614" y="1761679"/>
                  </a:lnTo>
                  <a:lnTo>
                    <a:pt x="2129129" y="1722508"/>
                  </a:lnTo>
                  <a:lnTo>
                    <a:pt x="2147701" y="1683252"/>
                  </a:lnTo>
                  <a:lnTo>
                    <a:pt x="2165308" y="1643941"/>
                  </a:lnTo>
                  <a:lnTo>
                    <a:pt x="2181930" y="1604603"/>
                  </a:lnTo>
                  <a:lnTo>
                    <a:pt x="2197547" y="1565269"/>
                  </a:lnTo>
                  <a:lnTo>
                    <a:pt x="2212137" y="1525969"/>
                  </a:lnTo>
                  <a:lnTo>
                    <a:pt x="2225679" y="1486731"/>
                  </a:lnTo>
                  <a:lnTo>
                    <a:pt x="2238153" y="1447587"/>
                  </a:lnTo>
                  <a:lnTo>
                    <a:pt x="2249538" y="1408566"/>
                  </a:lnTo>
                  <a:lnTo>
                    <a:pt x="2259812" y="1369697"/>
                  </a:lnTo>
                  <a:lnTo>
                    <a:pt x="2268956" y="1331011"/>
                  </a:lnTo>
                  <a:lnTo>
                    <a:pt x="2276949" y="1292536"/>
                  </a:lnTo>
                  <a:lnTo>
                    <a:pt x="2283769" y="1254304"/>
                  </a:lnTo>
                  <a:lnTo>
                    <a:pt x="2289395" y="1216343"/>
                  </a:lnTo>
                  <a:lnTo>
                    <a:pt x="2296986" y="1141355"/>
                  </a:lnTo>
                  <a:lnTo>
                    <a:pt x="2299553" y="1067811"/>
                  </a:lnTo>
                  <a:lnTo>
                    <a:pt x="2298790" y="1015841"/>
                  </a:lnTo>
                  <a:lnTo>
                    <a:pt x="2296516" y="964232"/>
                  </a:lnTo>
                  <a:lnTo>
                    <a:pt x="2292752" y="913003"/>
                  </a:lnTo>
                  <a:lnTo>
                    <a:pt x="2287518" y="862175"/>
                  </a:lnTo>
                  <a:lnTo>
                    <a:pt x="2280836" y="811769"/>
                  </a:lnTo>
                  <a:lnTo>
                    <a:pt x="2272726" y="761806"/>
                  </a:lnTo>
                  <a:lnTo>
                    <a:pt x="2263209" y="712305"/>
                  </a:lnTo>
                  <a:lnTo>
                    <a:pt x="2252307" y="663287"/>
                  </a:lnTo>
                  <a:lnTo>
                    <a:pt x="2240041" y="614774"/>
                  </a:lnTo>
                  <a:lnTo>
                    <a:pt x="2226430" y="566785"/>
                  </a:lnTo>
                  <a:lnTo>
                    <a:pt x="2211497" y="519341"/>
                  </a:lnTo>
                  <a:lnTo>
                    <a:pt x="2195261" y="472463"/>
                  </a:lnTo>
                  <a:lnTo>
                    <a:pt x="2177745" y="426170"/>
                  </a:lnTo>
                  <a:lnTo>
                    <a:pt x="2158969" y="380485"/>
                  </a:lnTo>
                  <a:lnTo>
                    <a:pt x="2138954" y="335426"/>
                  </a:lnTo>
                  <a:lnTo>
                    <a:pt x="2117720" y="291015"/>
                  </a:lnTo>
                  <a:lnTo>
                    <a:pt x="2095290" y="247273"/>
                  </a:lnTo>
                  <a:lnTo>
                    <a:pt x="2071683" y="204219"/>
                  </a:lnTo>
                  <a:lnTo>
                    <a:pt x="2046921" y="161874"/>
                  </a:lnTo>
                  <a:lnTo>
                    <a:pt x="2021025" y="120259"/>
                  </a:lnTo>
                  <a:lnTo>
                    <a:pt x="1994015" y="79395"/>
                  </a:lnTo>
                  <a:lnTo>
                    <a:pt x="1965913" y="39301"/>
                  </a:lnTo>
                  <a:lnTo>
                    <a:pt x="1936739" y="0"/>
                  </a:lnTo>
                  <a:close/>
                </a:path>
              </a:pathLst>
            </a:custGeom>
            <a:solidFill>
              <a:srgbClr val="FFF8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20078" y="4925833"/>
              <a:ext cx="3365500" cy="3592829"/>
            </a:xfrm>
            <a:custGeom>
              <a:avLst/>
              <a:gdLst/>
              <a:ahLst/>
              <a:cxnLst/>
              <a:rect l="l" t="t" r="r" b="b"/>
              <a:pathLst>
                <a:path w="3365500" h="3592829">
                  <a:moveTo>
                    <a:pt x="1851804" y="0"/>
                  </a:moveTo>
                  <a:lnTo>
                    <a:pt x="1803934" y="613"/>
                  </a:lnTo>
                  <a:lnTo>
                    <a:pt x="1756403" y="2445"/>
                  </a:lnTo>
                  <a:lnTo>
                    <a:pt x="1709224" y="5480"/>
                  </a:lnTo>
                  <a:lnTo>
                    <a:pt x="1662409" y="9703"/>
                  </a:lnTo>
                  <a:lnTo>
                    <a:pt x="1615971" y="15100"/>
                  </a:lnTo>
                  <a:lnTo>
                    <a:pt x="1569923" y="21654"/>
                  </a:lnTo>
                  <a:lnTo>
                    <a:pt x="1524277" y="29353"/>
                  </a:lnTo>
                  <a:lnTo>
                    <a:pt x="1479047" y="38179"/>
                  </a:lnTo>
                  <a:lnTo>
                    <a:pt x="1434244" y="48120"/>
                  </a:lnTo>
                  <a:lnTo>
                    <a:pt x="1389881" y="59159"/>
                  </a:lnTo>
                  <a:lnTo>
                    <a:pt x="1345972" y="71283"/>
                  </a:lnTo>
                  <a:lnTo>
                    <a:pt x="1302529" y="84475"/>
                  </a:lnTo>
                  <a:lnTo>
                    <a:pt x="1259565" y="98722"/>
                  </a:lnTo>
                  <a:lnTo>
                    <a:pt x="1217092" y="114008"/>
                  </a:lnTo>
                  <a:lnTo>
                    <a:pt x="1175122" y="130319"/>
                  </a:lnTo>
                  <a:lnTo>
                    <a:pt x="1133670" y="147639"/>
                  </a:lnTo>
                  <a:lnTo>
                    <a:pt x="1092747" y="165953"/>
                  </a:lnTo>
                  <a:lnTo>
                    <a:pt x="1052366" y="185248"/>
                  </a:lnTo>
                  <a:lnTo>
                    <a:pt x="1012540" y="205507"/>
                  </a:lnTo>
                  <a:lnTo>
                    <a:pt x="973282" y="226717"/>
                  </a:lnTo>
                  <a:lnTo>
                    <a:pt x="934604" y="248861"/>
                  </a:lnTo>
                  <a:lnTo>
                    <a:pt x="896518" y="271926"/>
                  </a:lnTo>
                  <a:lnTo>
                    <a:pt x="859039" y="295896"/>
                  </a:lnTo>
                  <a:lnTo>
                    <a:pt x="822177" y="320757"/>
                  </a:lnTo>
                  <a:lnTo>
                    <a:pt x="785947" y="346493"/>
                  </a:lnTo>
                  <a:lnTo>
                    <a:pt x="750361" y="373090"/>
                  </a:lnTo>
                  <a:lnTo>
                    <a:pt x="715431" y="400533"/>
                  </a:lnTo>
                  <a:lnTo>
                    <a:pt x="681170" y="428807"/>
                  </a:lnTo>
                  <a:lnTo>
                    <a:pt x="647591" y="457897"/>
                  </a:lnTo>
                  <a:lnTo>
                    <a:pt x="614706" y="487788"/>
                  </a:lnTo>
                  <a:lnTo>
                    <a:pt x="582529" y="518465"/>
                  </a:lnTo>
                  <a:lnTo>
                    <a:pt x="551072" y="549914"/>
                  </a:lnTo>
                  <a:lnTo>
                    <a:pt x="520347" y="582119"/>
                  </a:lnTo>
                  <a:lnTo>
                    <a:pt x="490368" y="615066"/>
                  </a:lnTo>
                  <a:lnTo>
                    <a:pt x="461146" y="648740"/>
                  </a:lnTo>
                  <a:lnTo>
                    <a:pt x="432696" y="683126"/>
                  </a:lnTo>
                  <a:lnTo>
                    <a:pt x="405029" y="718208"/>
                  </a:lnTo>
                  <a:lnTo>
                    <a:pt x="378158" y="753973"/>
                  </a:lnTo>
                  <a:lnTo>
                    <a:pt x="352096" y="790405"/>
                  </a:lnTo>
                  <a:lnTo>
                    <a:pt x="326855" y="827489"/>
                  </a:lnTo>
                  <a:lnTo>
                    <a:pt x="302449" y="865211"/>
                  </a:lnTo>
                  <a:lnTo>
                    <a:pt x="278890" y="903555"/>
                  </a:lnTo>
                  <a:lnTo>
                    <a:pt x="256190" y="942507"/>
                  </a:lnTo>
                  <a:lnTo>
                    <a:pt x="234363" y="982052"/>
                  </a:lnTo>
                  <a:lnTo>
                    <a:pt x="213421" y="1022175"/>
                  </a:lnTo>
                  <a:lnTo>
                    <a:pt x="193377" y="1062861"/>
                  </a:lnTo>
                  <a:lnTo>
                    <a:pt x="174243" y="1104095"/>
                  </a:lnTo>
                  <a:lnTo>
                    <a:pt x="156032" y="1145862"/>
                  </a:lnTo>
                  <a:lnTo>
                    <a:pt x="138757" y="1188148"/>
                  </a:lnTo>
                  <a:lnTo>
                    <a:pt x="122430" y="1230937"/>
                  </a:lnTo>
                  <a:lnTo>
                    <a:pt x="107065" y="1274215"/>
                  </a:lnTo>
                  <a:lnTo>
                    <a:pt x="92674" y="1317966"/>
                  </a:lnTo>
                  <a:lnTo>
                    <a:pt x="79270" y="1362177"/>
                  </a:lnTo>
                  <a:lnTo>
                    <a:pt x="66865" y="1406831"/>
                  </a:lnTo>
                  <a:lnTo>
                    <a:pt x="55472" y="1451914"/>
                  </a:lnTo>
                  <a:lnTo>
                    <a:pt x="45103" y="1497412"/>
                  </a:lnTo>
                  <a:lnTo>
                    <a:pt x="35773" y="1543309"/>
                  </a:lnTo>
                  <a:lnTo>
                    <a:pt x="27492" y="1589591"/>
                  </a:lnTo>
                  <a:lnTo>
                    <a:pt x="20274" y="1636242"/>
                  </a:lnTo>
                  <a:lnTo>
                    <a:pt x="14132" y="1683247"/>
                  </a:lnTo>
                  <a:lnTo>
                    <a:pt x="9078" y="1730593"/>
                  </a:lnTo>
                  <a:lnTo>
                    <a:pt x="5125" y="1778263"/>
                  </a:lnTo>
                  <a:lnTo>
                    <a:pt x="2286" y="1826244"/>
                  </a:lnTo>
                  <a:lnTo>
                    <a:pt x="573" y="1874519"/>
                  </a:lnTo>
                  <a:lnTo>
                    <a:pt x="0" y="1923075"/>
                  </a:lnTo>
                  <a:lnTo>
                    <a:pt x="1102" y="1966773"/>
                  </a:lnTo>
                  <a:lnTo>
                    <a:pt x="4369" y="2010288"/>
                  </a:lnTo>
                  <a:lnTo>
                    <a:pt x="9737" y="2053607"/>
                  </a:lnTo>
                  <a:lnTo>
                    <a:pt x="17143" y="2096717"/>
                  </a:lnTo>
                  <a:lnTo>
                    <a:pt x="26525" y="2139606"/>
                  </a:lnTo>
                  <a:lnTo>
                    <a:pt x="37821" y="2182261"/>
                  </a:lnTo>
                  <a:lnTo>
                    <a:pt x="50968" y="2224668"/>
                  </a:lnTo>
                  <a:lnTo>
                    <a:pt x="65903" y="2266816"/>
                  </a:lnTo>
                  <a:lnTo>
                    <a:pt x="82564" y="2308691"/>
                  </a:lnTo>
                  <a:lnTo>
                    <a:pt x="100888" y="2350280"/>
                  </a:lnTo>
                  <a:lnTo>
                    <a:pt x="120812" y="2391571"/>
                  </a:lnTo>
                  <a:lnTo>
                    <a:pt x="142274" y="2432552"/>
                  </a:lnTo>
                  <a:lnTo>
                    <a:pt x="165212" y="2473208"/>
                  </a:lnTo>
                  <a:lnTo>
                    <a:pt x="189562" y="2513528"/>
                  </a:lnTo>
                  <a:lnTo>
                    <a:pt x="215263" y="2553499"/>
                  </a:lnTo>
                  <a:lnTo>
                    <a:pt x="242251" y="2593107"/>
                  </a:lnTo>
                  <a:lnTo>
                    <a:pt x="270464" y="2632340"/>
                  </a:lnTo>
                  <a:lnTo>
                    <a:pt x="299839" y="2671186"/>
                  </a:lnTo>
                  <a:lnTo>
                    <a:pt x="330315" y="2709631"/>
                  </a:lnTo>
                  <a:lnTo>
                    <a:pt x="361828" y="2747662"/>
                  </a:lnTo>
                  <a:lnTo>
                    <a:pt x="394315" y="2785268"/>
                  </a:lnTo>
                  <a:lnTo>
                    <a:pt x="427714" y="2822434"/>
                  </a:lnTo>
                  <a:lnTo>
                    <a:pt x="461963" y="2859149"/>
                  </a:lnTo>
                  <a:lnTo>
                    <a:pt x="496999" y="2895399"/>
                  </a:lnTo>
                  <a:lnTo>
                    <a:pt x="532759" y="2931172"/>
                  </a:lnTo>
                  <a:lnTo>
                    <a:pt x="569181" y="2966455"/>
                  </a:lnTo>
                  <a:lnTo>
                    <a:pt x="606202" y="3001235"/>
                  </a:lnTo>
                  <a:lnTo>
                    <a:pt x="643759" y="3035500"/>
                  </a:lnTo>
                  <a:lnTo>
                    <a:pt x="681791" y="3069236"/>
                  </a:lnTo>
                  <a:lnTo>
                    <a:pt x="720234" y="3102430"/>
                  </a:lnTo>
                  <a:lnTo>
                    <a:pt x="759025" y="3135071"/>
                  </a:lnTo>
                  <a:lnTo>
                    <a:pt x="798103" y="3167144"/>
                  </a:lnTo>
                  <a:lnTo>
                    <a:pt x="837405" y="3198638"/>
                  </a:lnTo>
                  <a:lnTo>
                    <a:pt x="876867" y="3229540"/>
                  </a:lnTo>
                  <a:lnTo>
                    <a:pt x="916428" y="3259836"/>
                  </a:lnTo>
                  <a:lnTo>
                    <a:pt x="956025" y="3289515"/>
                  </a:lnTo>
                  <a:lnTo>
                    <a:pt x="995595" y="3318562"/>
                  </a:lnTo>
                  <a:lnTo>
                    <a:pt x="1035076" y="3346966"/>
                  </a:lnTo>
                  <a:lnTo>
                    <a:pt x="1074405" y="3374714"/>
                  </a:lnTo>
                  <a:lnTo>
                    <a:pt x="1113520" y="3401792"/>
                  </a:lnTo>
                  <a:lnTo>
                    <a:pt x="1152357" y="3428189"/>
                  </a:lnTo>
                  <a:lnTo>
                    <a:pt x="1190855" y="3453891"/>
                  </a:lnTo>
                  <a:lnTo>
                    <a:pt x="1228950" y="3478885"/>
                  </a:lnTo>
                  <a:lnTo>
                    <a:pt x="1266581" y="3503159"/>
                  </a:lnTo>
                  <a:lnTo>
                    <a:pt x="1303685" y="3526699"/>
                  </a:lnTo>
                  <a:lnTo>
                    <a:pt x="1340198" y="3549494"/>
                  </a:lnTo>
                  <a:lnTo>
                    <a:pt x="1376059" y="3571530"/>
                  </a:lnTo>
                  <a:lnTo>
                    <a:pt x="1411204" y="3592795"/>
                  </a:lnTo>
                  <a:lnTo>
                    <a:pt x="1419588" y="3584061"/>
                  </a:lnTo>
                  <a:lnTo>
                    <a:pt x="1453564" y="3542748"/>
                  </a:lnTo>
                  <a:lnTo>
                    <a:pt x="1483162" y="3503335"/>
                  </a:lnTo>
                  <a:lnTo>
                    <a:pt x="1517942" y="3455098"/>
                  </a:lnTo>
                  <a:lnTo>
                    <a:pt x="1557578" y="3398616"/>
                  </a:lnTo>
                  <a:lnTo>
                    <a:pt x="1601748" y="3334466"/>
                  </a:lnTo>
                  <a:lnTo>
                    <a:pt x="1625432" y="3299696"/>
                  </a:lnTo>
                  <a:lnTo>
                    <a:pt x="1650128" y="3263225"/>
                  </a:lnTo>
                  <a:lnTo>
                    <a:pt x="1675796" y="3225127"/>
                  </a:lnTo>
                  <a:lnTo>
                    <a:pt x="1702395" y="3185473"/>
                  </a:lnTo>
                  <a:lnTo>
                    <a:pt x="1729884" y="3144335"/>
                  </a:lnTo>
                  <a:lnTo>
                    <a:pt x="1758224" y="3101785"/>
                  </a:lnTo>
                  <a:lnTo>
                    <a:pt x="1787373" y="3057896"/>
                  </a:lnTo>
                  <a:lnTo>
                    <a:pt x="1817292" y="3012741"/>
                  </a:lnTo>
                  <a:lnTo>
                    <a:pt x="1847940" y="2966390"/>
                  </a:lnTo>
                  <a:lnTo>
                    <a:pt x="1879276" y="2918917"/>
                  </a:lnTo>
                  <a:lnTo>
                    <a:pt x="1911260" y="2870393"/>
                  </a:lnTo>
                  <a:lnTo>
                    <a:pt x="1943851" y="2820892"/>
                  </a:lnTo>
                  <a:lnTo>
                    <a:pt x="1977010" y="2770484"/>
                  </a:lnTo>
                  <a:lnTo>
                    <a:pt x="2010695" y="2719242"/>
                  </a:lnTo>
                  <a:lnTo>
                    <a:pt x="2114505" y="2561238"/>
                  </a:lnTo>
                  <a:lnTo>
                    <a:pt x="2185603" y="2453056"/>
                  </a:lnTo>
                  <a:lnTo>
                    <a:pt x="2221598" y="2398329"/>
                  </a:lnTo>
                  <a:lnTo>
                    <a:pt x="2257836" y="2343273"/>
                  </a:lnTo>
                  <a:lnTo>
                    <a:pt x="2294278" y="2287961"/>
                  </a:lnTo>
                  <a:lnTo>
                    <a:pt x="2330881" y="2232466"/>
                  </a:lnTo>
                  <a:lnTo>
                    <a:pt x="2367607" y="2176859"/>
                  </a:lnTo>
                  <a:lnTo>
                    <a:pt x="2404415" y="2121212"/>
                  </a:lnTo>
                  <a:lnTo>
                    <a:pt x="2441263" y="2065598"/>
                  </a:lnTo>
                  <a:lnTo>
                    <a:pt x="2478112" y="2010089"/>
                  </a:lnTo>
                  <a:lnTo>
                    <a:pt x="2514922" y="1954758"/>
                  </a:lnTo>
                  <a:lnTo>
                    <a:pt x="2551651" y="1899676"/>
                  </a:lnTo>
                  <a:lnTo>
                    <a:pt x="2588259" y="1844916"/>
                  </a:lnTo>
                  <a:lnTo>
                    <a:pt x="2624707" y="1790549"/>
                  </a:lnTo>
                  <a:lnTo>
                    <a:pt x="2660952" y="1736649"/>
                  </a:lnTo>
                  <a:lnTo>
                    <a:pt x="2696956" y="1683287"/>
                  </a:lnTo>
                  <a:lnTo>
                    <a:pt x="2732677" y="1630535"/>
                  </a:lnTo>
                  <a:lnTo>
                    <a:pt x="2768075" y="1578466"/>
                  </a:lnTo>
                  <a:lnTo>
                    <a:pt x="2803110" y="1527152"/>
                  </a:lnTo>
                  <a:lnTo>
                    <a:pt x="2837741" y="1476666"/>
                  </a:lnTo>
                  <a:lnTo>
                    <a:pt x="2871927" y="1427079"/>
                  </a:lnTo>
                  <a:lnTo>
                    <a:pt x="2905629" y="1378463"/>
                  </a:lnTo>
                  <a:lnTo>
                    <a:pt x="2938805" y="1330891"/>
                  </a:lnTo>
                  <a:lnTo>
                    <a:pt x="2971416" y="1284435"/>
                  </a:lnTo>
                  <a:lnTo>
                    <a:pt x="3003420" y="1239168"/>
                  </a:lnTo>
                  <a:lnTo>
                    <a:pt x="3034778" y="1195160"/>
                  </a:lnTo>
                  <a:lnTo>
                    <a:pt x="3065449" y="1152486"/>
                  </a:lnTo>
                  <a:lnTo>
                    <a:pt x="3095393" y="1111216"/>
                  </a:lnTo>
                  <a:lnTo>
                    <a:pt x="3124568" y="1071424"/>
                  </a:lnTo>
                  <a:lnTo>
                    <a:pt x="3152935" y="1033181"/>
                  </a:lnTo>
                  <a:lnTo>
                    <a:pt x="3180453" y="996559"/>
                  </a:lnTo>
                  <a:lnTo>
                    <a:pt x="3207082" y="961631"/>
                  </a:lnTo>
                  <a:lnTo>
                    <a:pt x="3232781" y="928469"/>
                  </a:lnTo>
                  <a:lnTo>
                    <a:pt x="3257509" y="897146"/>
                  </a:lnTo>
                  <a:lnTo>
                    <a:pt x="3303894" y="840301"/>
                  </a:lnTo>
                  <a:lnTo>
                    <a:pt x="3345912" y="791676"/>
                  </a:lnTo>
                  <a:lnTo>
                    <a:pt x="3365183" y="770627"/>
                  </a:lnTo>
                  <a:lnTo>
                    <a:pt x="3335950" y="732068"/>
                  </a:lnTo>
                  <a:lnTo>
                    <a:pt x="3305784" y="694287"/>
                  </a:lnTo>
                  <a:lnTo>
                    <a:pt x="3274705" y="657301"/>
                  </a:lnTo>
                  <a:lnTo>
                    <a:pt x="3242728" y="621127"/>
                  </a:lnTo>
                  <a:lnTo>
                    <a:pt x="3209873" y="585784"/>
                  </a:lnTo>
                  <a:lnTo>
                    <a:pt x="3176156" y="551290"/>
                  </a:lnTo>
                  <a:lnTo>
                    <a:pt x="3141595" y="517662"/>
                  </a:lnTo>
                  <a:lnTo>
                    <a:pt x="3106209" y="484919"/>
                  </a:lnTo>
                  <a:lnTo>
                    <a:pt x="3070014" y="453079"/>
                  </a:lnTo>
                  <a:lnTo>
                    <a:pt x="3033028" y="422158"/>
                  </a:lnTo>
                  <a:lnTo>
                    <a:pt x="2995269" y="392176"/>
                  </a:lnTo>
                  <a:lnTo>
                    <a:pt x="2956755" y="363150"/>
                  </a:lnTo>
                  <a:lnTo>
                    <a:pt x="2917504" y="335099"/>
                  </a:lnTo>
                  <a:lnTo>
                    <a:pt x="2877532" y="308039"/>
                  </a:lnTo>
                  <a:lnTo>
                    <a:pt x="2836859" y="281989"/>
                  </a:lnTo>
                  <a:lnTo>
                    <a:pt x="2795500" y="256968"/>
                  </a:lnTo>
                  <a:lnTo>
                    <a:pt x="2753475" y="232992"/>
                  </a:lnTo>
                  <a:lnTo>
                    <a:pt x="2710801" y="210080"/>
                  </a:lnTo>
                  <a:lnTo>
                    <a:pt x="2667495" y="188249"/>
                  </a:lnTo>
                  <a:lnTo>
                    <a:pt x="2623575" y="167518"/>
                  </a:lnTo>
                  <a:lnTo>
                    <a:pt x="2579059" y="147905"/>
                  </a:lnTo>
                  <a:lnTo>
                    <a:pt x="2533964" y="129427"/>
                  </a:lnTo>
                  <a:lnTo>
                    <a:pt x="2488309" y="112103"/>
                  </a:lnTo>
                  <a:lnTo>
                    <a:pt x="2442111" y="95950"/>
                  </a:lnTo>
                  <a:lnTo>
                    <a:pt x="2395387" y="80986"/>
                  </a:lnTo>
                  <a:lnTo>
                    <a:pt x="2348156" y="67229"/>
                  </a:lnTo>
                  <a:lnTo>
                    <a:pt x="2300434" y="54697"/>
                  </a:lnTo>
                  <a:lnTo>
                    <a:pt x="2252240" y="43409"/>
                  </a:lnTo>
                  <a:lnTo>
                    <a:pt x="2203591" y="33381"/>
                  </a:lnTo>
                  <a:lnTo>
                    <a:pt x="2154506" y="24632"/>
                  </a:lnTo>
                  <a:lnTo>
                    <a:pt x="2105001" y="17180"/>
                  </a:lnTo>
                  <a:lnTo>
                    <a:pt x="2055094" y="11043"/>
                  </a:lnTo>
                  <a:lnTo>
                    <a:pt x="2004803" y="6238"/>
                  </a:lnTo>
                  <a:lnTo>
                    <a:pt x="1954146" y="2784"/>
                  </a:lnTo>
                  <a:lnTo>
                    <a:pt x="1903141" y="699"/>
                  </a:lnTo>
                  <a:lnTo>
                    <a:pt x="1851804" y="0"/>
                  </a:lnTo>
                  <a:close/>
                </a:path>
              </a:pathLst>
            </a:custGeom>
            <a:solidFill>
              <a:srgbClr val="FFF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231711" y="757254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EEED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7024" y="7194795"/>
              <a:ext cx="409227" cy="38151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2021" y="7176519"/>
              <a:ext cx="186682" cy="1899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6984" y="8254450"/>
              <a:ext cx="250655" cy="27198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3185" y="4776135"/>
              <a:ext cx="259772" cy="54925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4699041" y="7819951"/>
              <a:ext cx="293370" cy="331470"/>
            </a:xfrm>
            <a:custGeom>
              <a:avLst/>
              <a:gdLst/>
              <a:ahLst/>
              <a:cxnLst/>
              <a:rect l="l" t="t" r="r" b="b"/>
              <a:pathLst>
                <a:path w="293370" h="331470">
                  <a:moveTo>
                    <a:pt x="129274" y="0"/>
                  </a:moveTo>
                  <a:lnTo>
                    <a:pt x="95181" y="9656"/>
                  </a:lnTo>
                  <a:lnTo>
                    <a:pt x="66029" y="32969"/>
                  </a:lnTo>
                  <a:lnTo>
                    <a:pt x="44411" y="71308"/>
                  </a:lnTo>
                  <a:lnTo>
                    <a:pt x="36977" y="113559"/>
                  </a:lnTo>
                  <a:lnTo>
                    <a:pt x="28980" y="155277"/>
                  </a:lnTo>
                  <a:lnTo>
                    <a:pt x="18266" y="195413"/>
                  </a:lnTo>
                  <a:lnTo>
                    <a:pt x="2678" y="232915"/>
                  </a:lnTo>
                  <a:lnTo>
                    <a:pt x="0" y="238052"/>
                  </a:lnTo>
                  <a:lnTo>
                    <a:pt x="16094" y="258041"/>
                  </a:lnTo>
                  <a:lnTo>
                    <a:pt x="149945" y="331095"/>
                  </a:lnTo>
                  <a:lnTo>
                    <a:pt x="189981" y="321367"/>
                  </a:lnTo>
                  <a:lnTo>
                    <a:pt x="225598" y="302197"/>
                  </a:lnTo>
                  <a:lnTo>
                    <a:pt x="255245" y="274841"/>
                  </a:lnTo>
                  <a:lnTo>
                    <a:pt x="277369" y="240554"/>
                  </a:lnTo>
                  <a:lnTo>
                    <a:pt x="290419" y="200589"/>
                  </a:lnTo>
                  <a:lnTo>
                    <a:pt x="292842" y="156203"/>
                  </a:lnTo>
                  <a:lnTo>
                    <a:pt x="283086" y="108649"/>
                  </a:lnTo>
                  <a:lnTo>
                    <a:pt x="263188" y="70560"/>
                  </a:lnTo>
                  <a:lnTo>
                    <a:pt x="235265" y="39280"/>
                  </a:lnTo>
                  <a:lnTo>
                    <a:pt x="201909" y="16181"/>
                  </a:lnTo>
                  <a:lnTo>
                    <a:pt x="165715" y="2631"/>
                  </a:lnTo>
                  <a:lnTo>
                    <a:pt x="129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287662" y="649582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EF8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493082" y="641539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2970" y="6224489"/>
              <a:ext cx="171433" cy="18973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6401" y="5965342"/>
              <a:ext cx="348253" cy="53119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625706" y="7869771"/>
              <a:ext cx="1325245" cy="774700"/>
            </a:xfrm>
            <a:custGeom>
              <a:avLst/>
              <a:gdLst/>
              <a:ahLst/>
              <a:cxnLst/>
              <a:rect l="l" t="t" r="r" b="b"/>
              <a:pathLst>
                <a:path w="1325245" h="774700">
                  <a:moveTo>
                    <a:pt x="1238973" y="0"/>
                  </a:moveTo>
                  <a:lnTo>
                    <a:pt x="1176429" y="13781"/>
                  </a:lnTo>
                  <a:lnTo>
                    <a:pt x="1133657" y="81769"/>
                  </a:lnTo>
                  <a:lnTo>
                    <a:pt x="1127559" y="138975"/>
                  </a:lnTo>
                  <a:lnTo>
                    <a:pt x="1123418" y="153961"/>
                  </a:lnTo>
                  <a:lnTo>
                    <a:pt x="1112502" y="164671"/>
                  </a:lnTo>
                  <a:lnTo>
                    <a:pt x="1097516" y="176346"/>
                  </a:lnTo>
                  <a:lnTo>
                    <a:pt x="1081165" y="194230"/>
                  </a:lnTo>
                  <a:lnTo>
                    <a:pt x="1042873" y="245230"/>
                  </a:lnTo>
                  <a:lnTo>
                    <a:pt x="1004850" y="290168"/>
                  </a:lnTo>
                  <a:lnTo>
                    <a:pt x="966945" y="329591"/>
                  </a:lnTo>
                  <a:lnTo>
                    <a:pt x="929005" y="364046"/>
                  </a:lnTo>
                  <a:lnTo>
                    <a:pt x="890878" y="394081"/>
                  </a:lnTo>
                  <a:lnTo>
                    <a:pt x="852412" y="420244"/>
                  </a:lnTo>
                  <a:lnTo>
                    <a:pt x="813455" y="443081"/>
                  </a:lnTo>
                  <a:lnTo>
                    <a:pt x="773854" y="463140"/>
                  </a:lnTo>
                  <a:lnTo>
                    <a:pt x="733457" y="480969"/>
                  </a:lnTo>
                  <a:lnTo>
                    <a:pt x="692112" y="497115"/>
                  </a:lnTo>
                  <a:lnTo>
                    <a:pt x="649667" y="512126"/>
                  </a:lnTo>
                  <a:lnTo>
                    <a:pt x="605970" y="526549"/>
                  </a:lnTo>
                  <a:lnTo>
                    <a:pt x="514210" y="555821"/>
                  </a:lnTo>
                  <a:lnTo>
                    <a:pt x="463085" y="578587"/>
                  </a:lnTo>
                  <a:lnTo>
                    <a:pt x="412532" y="599616"/>
                  </a:lnTo>
                  <a:lnTo>
                    <a:pt x="362429" y="618665"/>
                  </a:lnTo>
                  <a:lnTo>
                    <a:pt x="312658" y="635495"/>
                  </a:lnTo>
                  <a:lnTo>
                    <a:pt x="263096" y="649863"/>
                  </a:lnTo>
                  <a:lnTo>
                    <a:pt x="213624" y="661529"/>
                  </a:lnTo>
                  <a:lnTo>
                    <a:pt x="164121" y="670252"/>
                  </a:lnTo>
                  <a:lnTo>
                    <a:pt x="114467" y="675792"/>
                  </a:lnTo>
                  <a:lnTo>
                    <a:pt x="64540" y="677907"/>
                  </a:lnTo>
                  <a:lnTo>
                    <a:pt x="14220" y="676356"/>
                  </a:lnTo>
                  <a:lnTo>
                    <a:pt x="0" y="703471"/>
                  </a:lnTo>
                  <a:lnTo>
                    <a:pt x="19798" y="745549"/>
                  </a:lnTo>
                  <a:lnTo>
                    <a:pt x="103090" y="769770"/>
                  </a:lnTo>
                  <a:lnTo>
                    <a:pt x="168238" y="774564"/>
                  </a:lnTo>
                  <a:lnTo>
                    <a:pt x="214704" y="766899"/>
                  </a:lnTo>
                  <a:lnTo>
                    <a:pt x="261171" y="757531"/>
                  </a:lnTo>
                  <a:lnTo>
                    <a:pt x="307638" y="746512"/>
                  </a:lnTo>
                  <a:lnTo>
                    <a:pt x="354106" y="733892"/>
                  </a:lnTo>
                  <a:lnTo>
                    <a:pt x="400574" y="719720"/>
                  </a:lnTo>
                  <a:lnTo>
                    <a:pt x="447042" y="704048"/>
                  </a:lnTo>
                  <a:lnTo>
                    <a:pt x="493511" y="686925"/>
                  </a:lnTo>
                  <a:lnTo>
                    <a:pt x="539979" y="668401"/>
                  </a:lnTo>
                  <a:lnTo>
                    <a:pt x="586448" y="648527"/>
                  </a:lnTo>
                  <a:lnTo>
                    <a:pt x="632916" y="627353"/>
                  </a:lnTo>
                  <a:lnTo>
                    <a:pt x="679384" y="604929"/>
                  </a:lnTo>
                  <a:lnTo>
                    <a:pt x="732832" y="603194"/>
                  </a:lnTo>
                  <a:lnTo>
                    <a:pt x="782311" y="596499"/>
                  </a:lnTo>
                  <a:lnTo>
                    <a:pt x="827822" y="584842"/>
                  </a:lnTo>
                  <a:lnTo>
                    <a:pt x="869364" y="568225"/>
                  </a:lnTo>
                  <a:lnTo>
                    <a:pt x="906937" y="546647"/>
                  </a:lnTo>
                  <a:lnTo>
                    <a:pt x="940542" y="520107"/>
                  </a:lnTo>
                  <a:lnTo>
                    <a:pt x="981142" y="462663"/>
                  </a:lnTo>
                  <a:lnTo>
                    <a:pt x="1019077" y="412459"/>
                  </a:lnTo>
                  <a:lnTo>
                    <a:pt x="1054928" y="369700"/>
                  </a:lnTo>
                  <a:lnTo>
                    <a:pt x="1089277" y="334590"/>
                  </a:lnTo>
                  <a:lnTo>
                    <a:pt x="1122704" y="307332"/>
                  </a:lnTo>
                  <a:lnTo>
                    <a:pt x="1155791" y="288132"/>
                  </a:lnTo>
                  <a:lnTo>
                    <a:pt x="1223266" y="274717"/>
                  </a:lnTo>
                  <a:lnTo>
                    <a:pt x="1230293" y="270884"/>
                  </a:lnTo>
                  <a:lnTo>
                    <a:pt x="1234695" y="258594"/>
                  </a:lnTo>
                  <a:lnTo>
                    <a:pt x="1234033" y="243340"/>
                  </a:lnTo>
                  <a:lnTo>
                    <a:pt x="1225867" y="230618"/>
                  </a:lnTo>
                  <a:lnTo>
                    <a:pt x="1273096" y="218248"/>
                  </a:lnTo>
                  <a:lnTo>
                    <a:pt x="1304689" y="189492"/>
                  </a:lnTo>
                  <a:lnTo>
                    <a:pt x="1321716" y="150380"/>
                  </a:lnTo>
                  <a:lnTo>
                    <a:pt x="1325245" y="106940"/>
                  </a:lnTo>
                  <a:lnTo>
                    <a:pt x="1316348" y="65202"/>
                  </a:lnTo>
                  <a:lnTo>
                    <a:pt x="1296093" y="31195"/>
                  </a:lnTo>
                  <a:lnTo>
                    <a:pt x="1269786" y="10552"/>
                  </a:lnTo>
                  <a:lnTo>
                    <a:pt x="1238973" y="0"/>
                  </a:lnTo>
                  <a:close/>
                </a:path>
              </a:pathLst>
            </a:custGeom>
            <a:solidFill>
              <a:srgbClr val="FED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625714" y="7869770"/>
              <a:ext cx="1325245" cy="774700"/>
            </a:xfrm>
            <a:custGeom>
              <a:avLst/>
              <a:gdLst/>
              <a:ahLst/>
              <a:cxnLst/>
              <a:rect l="l" t="t" r="r" b="b"/>
              <a:pathLst>
                <a:path w="1325245" h="774700">
                  <a:moveTo>
                    <a:pt x="1127563" y="138974"/>
                  </a:moveTo>
                  <a:lnTo>
                    <a:pt x="1133662" y="81768"/>
                  </a:lnTo>
                  <a:lnTo>
                    <a:pt x="1151002" y="40422"/>
                  </a:lnTo>
                  <a:lnTo>
                    <a:pt x="1206809" y="691"/>
                  </a:lnTo>
                  <a:lnTo>
                    <a:pt x="1238977" y="0"/>
                  </a:lnTo>
                  <a:lnTo>
                    <a:pt x="1269788" y="10552"/>
                  </a:lnTo>
                  <a:lnTo>
                    <a:pt x="1296092" y="31195"/>
                  </a:lnTo>
                  <a:lnTo>
                    <a:pt x="1316348" y="65201"/>
                  </a:lnTo>
                  <a:lnTo>
                    <a:pt x="1325245" y="106939"/>
                  </a:lnTo>
                  <a:lnTo>
                    <a:pt x="1321716" y="150379"/>
                  </a:lnTo>
                  <a:lnTo>
                    <a:pt x="1304691" y="189491"/>
                  </a:lnTo>
                  <a:lnTo>
                    <a:pt x="1273099" y="218247"/>
                  </a:lnTo>
                  <a:lnTo>
                    <a:pt x="1225873" y="230616"/>
                  </a:lnTo>
                  <a:lnTo>
                    <a:pt x="1234035" y="243338"/>
                  </a:lnTo>
                  <a:lnTo>
                    <a:pt x="1234695" y="258592"/>
                  </a:lnTo>
                  <a:lnTo>
                    <a:pt x="1230291" y="270885"/>
                  </a:lnTo>
                  <a:lnTo>
                    <a:pt x="1223265" y="274722"/>
                  </a:lnTo>
                  <a:lnTo>
                    <a:pt x="1189117" y="277194"/>
                  </a:lnTo>
                  <a:lnTo>
                    <a:pt x="1155790" y="288132"/>
                  </a:lnTo>
                  <a:lnTo>
                    <a:pt x="1122704" y="307332"/>
                  </a:lnTo>
                  <a:lnTo>
                    <a:pt x="1089278" y="334589"/>
                  </a:lnTo>
                  <a:lnTo>
                    <a:pt x="1054930" y="369699"/>
                  </a:lnTo>
                  <a:lnTo>
                    <a:pt x="1019079" y="412459"/>
                  </a:lnTo>
                  <a:lnTo>
                    <a:pt x="981145" y="462664"/>
                  </a:lnTo>
                  <a:lnTo>
                    <a:pt x="940545" y="520110"/>
                  </a:lnTo>
                  <a:lnTo>
                    <a:pt x="906937" y="546649"/>
                  </a:lnTo>
                  <a:lnTo>
                    <a:pt x="869363" y="568227"/>
                  </a:lnTo>
                  <a:lnTo>
                    <a:pt x="827821" y="584845"/>
                  </a:lnTo>
                  <a:lnTo>
                    <a:pt x="782311" y="596501"/>
                  </a:lnTo>
                  <a:lnTo>
                    <a:pt x="732832" y="603196"/>
                  </a:lnTo>
                  <a:lnTo>
                    <a:pt x="679384" y="604931"/>
                  </a:lnTo>
                  <a:lnTo>
                    <a:pt x="632916" y="627353"/>
                  </a:lnTo>
                  <a:lnTo>
                    <a:pt x="586447" y="648526"/>
                  </a:lnTo>
                  <a:lnTo>
                    <a:pt x="539978" y="668400"/>
                  </a:lnTo>
                  <a:lnTo>
                    <a:pt x="493509" y="686923"/>
                  </a:lnTo>
                  <a:lnTo>
                    <a:pt x="447040" y="704046"/>
                  </a:lnTo>
                  <a:lnTo>
                    <a:pt x="400572" y="719719"/>
                  </a:lnTo>
                  <a:lnTo>
                    <a:pt x="354103" y="733891"/>
                  </a:lnTo>
                  <a:lnTo>
                    <a:pt x="307635" y="746512"/>
                  </a:lnTo>
                  <a:lnTo>
                    <a:pt x="261167" y="757532"/>
                  </a:lnTo>
                  <a:lnTo>
                    <a:pt x="214700" y="766899"/>
                  </a:lnTo>
                  <a:lnTo>
                    <a:pt x="168233" y="774565"/>
                  </a:lnTo>
                  <a:lnTo>
                    <a:pt x="103085" y="769771"/>
                  </a:lnTo>
                  <a:lnTo>
                    <a:pt x="53565" y="760017"/>
                  </a:lnTo>
                  <a:lnTo>
                    <a:pt x="19795" y="745550"/>
                  </a:lnTo>
                  <a:lnTo>
                    <a:pt x="1899" y="726619"/>
                  </a:lnTo>
                  <a:lnTo>
                    <a:pt x="0" y="703472"/>
                  </a:lnTo>
                  <a:lnTo>
                    <a:pt x="14221" y="676357"/>
                  </a:lnTo>
                  <a:lnTo>
                    <a:pt x="64541" y="677908"/>
                  </a:lnTo>
                  <a:lnTo>
                    <a:pt x="114468" y="675794"/>
                  </a:lnTo>
                  <a:lnTo>
                    <a:pt x="164122" y="670254"/>
                  </a:lnTo>
                  <a:lnTo>
                    <a:pt x="213624" y="661531"/>
                  </a:lnTo>
                  <a:lnTo>
                    <a:pt x="263096" y="649865"/>
                  </a:lnTo>
                  <a:lnTo>
                    <a:pt x="312657" y="635497"/>
                  </a:lnTo>
                  <a:lnTo>
                    <a:pt x="362428" y="618667"/>
                  </a:lnTo>
                  <a:lnTo>
                    <a:pt x="412530" y="599618"/>
                  </a:lnTo>
                  <a:lnTo>
                    <a:pt x="463083" y="578590"/>
                  </a:lnTo>
                  <a:lnTo>
                    <a:pt x="514209" y="555823"/>
                  </a:lnTo>
                  <a:lnTo>
                    <a:pt x="560868" y="540934"/>
                  </a:lnTo>
                  <a:lnTo>
                    <a:pt x="605970" y="526551"/>
                  </a:lnTo>
                  <a:lnTo>
                    <a:pt x="649667" y="512128"/>
                  </a:lnTo>
                  <a:lnTo>
                    <a:pt x="692112" y="497117"/>
                  </a:lnTo>
                  <a:lnTo>
                    <a:pt x="733457" y="480970"/>
                  </a:lnTo>
                  <a:lnTo>
                    <a:pt x="773854" y="463140"/>
                  </a:lnTo>
                  <a:lnTo>
                    <a:pt x="813455" y="443081"/>
                  </a:lnTo>
                  <a:lnTo>
                    <a:pt x="852413" y="420243"/>
                  </a:lnTo>
                  <a:lnTo>
                    <a:pt x="890879" y="394080"/>
                  </a:lnTo>
                  <a:lnTo>
                    <a:pt x="929005" y="364045"/>
                  </a:lnTo>
                  <a:lnTo>
                    <a:pt x="966945" y="329589"/>
                  </a:lnTo>
                  <a:lnTo>
                    <a:pt x="1004849" y="290166"/>
                  </a:lnTo>
                  <a:lnTo>
                    <a:pt x="1042871" y="245228"/>
                  </a:lnTo>
                  <a:lnTo>
                    <a:pt x="1081162" y="194228"/>
                  </a:lnTo>
                  <a:lnTo>
                    <a:pt x="1097518" y="176348"/>
                  </a:lnTo>
                  <a:lnTo>
                    <a:pt x="1112506" y="164672"/>
                  </a:lnTo>
                  <a:lnTo>
                    <a:pt x="1123423" y="153961"/>
                  </a:lnTo>
                  <a:lnTo>
                    <a:pt x="1127563" y="138974"/>
                  </a:lnTo>
                  <a:close/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82787" y="642886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66">
              <a:solidFill>
                <a:srgbClr val="2221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2536" y="6426982"/>
              <a:ext cx="9869" cy="376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095591" y="6425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58">
              <a:solidFill>
                <a:srgbClr val="0001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720592" y="642277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14" y="0"/>
                  </a:lnTo>
                </a:path>
              </a:pathLst>
            </a:custGeom>
            <a:ln w="3758">
              <a:solidFill>
                <a:srgbClr val="2221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001078" y="6419727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2911" y="0"/>
                  </a:lnTo>
                </a:path>
              </a:pathLst>
            </a:custGeom>
            <a:ln w="3766">
              <a:solidFill>
                <a:srgbClr val="E7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72414" y="6413637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63" y="0"/>
                  </a:lnTo>
                </a:path>
              </a:pathLst>
            </a:custGeom>
            <a:ln w="3766">
              <a:solidFill>
                <a:srgbClr val="E7DF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4488" y="5927454"/>
              <a:ext cx="628760" cy="50024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4198085" y="592745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D3CB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05954" y="5851309"/>
              <a:ext cx="381813" cy="7686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3516" y="5826943"/>
              <a:ext cx="223277" cy="2508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8340" y="5590136"/>
              <a:ext cx="366344" cy="3422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4536319" y="5587088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EEEB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511943" y="557186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58"/>
                  </a:moveTo>
                  <a:lnTo>
                    <a:pt x="0" y="0"/>
                  </a:lnTo>
                </a:path>
              </a:pathLst>
            </a:custGeom>
            <a:ln w="3758">
              <a:solidFill>
                <a:srgbClr val="CEC6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475380" y="552615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E1D8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408352" y="541952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66"/>
                  </a:moveTo>
                  <a:lnTo>
                    <a:pt x="0" y="0"/>
                  </a:lnTo>
                </a:path>
              </a:pathLst>
            </a:custGeom>
            <a:ln w="3765">
              <a:solidFill>
                <a:srgbClr val="F1ECD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3420" y="5050873"/>
              <a:ext cx="628362" cy="53998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3160189" y="5873450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9862" y="0"/>
                  </a:lnTo>
                </a:path>
              </a:pathLst>
            </a:custGeom>
            <a:ln w="3766">
              <a:solidFill>
                <a:srgbClr val="736F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32178" y="5048741"/>
              <a:ext cx="259786" cy="84183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74868" y="7659768"/>
              <a:ext cx="363445" cy="61298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291289" y="7661651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772" y="0"/>
                  </a:lnTo>
                </a:path>
              </a:pathLst>
            </a:custGeom>
            <a:ln w="3766">
              <a:solidFill>
                <a:srgbClr val="F6F3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63264" y="7169343"/>
              <a:ext cx="177516" cy="491143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3871443" y="4898853"/>
              <a:ext cx="560070" cy="184785"/>
            </a:xfrm>
            <a:custGeom>
              <a:avLst/>
              <a:gdLst/>
              <a:ahLst/>
              <a:cxnLst/>
              <a:rect l="l" t="t" r="r" b="b"/>
              <a:pathLst>
                <a:path w="560070" h="184785">
                  <a:moveTo>
                    <a:pt x="0" y="0"/>
                  </a:moveTo>
                  <a:lnTo>
                    <a:pt x="47016" y="7560"/>
                  </a:lnTo>
                  <a:lnTo>
                    <a:pt x="93957" y="16710"/>
                  </a:lnTo>
                  <a:lnTo>
                    <a:pt x="140825" y="27398"/>
                  </a:lnTo>
                  <a:lnTo>
                    <a:pt x="187622" y="39572"/>
                  </a:lnTo>
                  <a:lnTo>
                    <a:pt x="234351" y="53179"/>
                  </a:lnTo>
                  <a:lnTo>
                    <a:pt x="281015" y="68169"/>
                  </a:lnTo>
                  <a:lnTo>
                    <a:pt x="327615" y="84489"/>
                  </a:lnTo>
                  <a:lnTo>
                    <a:pt x="374155" y="102086"/>
                  </a:lnTo>
                  <a:lnTo>
                    <a:pt x="420636" y="120911"/>
                  </a:lnTo>
                  <a:lnTo>
                    <a:pt x="467062" y="140909"/>
                  </a:lnTo>
                  <a:lnTo>
                    <a:pt x="513434" y="162030"/>
                  </a:lnTo>
                  <a:lnTo>
                    <a:pt x="559755" y="184222"/>
                  </a:lnTo>
                </a:path>
              </a:pathLst>
            </a:custGeom>
            <a:ln w="1270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74251" y="5028966"/>
              <a:ext cx="97370" cy="73949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005123" y="5543625"/>
              <a:ext cx="266065" cy="425450"/>
            </a:xfrm>
            <a:custGeom>
              <a:avLst/>
              <a:gdLst/>
              <a:ahLst/>
              <a:cxnLst/>
              <a:rect l="l" t="t" r="r" b="b"/>
              <a:pathLst>
                <a:path w="266064" h="425450">
                  <a:moveTo>
                    <a:pt x="0" y="0"/>
                  </a:moveTo>
                  <a:lnTo>
                    <a:pt x="32923" y="41453"/>
                  </a:lnTo>
                  <a:lnTo>
                    <a:pt x="64207" y="83180"/>
                  </a:lnTo>
                  <a:lnTo>
                    <a:pt x="93938" y="125165"/>
                  </a:lnTo>
                  <a:lnTo>
                    <a:pt x="122200" y="167395"/>
                  </a:lnTo>
                  <a:lnTo>
                    <a:pt x="149079" y="209855"/>
                  </a:lnTo>
                  <a:lnTo>
                    <a:pt x="174660" y="252532"/>
                  </a:lnTo>
                  <a:lnTo>
                    <a:pt x="199028" y="295411"/>
                  </a:lnTo>
                  <a:lnTo>
                    <a:pt x="222269" y="338478"/>
                  </a:lnTo>
                  <a:lnTo>
                    <a:pt x="244467" y="381719"/>
                  </a:lnTo>
                  <a:lnTo>
                    <a:pt x="265708" y="425120"/>
                  </a:lnTo>
                </a:path>
              </a:pathLst>
            </a:custGeom>
            <a:ln w="1270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16938" y="5911970"/>
              <a:ext cx="73310" cy="97412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457830" y="8152933"/>
              <a:ext cx="255270" cy="170180"/>
            </a:xfrm>
            <a:custGeom>
              <a:avLst/>
              <a:gdLst/>
              <a:ahLst/>
              <a:cxnLst/>
              <a:rect l="l" t="t" r="r" b="b"/>
              <a:pathLst>
                <a:path w="255269" h="170179">
                  <a:moveTo>
                    <a:pt x="0" y="0"/>
                  </a:moveTo>
                  <a:lnTo>
                    <a:pt x="40438" y="32474"/>
                  </a:lnTo>
                  <a:lnTo>
                    <a:pt x="81848" y="63005"/>
                  </a:lnTo>
                  <a:lnTo>
                    <a:pt x="124132" y="91787"/>
                  </a:lnTo>
                  <a:lnTo>
                    <a:pt x="167194" y="119016"/>
                  </a:lnTo>
                  <a:lnTo>
                    <a:pt x="210936" y="144886"/>
                  </a:lnTo>
                  <a:lnTo>
                    <a:pt x="255262" y="169591"/>
                  </a:lnTo>
                </a:path>
              </a:pathLst>
            </a:custGeom>
            <a:ln w="1270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23335" y="8123981"/>
              <a:ext cx="93327" cy="87031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3324017" y="5774035"/>
              <a:ext cx="374650" cy="263525"/>
            </a:xfrm>
            <a:custGeom>
              <a:avLst/>
              <a:gdLst/>
              <a:ahLst/>
              <a:cxnLst/>
              <a:rect l="l" t="t" r="r" b="b"/>
              <a:pathLst>
                <a:path w="374650" h="263525">
                  <a:moveTo>
                    <a:pt x="0" y="0"/>
                  </a:moveTo>
                  <a:lnTo>
                    <a:pt x="39493" y="10556"/>
                  </a:lnTo>
                  <a:lnTo>
                    <a:pt x="77175" y="30368"/>
                  </a:lnTo>
                  <a:lnTo>
                    <a:pt x="113553" y="57279"/>
                  </a:lnTo>
                  <a:lnTo>
                    <a:pt x="149133" y="89130"/>
                  </a:lnTo>
                  <a:lnTo>
                    <a:pt x="184422" y="123764"/>
                  </a:lnTo>
                  <a:lnTo>
                    <a:pt x="219926" y="159025"/>
                  </a:lnTo>
                  <a:lnTo>
                    <a:pt x="256151" y="192754"/>
                  </a:lnTo>
                  <a:lnTo>
                    <a:pt x="293604" y="222794"/>
                  </a:lnTo>
                  <a:lnTo>
                    <a:pt x="332792" y="246989"/>
                  </a:lnTo>
                  <a:lnTo>
                    <a:pt x="374221" y="263181"/>
                  </a:lnTo>
                </a:path>
              </a:pathLst>
            </a:custGeom>
            <a:ln w="1270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5221" y="5988564"/>
              <a:ext cx="96510" cy="7418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780040" y="5137225"/>
              <a:ext cx="518795" cy="87630"/>
            </a:xfrm>
            <a:custGeom>
              <a:avLst/>
              <a:gdLst/>
              <a:ahLst/>
              <a:cxnLst/>
              <a:rect l="l" t="t" r="r" b="b"/>
              <a:pathLst>
                <a:path w="518795" h="87629">
                  <a:moveTo>
                    <a:pt x="75158" y="24853"/>
                  </a:moveTo>
                  <a:lnTo>
                    <a:pt x="66484" y="4343"/>
                  </a:lnTo>
                  <a:lnTo>
                    <a:pt x="0" y="4343"/>
                  </a:lnTo>
                  <a:lnTo>
                    <a:pt x="0" y="7962"/>
                  </a:lnTo>
                  <a:lnTo>
                    <a:pt x="1803" y="8077"/>
                  </a:lnTo>
                  <a:lnTo>
                    <a:pt x="11696" y="8801"/>
                  </a:lnTo>
                  <a:lnTo>
                    <a:pt x="10858" y="15214"/>
                  </a:lnTo>
                  <a:lnTo>
                    <a:pt x="10858" y="70827"/>
                  </a:lnTo>
                  <a:lnTo>
                    <a:pt x="11099" y="76136"/>
                  </a:lnTo>
                  <a:lnTo>
                    <a:pt x="9537" y="78917"/>
                  </a:lnTo>
                  <a:lnTo>
                    <a:pt x="7962" y="82169"/>
                  </a:lnTo>
                  <a:lnTo>
                    <a:pt x="4457" y="82651"/>
                  </a:lnTo>
                  <a:lnTo>
                    <a:pt x="1206" y="82765"/>
                  </a:lnTo>
                  <a:lnTo>
                    <a:pt x="0" y="82892"/>
                  </a:lnTo>
                  <a:lnTo>
                    <a:pt x="0" y="86512"/>
                  </a:lnTo>
                  <a:lnTo>
                    <a:pt x="34747" y="86512"/>
                  </a:lnTo>
                  <a:lnTo>
                    <a:pt x="34747" y="82892"/>
                  </a:lnTo>
                  <a:lnTo>
                    <a:pt x="32334" y="82765"/>
                  </a:lnTo>
                  <a:lnTo>
                    <a:pt x="22072" y="82169"/>
                  </a:lnTo>
                  <a:lnTo>
                    <a:pt x="22923" y="76009"/>
                  </a:lnTo>
                  <a:lnTo>
                    <a:pt x="22923" y="45250"/>
                  </a:lnTo>
                  <a:lnTo>
                    <a:pt x="41871" y="45250"/>
                  </a:lnTo>
                  <a:lnTo>
                    <a:pt x="45237" y="48856"/>
                  </a:lnTo>
                  <a:lnTo>
                    <a:pt x="46443" y="60680"/>
                  </a:lnTo>
                  <a:lnTo>
                    <a:pt x="50063" y="60680"/>
                  </a:lnTo>
                  <a:lnTo>
                    <a:pt x="50063" y="24980"/>
                  </a:lnTo>
                  <a:lnTo>
                    <a:pt x="46443" y="24980"/>
                  </a:lnTo>
                  <a:lnTo>
                    <a:pt x="45237" y="37642"/>
                  </a:lnTo>
                  <a:lnTo>
                    <a:pt x="42468" y="39941"/>
                  </a:lnTo>
                  <a:lnTo>
                    <a:pt x="22923" y="39941"/>
                  </a:lnTo>
                  <a:lnTo>
                    <a:pt x="22923" y="19672"/>
                  </a:lnTo>
                  <a:lnTo>
                    <a:pt x="22555" y="14363"/>
                  </a:lnTo>
                  <a:lnTo>
                    <a:pt x="26898" y="9779"/>
                  </a:lnTo>
                  <a:lnTo>
                    <a:pt x="33896" y="9410"/>
                  </a:lnTo>
                  <a:lnTo>
                    <a:pt x="37045" y="9410"/>
                  </a:lnTo>
                  <a:lnTo>
                    <a:pt x="47345" y="10502"/>
                  </a:lnTo>
                  <a:lnTo>
                    <a:pt x="56337" y="13754"/>
                  </a:lnTo>
                  <a:lnTo>
                    <a:pt x="64249" y="19189"/>
                  </a:lnTo>
                  <a:lnTo>
                    <a:pt x="71310" y="26784"/>
                  </a:lnTo>
                  <a:lnTo>
                    <a:pt x="75158" y="24853"/>
                  </a:lnTo>
                  <a:close/>
                </a:path>
                <a:path w="518795" h="87629">
                  <a:moveTo>
                    <a:pt x="99783" y="10985"/>
                  </a:moveTo>
                  <a:lnTo>
                    <a:pt x="96761" y="7594"/>
                  </a:lnTo>
                  <a:lnTo>
                    <a:pt x="88798" y="7594"/>
                  </a:lnTo>
                  <a:lnTo>
                    <a:pt x="85166" y="10985"/>
                  </a:lnTo>
                  <a:lnTo>
                    <a:pt x="85293" y="10985"/>
                  </a:lnTo>
                  <a:lnTo>
                    <a:pt x="85293" y="18707"/>
                  </a:lnTo>
                  <a:lnTo>
                    <a:pt x="88201" y="22085"/>
                  </a:lnTo>
                  <a:lnTo>
                    <a:pt x="96278" y="22085"/>
                  </a:lnTo>
                  <a:lnTo>
                    <a:pt x="99783" y="19062"/>
                  </a:lnTo>
                  <a:lnTo>
                    <a:pt x="99783" y="10985"/>
                  </a:lnTo>
                  <a:close/>
                </a:path>
                <a:path w="518795" h="87629">
                  <a:moveTo>
                    <a:pt x="108229" y="82892"/>
                  </a:moveTo>
                  <a:lnTo>
                    <a:pt x="106781" y="82892"/>
                  </a:lnTo>
                  <a:lnTo>
                    <a:pt x="100787" y="82410"/>
                  </a:lnTo>
                  <a:lnTo>
                    <a:pt x="99326" y="82410"/>
                  </a:lnTo>
                  <a:lnTo>
                    <a:pt x="98209" y="77812"/>
                  </a:lnTo>
                  <a:lnTo>
                    <a:pt x="98209" y="28117"/>
                  </a:lnTo>
                  <a:lnTo>
                    <a:pt x="94348" y="28117"/>
                  </a:lnTo>
                  <a:lnTo>
                    <a:pt x="75882" y="30772"/>
                  </a:lnTo>
                  <a:lnTo>
                    <a:pt x="75882" y="34391"/>
                  </a:lnTo>
                  <a:lnTo>
                    <a:pt x="77825" y="34391"/>
                  </a:lnTo>
                  <a:lnTo>
                    <a:pt x="85420" y="34874"/>
                  </a:lnTo>
                  <a:lnTo>
                    <a:pt x="86626" y="39331"/>
                  </a:lnTo>
                  <a:lnTo>
                    <a:pt x="86626" y="78536"/>
                  </a:lnTo>
                  <a:lnTo>
                    <a:pt x="85420" y="82410"/>
                  </a:lnTo>
                  <a:lnTo>
                    <a:pt x="77457" y="82892"/>
                  </a:lnTo>
                  <a:lnTo>
                    <a:pt x="76377" y="82892"/>
                  </a:lnTo>
                  <a:lnTo>
                    <a:pt x="76377" y="86512"/>
                  </a:lnTo>
                  <a:lnTo>
                    <a:pt x="108229" y="86512"/>
                  </a:lnTo>
                  <a:lnTo>
                    <a:pt x="108229" y="82892"/>
                  </a:lnTo>
                  <a:close/>
                </a:path>
                <a:path w="518795" h="87629">
                  <a:moveTo>
                    <a:pt x="144170" y="82892"/>
                  </a:moveTo>
                  <a:lnTo>
                    <a:pt x="142735" y="82765"/>
                  </a:lnTo>
                  <a:lnTo>
                    <a:pt x="135369" y="82283"/>
                  </a:lnTo>
                  <a:lnTo>
                    <a:pt x="134404" y="77698"/>
                  </a:lnTo>
                  <a:lnTo>
                    <a:pt x="134404" y="0"/>
                  </a:lnTo>
                  <a:lnTo>
                    <a:pt x="129578" y="0"/>
                  </a:lnTo>
                  <a:lnTo>
                    <a:pt x="123913" y="2286"/>
                  </a:lnTo>
                  <a:lnTo>
                    <a:pt x="117995" y="3251"/>
                  </a:lnTo>
                  <a:lnTo>
                    <a:pt x="112090" y="3987"/>
                  </a:lnTo>
                  <a:lnTo>
                    <a:pt x="112090" y="7594"/>
                  </a:lnTo>
                  <a:lnTo>
                    <a:pt x="123672" y="8445"/>
                  </a:lnTo>
                  <a:lnTo>
                    <a:pt x="122821" y="14846"/>
                  </a:lnTo>
                  <a:lnTo>
                    <a:pt x="122821" y="78435"/>
                  </a:lnTo>
                  <a:lnTo>
                    <a:pt x="121488" y="82283"/>
                  </a:lnTo>
                  <a:lnTo>
                    <a:pt x="113652" y="82892"/>
                  </a:lnTo>
                  <a:lnTo>
                    <a:pt x="112572" y="82892"/>
                  </a:lnTo>
                  <a:lnTo>
                    <a:pt x="112572" y="86512"/>
                  </a:lnTo>
                  <a:lnTo>
                    <a:pt x="144170" y="86512"/>
                  </a:lnTo>
                  <a:lnTo>
                    <a:pt x="144170" y="82892"/>
                  </a:lnTo>
                  <a:close/>
                </a:path>
                <a:path w="518795" h="87629">
                  <a:moveTo>
                    <a:pt x="216687" y="83375"/>
                  </a:moveTo>
                  <a:lnTo>
                    <a:pt x="215722" y="82042"/>
                  </a:lnTo>
                  <a:lnTo>
                    <a:pt x="214388" y="80238"/>
                  </a:lnTo>
                  <a:lnTo>
                    <a:pt x="212953" y="81203"/>
                  </a:lnTo>
                  <a:lnTo>
                    <a:pt x="211264" y="82042"/>
                  </a:lnTo>
                  <a:lnTo>
                    <a:pt x="203542" y="82042"/>
                  </a:lnTo>
                  <a:lnTo>
                    <a:pt x="203238" y="78790"/>
                  </a:lnTo>
                  <a:lnTo>
                    <a:pt x="202819" y="74447"/>
                  </a:lnTo>
                  <a:lnTo>
                    <a:pt x="202819" y="56464"/>
                  </a:lnTo>
                  <a:lnTo>
                    <a:pt x="202819" y="38976"/>
                  </a:lnTo>
                  <a:lnTo>
                    <a:pt x="202209" y="34391"/>
                  </a:lnTo>
                  <a:lnTo>
                    <a:pt x="197510" y="31864"/>
                  </a:lnTo>
                  <a:lnTo>
                    <a:pt x="191223" y="28473"/>
                  </a:lnTo>
                  <a:lnTo>
                    <a:pt x="185547" y="27025"/>
                  </a:lnTo>
                  <a:lnTo>
                    <a:pt x="174091" y="27025"/>
                  </a:lnTo>
                  <a:lnTo>
                    <a:pt x="167589" y="28232"/>
                  </a:lnTo>
                  <a:lnTo>
                    <a:pt x="158292" y="32207"/>
                  </a:lnTo>
                  <a:lnTo>
                    <a:pt x="152742" y="36677"/>
                  </a:lnTo>
                  <a:lnTo>
                    <a:pt x="152742" y="44767"/>
                  </a:lnTo>
                  <a:lnTo>
                    <a:pt x="155511" y="47053"/>
                  </a:lnTo>
                  <a:lnTo>
                    <a:pt x="163004" y="47053"/>
                  </a:lnTo>
                  <a:lnTo>
                    <a:pt x="164566" y="43789"/>
                  </a:lnTo>
                  <a:lnTo>
                    <a:pt x="164566" y="33667"/>
                  </a:lnTo>
                  <a:lnTo>
                    <a:pt x="172402" y="31864"/>
                  </a:lnTo>
                  <a:lnTo>
                    <a:pt x="179768" y="31864"/>
                  </a:lnTo>
                  <a:lnTo>
                    <a:pt x="183870" y="32346"/>
                  </a:lnTo>
                  <a:lnTo>
                    <a:pt x="187007" y="34391"/>
                  </a:lnTo>
                  <a:lnTo>
                    <a:pt x="190385" y="36677"/>
                  </a:lnTo>
                  <a:lnTo>
                    <a:pt x="190982" y="39814"/>
                  </a:lnTo>
                  <a:lnTo>
                    <a:pt x="191223" y="43548"/>
                  </a:lnTo>
                  <a:lnTo>
                    <a:pt x="191223" y="52247"/>
                  </a:lnTo>
                  <a:lnTo>
                    <a:pt x="191223" y="56464"/>
                  </a:lnTo>
                  <a:lnTo>
                    <a:pt x="191223" y="73482"/>
                  </a:lnTo>
                  <a:lnTo>
                    <a:pt x="186283" y="77698"/>
                  </a:lnTo>
                  <a:lnTo>
                    <a:pt x="179768" y="81559"/>
                  </a:lnTo>
                  <a:lnTo>
                    <a:pt x="167462" y="81559"/>
                  </a:lnTo>
                  <a:lnTo>
                    <a:pt x="162267" y="77939"/>
                  </a:lnTo>
                  <a:lnTo>
                    <a:pt x="162267" y="71793"/>
                  </a:lnTo>
                  <a:lnTo>
                    <a:pt x="165506" y="64477"/>
                  </a:lnTo>
                  <a:lnTo>
                    <a:pt x="173316" y="59969"/>
                  </a:lnTo>
                  <a:lnTo>
                    <a:pt x="182841" y="57531"/>
                  </a:lnTo>
                  <a:lnTo>
                    <a:pt x="191223" y="56464"/>
                  </a:lnTo>
                  <a:lnTo>
                    <a:pt x="191223" y="52247"/>
                  </a:lnTo>
                  <a:lnTo>
                    <a:pt x="175425" y="53936"/>
                  </a:lnTo>
                  <a:lnTo>
                    <a:pt x="168427" y="55257"/>
                  </a:lnTo>
                  <a:lnTo>
                    <a:pt x="162026" y="58153"/>
                  </a:lnTo>
                  <a:lnTo>
                    <a:pt x="155155" y="61163"/>
                  </a:lnTo>
                  <a:lnTo>
                    <a:pt x="150088" y="65036"/>
                  </a:lnTo>
                  <a:lnTo>
                    <a:pt x="150088" y="82892"/>
                  </a:lnTo>
                  <a:lnTo>
                    <a:pt x="160108" y="87490"/>
                  </a:lnTo>
                  <a:lnTo>
                    <a:pt x="177596" y="87490"/>
                  </a:lnTo>
                  <a:lnTo>
                    <a:pt x="184111" y="84340"/>
                  </a:lnTo>
                  <a:lnTo>
                    <a:pt x="187680" y="81559"/>
                  </a:lnTo>
                  <a:lnTo>
                    <a:pt x="191223" y="78790"/>
                  </a:lnTo>
                  <a:lnTo>
                    <a:pt x="192925" y="84340"/>
                  </a:lnTo>
                  <a:lnTo>
                    <a:pt x="193040" y="84709"/>
                  </a:lnTo>
                  <a:lnTo>
                    <a:pt x="198704" y="87490"/>
                  </a:lnTo>
                  <a:lnTo>
                    <a:pt x="204381" y="87490"/>
                  </a:lnTo>
                  <a:lnTo>
                    <a:pt x="208368" y="87617"/>
                  </a:lnTo>
                  <a:lnTo>
                    <a:pt x="213677" y="86271"/>
                  </a:lnTo>
                  <a:lnTo>
                    <a:pt x="216687" y="83375"/>
                  </a:lnTo>
                  <a:close/>
                </a:path>
                <a:path w="518795" h="87629">
                  <a:moveTo>
                    <a:pt x="327812" y="82892"/>
                  </a:moveTo>
                  <a:lnTo>
                    <a:pt x="319608" y="82169"/>
                  </a:lnTo>
                  <a:lnTo>
                    <a:pt x="318643" y="77698"/>
                  </a:lnTo>
                  <a:lnTo>
                    <a:pt x="318643" y="40538"/>
                  </a:lnTo>
                  <a:lnTo>
                    <a:pt x="318401" y="36436"/>
                  </a:lnTo>
                  <a:lnTo>
                    <a:pt x="315747" y="32943"/>
                  </a:lnTo>
                  <a:lnTo>
                    <a:pt x="312483" y="28600"/>
                  </a:lnTo>
                  <a:lnTo>
                    <a:pt x="306819" y="26784"/>
                  </a:lnTo>
                  <a:lnTo>
                    <a:pt x="301637" y="26911"/>
                  </a:lnTo>
                  <a:lnTo>
                    <a:pt x="294030" y="27152"/>
                  </a:lnTo>
                  <a:lnTo>
                    <a:pt x="285584" y="31127"/>
                  </a:lnTo>
                  <a:lnTo>
                    <a:pt x="279552" y="36436"/>
                  </a:lnTo>
                  <a:lnTo>
                    <a:pt x="276047" y="29083"/>
                  </a:lnTo>
                  <a:lnTo>
                    <a:pt x="270624" y="26911"/>
                  </a:lnTo>
                  <a:lnTo>
                    <a:pt x="253733" y="26911"/>
                  </a:lnTo>
                  <a:lnTo>
                    <a:pt x="245529" y="30772"/>
                  </a:lnTo>
                  <a:lnTo>
                    <a:pt x="240220" y="36436"/>
                  </a:lnTo>
                  <a:lnTo>
                    <a:pt x="240220" y="28117"/>
                  </a:lnTo>
                  <a:lnTo>
                    <a:pt x="236359" y="28117"/>
                  </a:lnTo>
                  <a:lnTo>
                    <a:pt x="217893" y="30772"/>
                  </a:lnTo>
                  <a:lnTo>
                    <a:pt x="217893" y="34391"/>
                  </a:lnTo>
                  <a:lnTo>
                    <a:pt x="219824" y="34391"/>
                  </a:lnTo>
                  <a:lnTo>
                    <a:pt x="227431" y="34874"/>
                  </a:lnTo>
                  <a:lnTo>
                    <a:pt x="228638" y="39331"/>
                  </a:lnTo>
                  <a:lnTo>
                    <a:pt x="228638" y="78054"/>
                  </a:lnTo>
                  <a:lnTo>
                    <a:pt x="227545" y="82169"/>
                  </a:lnTo>
                  <a:lnTo>
                    <a:pt x="219341" y="82892"/>
                  </a:lnTo>
                  <a:lnTo>
                    <a:pt x="219341" y="86512"/>
                  </a:lnTo>
                  <a:lnTo>
                    <a:pt x="250113" y="86512"/>
                  </a:lnTo>
                  <a:lnTo>
                    <a:pt x="250113" y="82892"/>
                  </a:lnTo>
                  <a:lnTo>
                    <a:pt x="248780" y="82892"/>
                  </a:lnTo>
                  <a:lnTo>
                    <a:pt x="241300" y="82283"/>
                  </a:lnTo>
                  <a:lnTo>
                    <a:pt x="240220" y="77812"/>
                  </a:lnTo>
                  <a:lnTo>
                    <a:pt x="240220" y="41148"/>
                  </a:lnTo>
                  <a:lnTo>
                    <a:pt x="244932" y="37045"/>
                  </a:lnTo>
                  <a:lnTo>
                    <a:pt x="251802" y="33185"/>
                  </a:lnTo>
                  <a:lnTo>
                    <a:pt x="267360" y="33185"/>
                  </a:lnTo>
                  <a:lnTo>
                    <a:pt x="267855" y="40297"/>
                  </a:lnTo>
                  <a:lnTo>
                    <a:pt x="267855" y="78295"/>
                  </a:lnTo>
                  <a:lnTo>
                    <a:pt x="266636" y="82283"/>
                  </a:lnTo>
                  <a:lnTo>
                    <a:pt x="258914" y="82892"/>
                  </a:lnTo>
                  <a:lnTo>
                    <a:pt x="257949" y="82892"/>
                  </a:lnTo>
                  <a:lnTo>
                    <a:pt x="257949" y="86512"/>
                  </a:lnTo>
                  <a:lnTo>
                    <a:pt x="289318" y="86512"/>
                  </a:lnTo>
                  <a:lnTo>
                    <a:pt x="289318" y="82892"/>
                  </a:lnTo>
                  <a:lnTo>
                    <a:pt x="288353" y="82892"/>
                  </a:lnTo>
                  <a:lnTo>
                    <a:pt x="280631" y="82283"/>
                  </a:lnTo>
                  <a:lnTo>
                    <a:pt x="279438" y="78295"/>
                  </a:lnTo>
                  <a:lnTo>
                    <a:pt x="279438" y="41148"/>
                  </a:lnTo>
                  <a:lnTo>
                    <a:pt x="284734" y="37045"/>
                  </a:lnTo>
                  <a:lnTo>
                    <a:pt x="291134" y="33185"/>
                  </a:lnTo>
                  <a:lnTo>
                    <a:pt x="301396" y="33185"/>
                  </a:lnTo>
                  <a:lnTo>
                    <a:pt x="304647" y="35471"/>
                  </a:lnTo>
                  <a:lnTo>
                    <a:pt x="306095" y="39090"/>
                  </a:lnTo>
                  <a:lnTo>
                    <a:pt x="307060" y="41744"/>
                  </a:lnTo>
                  <a:lnTo>
                    <a:pt x="307060" y="78295"/>
                  </a:lnTo>
                  <a:lnTo>
                    <a:pt x="305854" y="82283"/>
                  </a:lnTo>
                  <a:lnTo>
                    <a:pt x="298132" y="82892"/>
                  </a:lnTo>
                  <a:lnTo>
                    <a:pt x="297167" y="82892"/>
                  </a:lnTo>
                  <a:lnTo>
                    <a:pt x="297167" y="86512"/>
                  </a:lnTo>
                  <a:lnTo>
                    <a:pt x="327812" y="86512"/>
                  </a:lnTo>
                  <a:lnTo>
                    <a:pt x="327812" y="82892"/>
                  </a:lnTo>
                  <a:close/>
                </a:path>
                <a:path w="518795" h="87629">
                  <a:moveTo>
                    <a:pt x="388505" y="51638"/>
                  </a:moveTo>
                  <a:lnTo>
                    <a:pt x="387578" y="46697"/>
                  </a:lnTo>
                  <a:lnTo>
                    <a:pt x="386588" y="41402"/>
                  </a:lnTo>
                  <a:lnTo>
                    <a:pt x="381050" y="33578"/>
                  </a:lnTo>
                  <a:lnTo>
                    <a:pt x="378193" y="31851"/>
                  </a:lnTo>
                  <a:lnTo>
                    <a:pt x="375704" y="30365"/>
                  </a:lnTo>
                  <a:lnTo>
                    <a:pt x="375704" y="37769"/>
                  </a:lnTo>
                  <a:lnTo>
                    <a:pt x="375704" y="46697"/>
                  </a:lnTo>
                  <a:lnTo>
                    <a:pt x="346748" y="46697"/>
                  </a:lnTo>
                  <a:lnTo>
                    <a:pt x="347599" y="38976"/>
                  </a:lnTo>
                  <a:lnTo>
                    <a:pt x="353275" y="31851"/>
                  </a:lnTo>
                  <a:lnTo>
                    <a:pt x="370039" y="31851"/>
                  </a:lnTo>
                  <a:lnTo>
                    <a:pt x="375704" y="37769"/>
                  </a:lnTo>
                  <a:lnTo>
                    <a:pt x="375704" y="30365"/>
                  </a:lnTo>
                  <a:lnTo>
                    <a:pt x="372757" y="28600"/>
                  </a:lnTo>
                  <a:lnTo>
                    <a:pt x="362559" y="26911"/>
                  </a:lnTo>
                  <a:lnTo>
                    <a:pt x="350520" y="29210"/>
                  </a:lnTo>
                  <a:lnTo>
                    <a:pt x="341452" y="35471"/>
                  </a:lnTo>
                  <a:lnTo>
                    <a:pt x="335711" y="44996"/>
                  </a:lnTo>
                  <a:lnTo>
                    <a:pt x="333717" y="57073"/>
                  </a:lnTo>
                  <a:lnTo>
                    <a:pt x="333717" y="65278"/>
                  </a:lnTo>
                  <a:lnTo>
                    <a:pt x="336867" y="73723"/>
                  </a:lnTo>
                  <a:lnTo>
                    <a:pt x="342773" y="79629"/>
                  </a:lnTo>
                  <a:lnTo>
                    <a:pt x="348691" y="85305"/>
                  </a:lnTo>
                  <a:lnTo>
                    <a:pt x="355803" y="87490"/>
                  </a:lnTo>
                  <a:lnTo>
                    <a:pt x="363893" y="87490"/>
                  </a:lnTo>
                  <a:lnTo>
                    <a:pt x="371449" y="86563"/>
                  </a:lnTo>
                  <a:lnTo>
                    <a:pt x="378409" y="83820"/>
                  </a:lnTo>
                  <a:lnTo>
                    <a:pt x="380695" y="82042"/>
                  </a:lnTo>
                  <a:lnTo>
                    <a:pt x="384263" y="79286"/>
                  </a:lnTo>
                  <a:lnTo>
                    <a:pt x="388505" y="72986"/>
                  </a:lnTo>
                  <a:lnTo>
                    <a:pt x="384517" y="70942"/>
                  </a:lnTo>
                  <a:lnTo>
                    <a:pt x="380657" y="78054"/>
                  </a:lnTo>
                  <a:lnTo>
                    <a:pt x="374980" y="82042"/>
                  </a:lnTo>
                  <a:lnTo>
                    <a:pt x="360870" y="82042"/>
                  </a:lnTo>
                  <a:lnTo>
                    <a:pt x="355117" y="79629"/>
                  </a:lnTo>
                  <a:lnTo>
                    <a:pt x="354914" y="79629"/>
                  </a:lnTo>
                  <a:lnTo>
                    <a:pt x="351459" y="74574"/>
                  </a:lnTo>
                  <a:lnTo>
                    <a:pt x="348322" y="69862"/>
                  </a:lnTo>
                  <a:lnTo>
                    <a:pt x="346265" y="63347"/>
                  </a:lnTo>
                  <a:lnTo>
                    <a:pt x="346303" y="57073"/>
                  </a:lnTo>
                  <a:lnTo>
                    <a:pt x="346506" y="51638"/>
                  </a:lnTo>
                  <a:lnTo>
                    <a:pt x="388505" y="51638"/>
                  </a:lnTo>
                  <a:close/>
                </a:path>
                <a:path w="518795" h="87629">
                  <a:moveTo>
                    <a:pt x="470306" y="82892"/>
                  </a:moveTo>
                  <a:lnTo>
                    <a:pt x="468731" y="82892"/>
                  </a:lnTo>
                  <a:lnTo>
                    <a:pt x="461251" y="82410"/>
                  </a:lnTo>
                  <a:lnTo>
                    <a:pt x="460171" y="77812"/>
                  </a:lnTo>
                  <a:lnTo>
                    <a:pt x="460171" y="44284"/>
                  </a:lnTo>
                  <a:lnTo>
                    <a:pt x="460171" y="39217"/>
                  </a:lnTo>
                  <a:lnTo>
                    <a:pt x="459562" y="35229"/>
                  </a:lnTo>
                  <a:lnTo>
                    <a:pt x="455460" y="31724"/>
                  </a:lnTo>
                  <a:lnTo>
                    <a:pt x="451967" y="28600"/>
                  </a:lnTo>
                  <a:lnTo>
                    <a:pt x="447141" y="26911"/>
                  </a:lnTo>
                  <a:lnTo>
                    <a:pt x="442429" y="26911"/>
                  </a:lnTo>
                  <a:lnTo>
                    <a:pt x="435203" y="27635"/>
                  </a:lnTo>
                  <a:lnTo>
                    <a:pt x="428536" y="29743"/>
                  </a:lnTo>
                  <a:lnTo>
                    <a:pt x="422389" y="33108"/>
                  </a:lnTo>
                  <a:lnTo>
                    <a:pt x="416725" y="37642"/>
                  </a:lnTo>
                  <a:lnTo>
                    <a:pt x="416725" y="28117"/>
                  </a:lnTo>
                  <a:lnTo>
                    <a:pt x="412877" y="28117"/>
                  </a:lnTo>
                  <a:lnTo>
                    <a:pt x="394411" y="30772"/>
                  </a:lnTo>
                  <a:lnTo>
                    <a:pt x="394411" y="34391"/>
                  </a:lnTo>
                  <a:lnTo>
                    <a:pt x="396341" y="34391"/>
                  </a:lnTo>
                  <a:lnTo>
                    <a:pt x="403936" y="34874"/>
                  </a:lnTo>
                  <a:lnTo>
                    <a:pt x="405142" y="39331"/>
                  </a:lnTo>
                  <a:lnTo>
                    <a:pt x="405142" y="78790"/>
                  </a:lnTo>
                  <a:lnTo>
                    <a:pt x="403694" y="82524"/>
                  </a:lnTo>
                  <a:lnTo>
                    <a:pt x="395744" y="82892"/>
                  </a:lnTo>
                  <a:lnTo>
                    <a:pt x="394411" y="82892"/>
                  </a:lnTo>
                  <a:lnTo>
                    <a:pt x="394411" y="86512"/>
                  </a:lnTo>
                  <a:lnTo>
                    <a:pt x="427113" y="86512"/>
                  </a:lnTo>
                  <a:lnTo>
                    <a:pt x="427113" y="82892"/>
                  </a:lnTo>
                  <a:lnTo>
                    <a:pt x="425424" y="82892"/>
                  </a:lnTo>
                  <a:lnTo>
                    <a:pt x="417817" y="82410"/>
                  </a:lnTo>
                  <a:lnTo>
                    <a:pt x="416725" y="77939"/>
                  </a:lnTo>
                  <a:lnTo>
                    <a:pt x="416725" y="42837"/>
                  </a:lnTo>
                  <a:lnTo>
                    <a:pt x="422516" y="37769"/>
                  </a:lnTo>
                  <a:lnTo>
                    <a:pt x="430250" y="33185"/>
                  </a:lnTo>
                  <a:lnTo>
                    <a:pt x="441464" y="33185"/>
                  </a:lnTo>
                  <a:lnTo>
                    <a:pt x="444842" y="34632"/>
                  </a:lnTo>
                  <a:lnTo>
                    <a:pt x="446659" y="37528"/>
                  </a:lnTo>
                  <a:lnTo>
                    <a:pt x="448221" y="40182"/>
                  </a:lnTo>
                  <a:lnTo>
                    <a:pt x="448589" y="43192"/>
                  </a:lnTo>
                  <a:lnTo>
                    <a:pt x="448589" y="77939"/>
                  </a:lnTo>
                  <a:lnTo>
                    <a:pt x="447497" y="82410"/>
                  </a:lnTo>
                  <a:lnTo>
                    <a:pt x="439889" y="82892"/>
                  </a:lnTo>
                  <a:lnTo>
                    <a:pt x="438213" y="82892"/>
                  </a:lnTo>
                  <a:lnTo>
                    <a:pt x="438213" y="86512"/>
                  </a:lnTo>
                  <a:lnTo>
                    <a:pt x="470306" y="86512"/>
                  </a:lnTo>
                  <a:lnTo>
                    <a:pt x="470306" y="82892"/>
                  </a:lnTo>
                  <a:close/>
                </a:path>
                <a:path w="518795" h="87629">
                  <a:moveTo>
                    <a:pt x="518439" y="79629"/>
                  </a:moveTo>
                  <a:lnTo>
                    <a:pt x="515429" y="76974"/>
                  </a:lnTo>
                  <a:lnTo>
                    <a:pt x="512533" y="79870"/>
                  </a:lnTo>
                  <a:lnTo>
                    <a:pt x="509270" y="82283"/>
                  </a:lnTo>
                  <a:lnTo>
                    <a:pt x="495757" y="82283"/>
                  </a:lnTo>
                  <a:lnTo>
                    <a:pt x="495757" y="31965"/>
                  </a:lnTo>
                  <a:lnTo>
                    <a:pt x="512889" y="31965"/>
                  </a:lnTo>
                  <a:lnTo>
                    <a:pt x="512889" y="28117"/>
                  </a:lnTo>
                  <a:lnTo>
                    <a:pt x="495757" y="28117"/>
                  </a:lnTo>
                  <a:lnTo>
                    <a:pt x="495757" y="6032"/>
                  </a:lnTo>
                  <a:lnTo>
                    <a:pt x="490575" y="6032"/>
                  </a:lnTo>
                  <a:lnTo>
                    <a:pt x="489940" y="14401"/>
                  </a:lnTo>
                  <a:lnTo>
                    <a:pt x="487514" y="21336"/>
                  </a:lnTo>
                  <a:lnTo>
                    <a:pt x="482473" y="26123"/>
                  </a:lnTo>
                  <a:lnTo>
                    <a:pt x="474040" y="28117"/>
                  </a:lnTo>
                  <a:lnTo>
                    <a:pt x="474040" y="31965"/>
                  </a:lnTo>
                  <a:lnTo>
                    <a:pt x="484174" y="31965"/>
                  </a:lnTo>
                  <a:lnTo>
                    <a:pt x="484174" y="76733"/>
                  </a:lnTo>
                  <a:lnTo>
                    <a:pt x="484657" y="81445"/>
                  </a:lnTo>
                  <a:lnTo>
                    <a:pt x="489483" y="84582"/>
                  </a:lnTo>
                  <a:lnTo>
                    <a:pt x="492861" y="86652"/>
                  </a:lnTo>
                  <a:lnTo>
                    <a:pt x="497446" y="87490"/>
                  </a:lnTo>
                  <a:lnTo>
                    <a:pt x="507949" y="87490"/>
                  </a:lnTo>
                  <a:lnTo>
                    <a:pt x="514464" y="85064"/>
                  </a:lnTo>
                  <a:lnTo>
                    <a:pt x="518439" y="79629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64144" y="4482227"/>
              <a:ext cx="408311" cy="87493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60752" y="5307753"/>
              <a:ext cx="1031593" cy="111503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43892" y="8684682"/>
              <a:ext cx="378971" cy="111496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37915" y="7907646"/>
              <a:ext cx="453056" cy="114999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3704449" y="4609197"/>
              <a:ext cx="114300" cy="210185"/>
            </a:xfrm>
            <a:custGeom>
              <a:avLst/>
              <a:gdLst/>
              <a:ahLst/>
              <a:cxnLst/>
              <a:rect l="l" t="t" r="r" b="b"/>
              <a:pathLst>
                <a:path w="114300" h="210185">
                  <a:moveTo>
                    <a:pt x="0" y="209959"/>
                  </a:moveTo>
                  <a:lnTo>
                    <a:pt x="113728" y="0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930376" y="5351643"/>
              <a:ext cx="306705" cy="4445"/>
            </a:xfrm>
            <a:custGeom>
              <a:avLst/>
              <a:gdLst/>
              <a:ahLst/>
              <a:cxnLst/>
              <a:rect l="l" t="t" r="r" b="b"/>
              <a:pathLst>
                <a:path w="306704" h="4445">
                  <a:moveTo>
                    <a:pt x="0" y="4377"/>
                  </a:moveTo>
                  <a:lnTo>
                    <a:pt x="306197" y="0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727148" y="8454144"/>
              <a:ext cx="105410" cy="192405"/>
            </a:xfrm>
            <a:custGeom>
              <a:avLst/>
              <a:gdLst/>
              <a:ahLst/>
              <a:cxnLst/>
              <a:rect l="l" t="t" r="r" b="b"/>
              <a:pathLst>
                <a:path w="105410" h="192404">
                  <a:moveTo>
                    <a:pt x="105159" y="0"/>
                  </a:moveTo>
                  <a:lnTo>
                    <a:pt x="0" y="192024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917864" y="7878056"/>
              <a:ext cx="370840" cy="64135"/>
            </a:xfrm>
            <a:custGeom>
              <a:avLst/>
              <a:gdLst/>
              <a:ahLst/>
              <a:cxnLst/>
              <a:rect l="l" t="t" r="r" b="b"/>
              <a:pathLst>
                <a:path w="370839" h="64134">
                  <a:moveTo>
                    <a:pt x="370349" y="0"/>
                  </a:moveTo>
                  <a:lnTo>
                    <a:pt x="0" y="64008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588581" y="5181625"/>
              <a:ext cx="163830" cy="0"/>
            </a:xfrm>
            <a:custGeom>
              <a:avLst/>
              <a:gdLst/>
              <a:ahLst/>
              <a:cxnLst/>
              <a:rect l="l" t="t" r="r" b="b"/>
              <a:pathLst>
                <a:path w="163829" h="0">
                  <a:moveTo>
                    <a:pt x="0" y="0"/>
                  </a:moveTo>
                  <a:lnTo>
                    <a:pt x="163817" y="0"/>
                  </a:lnTo>
                </a:path>
              </a:pathLst>
            </a:custGeom>
            <a:ln w="635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98061" y="4808296"/>
              <a:ext cx="5564161" cy="4063942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2561717" y="9086850"/>
            <a:ext cx="24352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05" b="1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950" spc="23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05" b="1">
                <a:solidFill>
                  <a:srgbClr val="231F1F"/>
                </a:solidFill>
                <a:latin typeface="Calibri"/>
                <a:cs typeface="Calibri"/>
              </a:rPr>
              <a:t>3.6</a:t>
            </a:r>
            <a:r>
              <a:rPr dirty="0" sz="950" spc="240" b="1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9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1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950" spc="2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solidFill>
                  <a:srgbClr val="231F1F"/>
                </a:solidFill>
                <a:latin typeface="Calibri"/>
                <a:cs typeface="Calibri"/>
              </a:rPr>
              <a:t>angiosperm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69" name="object 69" descr=""/>
          <p:cNvSpPr txBox="1"/>
          <p:nvPr/>
        </p:nvSpPr>
        <p:spPr>
          <a:xfrm>
            <a:off x="749300" y="1517396"/>
            <a:ext cx="4595495" cy="287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nuclei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eventually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fuse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secondary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nucleus.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Pollen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grain,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after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dispersal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the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anthers,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carried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wind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various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other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agencies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stigma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pistil.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termed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pollination.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pollen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grains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stigma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resulting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tubes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grow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through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tissues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stigma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style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reach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ovule.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tubes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enter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embryo-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sac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where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discharged.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male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fuses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egg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(syngamy)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zygote.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male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gamete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fuses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secondary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nucleus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triploid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primary</a:t>
            </a:r>
            <a:r>
              <a:rPr dirty="0" sz="10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endosperm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nucleus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(PEN).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Because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occurrence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two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fusions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i.e.,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syngamy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triple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fusion,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event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termed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 b="1">
                <a:solidFill>
                  <a:srgbClr val="231F1F"/>
                </a:solidFill>
                <a:latin typeface="Calibri"/>
                <a:cs typeface="Calibri"/>
              </a:rPr>
              <a:t>double 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fertilisation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event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unique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angiosperms.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into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embryo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(with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cotyledons)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PEN</a:t>
            </a:r>
            <a:r>
              <a:rPr dirty="0" sz="1050" spc="2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develops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into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endosperm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provides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nourishment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4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developing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embryo.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synergids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antipodals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degenerate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fertilisation.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During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events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develop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seeds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ovaries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develop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fruit.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31F1F"/>
                </a:solidFill>
                <a:latin typeface="Calibri"/>
                <a:cs typeface="Calibri"/>
              </a:rPr>
              <a:t>life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angiosperm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shown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3.6.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2" y="9763759"/>
            <a:ext cx="7773034" cy="660400"/>
            <a:chOff x="-112" y="9763759"/>
            <a:chExt cx="7773034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25"/>
            <a:ext cx="7772400" cy="1333500"/>
            <a:chOff x="0" y="25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24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8"/>
                  </a:moveTo>
                  <a:lnTo>
                    <a:pt x="7772284" y="129538"/>
                  </a:lnTo>
                  <a:lnTo>
                    <a:pt x="7772284" y="0"/>
                  </a:lnTo>
                  <a:lnTo>
                    <a:pt x="0" y="0"/>
                  </a:lnTo>
                  <a:lnTo>
                    <a:pt x="0" y="129538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25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284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7772284" y="1041399"/>
                  </a:lnTo>
                  <a:lnTo>
                    <a:pt x="7772284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486" y="876286"/>
              <a:ext cx="444500" cy="457200"/>
            </a:xfrm>
            <a:custGeom>
              <a:avLst/>
              <a:gdLst/>
              <a:ahLst/>
              <a:cxnLst/>
              <a:rect l="l" t="t" r="r" b="b"/>
              <a:pathLst>
                <a:path w="444500" h="457200">
                  <a:moveTo>
                    <a:pt x="330197" y="0"/>
                  </a:moveTo>
                  <a:lnTo>
                    <a:pt x="114303" y="0"/>
                  </a:lnTo>
                  <a:lnTo>
                    <a:pt x="91496" y="2091"/>
                  </a:lnTo>
                  <a:lnTo>
                    <a:pt x="51084" y="18826"/>
                  </a:lnTo>
                  <a:lnTo>
                    <a:pt x="18834" y="51079"/>
                  </a:lnTo>
                  <a:lnTo>
                    <a:pt x="2092" y="91524"/>
                  </a:lnTo>
                  <a:lnTo>
                    <a:pt x="0" y="114331"/>
                  </a:lnTo>
                  <a:lnTo>
                    <a:pt x="0" y="342924"/>
                  </a:lnTo>
                  <a:lnTo>
                    <a:pt x="8371" y="386784"/>
                  </a:lnTo>
                  <a:lnTo>
                    <a:pt x="33482" y="423716"/>
                  </a:lnTo>
                  <a:lnTo>
                    <a:pt x="70423" y="448818"/>
                  </a:lnTo>
                  <a:lnTo>
                    <a:pt x="114303" y="457184"/>
                  </a:lnTo>
                  <a:lnTo>
                    <a:pt x="330197" y="457184"/>
                  </a:lnTo>
                  <a:lnTo>
                    <a:pt x="374081" y="448818"/>
                  </a:lnTo>
                  <a:lnTo>
                    <a:pt x="411025" y="423716"/>
                  </a:lnTo>
                  <a:lnTo>
                    <a:pt x="436133" y="386784"/>
                  </a:lnTo>
                  <a:lnTo>
                    <a:pt x="444501" y="342924"/>
                  </a:lnTo>
                  <a:lnTo>
                    <a:pt x="444501" y="114331"/>
                  </a:lnTo>
                  <a:lnTo>
                    <a:pt x="436133" y="70435"/>
                  </a:lnTo>
                  <a:lnTo>
                    <a:pt x="411025" y="33468"/>
                  </a:lnTo>
                  <a:lnTo>
                    <a:pt x="374081" y="8367"/>
                  </a:lnTo>
                  <a:lnTo>
                    <a:pt x="330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2085" y="1008519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42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4952" y="1008519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9" y="1140"/>
            <a:ext cx="232410" cy="234315"/>
            <a:chOff x="1029" y="1140"/>
            <a:chExt cx="232410" cy="234315"/>
          </a:xfrm>
        </p:grpSpPr>
        <p:sp>
          <p:nvSpPr>
            <p:cNvPr id="12" name="object 12" descr=""/>
            <p:cNvSpPr/>
            <p:nvPr/>
          </p:nvSpPr>
          <p:spPr>
            <a:xfrm>
              <a:off x="1029" y="2335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1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537" y="11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2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029" y="1019251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1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1537" y="10238613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8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8874" y="10193655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492385" y="1503184"/>
            <a:ext cx="3404870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80"/>
              </a:lnSpc>
              <a:spcBef>
                <a:spcPts val="100"/>
              </a:spcBef>
              <a:tabLst>
                <a:tab pos="505459" algn="l"/>
              </a:tabLst>
            </a:pPr>
            <a:r>
              <a:rPr dirty="0" cap="small" sz="1300" spc="120" b="1">
                <a:solidFill>
                  <a:srgbClr val="00ADEF"/>
                </a:solidFill>
                <a:latin typeface="Calibri"/>
                <a:cs typeface="Calibri"/>
              </a:rPr>
              <a:t>3.</a:t>
            </a:r>
            <a:r>
              <a:rPr dirty="0" cap="small" sz="1300" spc="120" b="1">
                <a:solidFill>
                  <a:srgbClr val="00ADEF"/>
                </a:solidFill>
                <a:latin typeface="Calibri"/>
                <a:cs typeface="Calibri"/>
              </a:rPr>
              <a:t>6</a:t>
            </a:r>
            <a:r>
              <a:rPr dirty="0" cap="small" sz="1300" b="1">
                <a:solidFill>
                  <a:srgbClr val="00ADEF"/>
                </a:solidFill>
                <a:latin typeface="Calibri"/>
                <a:cs typeface="Calibri"/>
              </a:rPr>
              <a:t>	</a:t>
            </a:r>
            <a:r>
              <a:rPr dirty="0" cap="small" sz="1300" spc="70" b="1">
                <a:solidFill>
                  <a:srgbClr val="00ADEF"/>
                </a:solidFill>
                <a:latin typeface="Calibri"/>
                <a:cs typeface="Calibri"/>
              </a:rPr>
              <a:t>P</a:t>
            </a:r>
            <a:r>
              <a:rPr dirty="0" cap="small" sz="1300" spc="70" b="1">
                <a:solidFill>
                  <a:srgbClr val="00ADEF"/>
                </a:solidFill>
                <a:latin typeface="Calibri"/>
                <a:cs typeface="Calibri"/>
              </a:rPr>
              <a:t>lan</a:t>
            </a:r>
            <a:r>
              <a:rPr dirty="0" cap="small" sz="1300" spc="70" b="1">
                <a:solidFill>
                  <a:srgbClr val="00ADEF"/>
                </a:solidFill>
                <a:latin typeface="Calibri"/>
                <a:cs typeface="Calibri"/>
              </a:rPr>
              <a:t>t</a:t>
            </a:r>
            <a:r>
              <a:rPr dirty="0" cap="small" sz="1300" spc="-35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2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150" b="1">
                <a:solidFill>
                  <a:srgbClr val="00ADEF"/>
                </a:solidFill>
                <a:latin typeface="Calibri"/>
                <a:cs typeface="Calibri"/>
              </a:rPr>
              <a:t>L</a:t>
            </a:r>
            <a:r>
              <a:rPr dirty="0" cap="small" sz="1300" spc="150" b="1">
                <a:solidFill>
                  <a:srgbClr val="00ADEF"/>
                </a:solidFill>
                <a:latin typeface="Calibri"/>
                <a:cs typeface="Calibri"/>
              </a:rPr>
              <a:t>if</a:t>
            </a:r>
            <a:r>
              <a:rPr dirty="0" cap="small" sz="1300" spc="150" b="1">
                <a:solidFill>
                  <a:srgbClr val="00ADEF"/>
                </a:solidFill>
                <a:latin typeface="Calibri"/>
                <a:cs typeface="Calibri"/>
              </a:rPr>
              <a:t>e</a:t>
            </a:r>
            <a:r>
              <a:rPr dirty="0" cap="small" sz="1300" spc="-35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15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130" b="1">
                <a:solidFill>
                  <a:srgbClr val="00ADEF"/>
                </a:solidFill>
                <a:latin typeface="Calibri"/>
                <a:cs typeface="Calibri"/>
              </a:rPr>
              <a:t>C</a:t>
            </a:r>
            <a:r>
              <a:rPr dirty="0" cap="small" sz="1300" spc="130" b="1">
                <a:solidFill>
                  <a:srgbClr val="00ADEF"/>
                </a:solidFill>
                <a:latin typeface="Calibri"/>
                <a:cs typeface="Calibri"/>
              </a:rPr>
              <a:t>ycle</a:t>
            </a:r>
            <a:r>
              <a:rPr dirty="0" cap="small" sz="1300" spc="130" b="1">
                <a:solidFill>
                  <a:srgbClr val="00ADEF"/>
                </a:solidFill>
                <a:latin typeface="Calibri"/>
                <a:cs typeface="Calibri"/>
              </a:rPr>
              <a:t>s</a:t>
            </a:r>
            <a:r>
              <a:rPr dirty="0" cap="small" sz="1300" spc="-3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3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b="1">
                <a:solidFill>
                  <a:srgbClr val="00ADEF"/>
                </a:solidFill>
                <a:latin typeface="Calibri"/>
                <a:cs typeface="Calibri"/>
              </a:rPr>
              <a:t>an</a:t>
            </a:r>
            <a:r>
              <a:rPr dirty="0" cap="small" sz="1300" b="1">
                <a:solidFill>
                  <a:srgbClr val="00ADEF"/>
                </a:solidFill>
                <a:latin typeface="Calibri"/>
                <a:cs typeface="Calibri"/>
              </a:rPr>
              <a:t>d</a:t>
            </a:r>
            <a:r>
              <a:rPr dirty="0" cap="small" sz="1300" spc="-35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15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A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lternatio</a:t>
            </a:r>
            <a:r>
              <a:rPr dirty="0" cap="small" sz="1300" spc="65" b="1">
                <a:solidFill>
                  <a:srgbClr val="00ADEF"/>
                </a:solidFill>
                <a:latin typeface="Calibri"/>
                <a:cs typeface="Calibri"/>
              </a:rPr>
              <a:t>n</a:t>
            </a:r>
            <a:r>
              <a:rPr dirty="0" cap="small" sz="1300" spc="-3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30" b="1">
                <a:solidFill>
                  <a:srgbClr val="00ADEF"/>
                </a:solidFill>
                <a:latin typeface="Calibri"/>
                <a:cs typeface="Calibri"/>
              </a:rPr>
              <a:t> </a:t>
            </a:r>
            <a:r>
              <a:rPr dirty="0" cap="small" sz="1300" spc="-70" b="1">
                <a:solidFill>
                  <a:srgbClr val="00ADEF"/>
                </a:solidFill>
                <a:latin typeface="Calibri"/>
                <a:cs typeface="Calibri"/>
              </a:rPr>
              <a:t>of</a:t>
            </a:r>
            <a:endParaRPr sz="1300">
              <a:latin typeface="Calibri"/>
              <a:cs typeface="Calibri"/>
            </a:endParaRPr>
          </a:p>
          <a:p>
            <a:pPr marL="469265">
              <a:lnSpc>
                <a:spcPts val="1480"/>
              </a:lnSpc>
            </a:pPr>
            <a:r>
              <a:rPr dirty="0" cap="small" sz="1300" spc="60" b="1">
                <a:solidFill>
                  <a:srgbClr val="00ADEF"/>
                </a:solidFill>
                <a:latin typeface="Calibri"/>
                <a:cs typeface="Calibri"/>
              </a:rPr>
              <a:t>Generations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92385" y="2022232"/>
            <a:ext cx="3532504" cy="2807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900"/>
              </a:lnSpc>
              <a:spcBef>
                <a:spcPts val="100"/>
              </a:spcBef>
            </a:pP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plants,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both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cells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can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divide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mitosis.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ability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leads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different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bodies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-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diploid.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plant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mitosis.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body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represents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gametophyte.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Following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fertilisation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also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divides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mitosis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diploid sporophytic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body.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produced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this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meiosis.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turn,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divide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mitosis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haploid plant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once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again.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Thus,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during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any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sexually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reproducing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plant,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there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alternation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generations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between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gamete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producing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spore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producing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sporophyte.</a:t>
            </a:r>
            <a:endParaRPr sz="1050">
              <a:latin typeface="Calibri"/>
              <a:cs typeface="Calibri"/>
            </a:endParaRPr>
          </a:p>
          <a:p>
            <a:pPr algn="just" marL="12700" marR="9525" indent="228600">
              <a:lnSpc>
                <a:spcPct val="115999"/>
              </a:lnSpc>
            </a:pP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However,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different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groups,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well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individuals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representing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them,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differ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following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patterns: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92385" y="4803533"/>
            <a:ext cx="3540760" cy="447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17500" marR="5080" indent="-304800">
              <a:lnSpc>
                <a:spcPct val="115900"/>
              </a:lnSpc>
              <a:spcBef>
                <a:spcPts val="100"/>
              </a:spcBef>
              <a:buAutoNum type="arabicPeriod"/>
              <a:tabLst>
                <a:tab pos="317500" algn="l"/>
              </a:tabLst>
            </a:pP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Sporophytic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generation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represented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only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one-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celled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zygote.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There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no</a:t>
            </a:r>
            <a:r>
              <a:rPr dirty="0" sz="1050" spc="4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free-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living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sporophytes.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Meiosis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results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spores.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spores divide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mitotically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gametophyte.</a:t>
            </a:r>
            <a:r>
              <a:rPr dirty="0" sz="1050" spc="1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dominant,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photosynthetic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phase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plants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is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free-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living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gametophyte.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kind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cycle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termed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haplontic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Many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-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31F1F"/>
                </a:solidFill>
                <a:latin typeface="Calibri"/>
                <a:cs typeface="Calibri"/>
              </a:rPr>
              <a:t>Volvox, </a:t>
            </a:r>
            <a:r>
              <a:rPr dirty="0" sz="1050" spc="85" i="1">
                <a:solidFill>
                  <a:srgbClr val="231F1F"/>
                </a:solidFill>
                <a:latin typeface="Calibri"/>
                <a:cs typeface="Calibri"/>
              </a:rPr>
              <a:t>Spirogyra</a:t>
            </a:r>
            <a:r>
              <a:rPr dirty="0" sz="1050" spc="28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species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 i="1">
                <a:solidFill>
                  <a:srgbClr val="231F1F"/>
                </a:solidFill>
                <a:latin typeface="Calibri"/>
                <a:cs typeface="Calibri"/>
              </a:rPr>
              <a:t>Chlamydomonas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represent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pattern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3.7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a).</a:t>
            </a:r>
            <a:endParaRPr sz="1050">
              <a:latin typeface="Calibri"/>
              <a:cs typeface="Calibri"/>
            </a:endParaRPr>
          </a:p>
          <a:p>
            <a:pPr algn="just" marL="317500" marR="8890" indent="-304800">
              <a:lnSpc>
                <a:spcPct val="115900"/>
              </a:lnSpc>
              <a:buAutoNum type="arabicPeriod"/>
              <a:tabLst>
                <a:tab pos="317500" algn="l"/>
              </a:tabLst>
            </a:pP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extreme,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type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wherein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diploid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dominant,</a:t>
            </a:r>
            <a:r>
              <a:rPr dirty="0" sz="1050" spc="3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photosynthetic,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independent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phase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plant.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gametophytic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phase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represented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single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few-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celled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gametophyte.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kind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50" spc="3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is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termed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alga,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 i="1">
                <a:solidFill>
                  <a:srgbClr val="231F1F"/>
                </a:solidFill>
                <a:latin typeface="Calibri"/>
                <a:cs typeface="Calibri"/>
              </a:rPr>
              <a:t>Fucus</a:t>
            </a:r>
            <a:r>
              <a:rPr dirty="0" sz="1050" spc="-2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sp.,</a:t>
            </a:r>
            <a:r>
              <a:rPr dirty="0" sz="1050" spc="-15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represents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pattern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(Fig.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3.7b).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addition,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all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seed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bearing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i.e.,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angiosperms,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follow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pattern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variations,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wherein,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gametophytic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phase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few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multi-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celled.</a:t>
            </a:r>
            <a:endParaRPr sz="1050">
              <a:latin typeface="Calibri"/>
              <a:cs typeface="Calibri"/>
            </a:endParaRPr>
          </a:p>
          <a:p>
            <a:pPr algn="just" marL="317500" marR="15240" indent="-304800">
              <a:lnSpc>
                <a:spcPct val="115900"/>
              </a:lnSpc>
              <a:buAutoNum type="arabicPeriod"/>
              <a:tabLst>
                <a:tab pos="317500" algn="l"/>
              </a:tabLst>
            </a:pP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pteridophytes,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interestingly,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exhibit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intermediate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condition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 b="1">
                <a:solidFill>
                  <a:srgbClr val="231F1F"/>
                </a:solidFill>
                <a:latin typeface="Calibri"/>
                <a:cs typeface="Calibri"/>
              </a:rPr>
              <a:t>(Haplo-</a:t>
            </a:r>
            <a:r>
              <a:rPr dirty="0" sz="1050" spc="85" b="1">
                <a:solidFill>
                  <a:srgbClr val="231F1F"/>
                </a:solidFill>
                <a:latin typeface="Calibri"/>
                <a:cs typeface="Calibri"/>
              </a:rPr>
              <a:t>diplontic)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;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both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phases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multicellular.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However,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differ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31F1F"/>
                </a:solidFill>
                <a:latin typeface="Calibri"/>
                <a:cs typeface="Calibri"/>
              </a:rPr>
              <a:t>their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dominant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phases.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27252" y="1573646"/>
            <a:ext cx="2212975" cy="2450465"/>
            <a:chOff x="1027252" y="1573646"/>
            <a:chExt cx="2212975" cy="2450465"/>
          </a:xfrm>
        </p:grpSpPr>
        <p:sp>
          <p:nvSpPr>
            <p:cNvPr id="21" name="object 21" descr=""/>
            <p:cNvSpPr/>
            <p:nvPr/>
          </p:nvSpPr>
          <p:spPr>
            <a:xfrm>
              <a:off x="1027252" y="1811333"/>
              <a:ext cx="2212975" cy="2212975"/>
            </a:xfrm>
            <a:custGeom>
              <a:avLst/>
              <a:gdLst/>
              <a:ahLst/>
              <a:cxnLst/>
              <a:rect l="l" t="t" r="r" b="b"/>
              <a:pathLst>
                <a:path w="2212975" h="2212975">
                  <a:moveTo>
                    <a:pt x="1106488" y="0"/>
                  </a:moveTo>
                  <a:lnTo>
                    <a:pt x="1058616" y="1025"/>
                  </a:lnTo>
                  <a:lnTo>
                    <a:pt x="1011252" y="4073"/>
                  </a:lnTo>
                  <a:lnTo>
                    <a:pt x="964440" y="9103"/>
                  </a:lnTo>
                  <a:lnTo>
                    <a:pt x="918221" y="16071"/>
                  </a:lnTo>
                  <a:lnTo>
                    <a:pt x="872637" y="24936"/>
                  </a:lnTo>
                  <a:lnTo>
                    <a:pt x="827731" y="35655"/>
                  </a:lnTo>
                  <a:lnTo>
                    <a:pt x="783543" y="48188"/>
                  </a:lnTo>
                  <a:lnTo>
                    <a:pt x="740117" y="62491"/>
                  </a:lnTo>
                  <a:lnTo>
                    <a:pt x="697494" y="78522"/>
                  </a:lnTo>
                  <a:lnTo>
                    <a:pt x="655717" y="96240"/>
                  </a:lnTo>
                  <a:lnTo>
                    <a:pt x="614827" y="115602"/>
                  </a:lnTo>
                  <a:lnTo>
                    <a:pt x="574867" y="136567"/>
                  </a:lnTo>
                  <a:lnTo>
                    <a:pt x="535879" y="159092"/>
                  </a:lnTo>
                  <a:lnTo>
                    <a:pt x="497904" y="183135"/>
                  </a:lnTo>
                  <a:lnTo>
                    <a:pt x="460985" y="208655"/>
                  </a:lnTo>
                  <a:lnTo>
                    <a:pt x="425164" y="235608"/>
                  </a:lnTo>
                  <a:lnTo>
                    <a:pt x="390483" y="263954"/>
                  </a:lnTo>
                  <a:lnTo>
                    <a:pt x="356984" y="293649"/>
                  </a:lnTo>
                  <a:lnTo>
                    <a:pt x="324709" y="324653"/>
                  </a:lnTo>
                  <a:lnTo>
                    <a:pt x="293700" y="356922"/>
                  </a:lnTo>
                  <a:lnTo>
                    <a:pt x="263999" y="390416"/>
                  </a:lnTo>
                  <a:lnTo>
                    <a:pt x="235649" y="425091"/>
                  </a:lnTo>
                  <a:lnTo>
                    <a:pt x="208690" y="460906"/>
                  </a:lnTo>
                  <a:lnTo>
                    <a:pt x="183167" y="497818"/>
                  </a:lnTo>
                  <a:lnTo>
                    <a:pt x="159119" y="535786"/>
                  </a:lnTo>
                  <a:lnTo>
                    <a:pt x="136590" y="574768"/>
                  </a:lnTo>
                  <a:lnTo>
                    <a:pt x="115622" y="614721"/>
                  </a:lnTo>
                  <a:lnTo>
                    <a:pt x="96256" y="655604"/>
                  </a:lnTo>
                  <a:lnTo>
                    <a:pt x="78536" y="697374"/>
                  </a:lnTo>
                  <a:lnTo>
                    <a:pt x="62501" y="739989"/>
                  </a:lnTo>
                  <a:lnTo>
                    <a:pt x="48196" y="783408"/>
                  </a:lnTo>
                  <a:lnTo>
                    <a:pt x="35662" y="827587"/>
                  </a:lnTo>
                  <a:lnTo>
                    <a:pt x="24940" y="872486"/>
                  </a:lnTo>
                  <a:lnTo>
                    <a:pt x="16074" y="918062"/>
                  </a:lnTo>
                  <a:lnTo>
                    <a:pt x="9104" y="964273"/>
                  </a:lnTo>
                  <a:lnTo>
                    <a:pt x="4074" y="1011077"/>
                  </a:lnTo>
                  <a:lnTo>
                    <a:pt x="1025" y="1058432"/>
                  </a:lnTo>
                  <a:lnTo>
                    <a:pt x="0" y="1106296"/>
                  </a:lnTo>
                  <a:lnTo>
                    <a:pt x="1025" y="1154160"/>
                  </a:lnTo>
                  <a:lnTo>
                    <a:pt x="4074" y="1201515"/>
                  </a:lnTo>
                  <a:lnTo>
                    <a:pt x="9104" y="1248319"/>
                  </a:lnTo>
                  <a:lnTo>
                    <a:pt x="16074" y="1294530"/>
                  </a:lnTo>
                  <a:lnTo>
                    <a:pt x="24940" y="1340106"/>
                  </a:lnTo>
                  <a:lnTo>
                    <a:pt x="35662" y="1385005"/>
                  </a:lnTo>
                  <a:lnTo>
                    <a:pt x="48196" y="1429185"/>
                  </a:lnTo>
                  <a:lnTo>
                    <a:pt x="62501" y="1472604"/>
                  </a:lnTo>
                  <a:lnTo>
                    <a:pt x="78536" y="1515219"/>
                  </a:lnTo>
                  <a:lnTo>
                    <a:pt x="96256" y="1556989"/>
                  </a:lnTo>
                  <a:lnTo>
                    <a:pt x="115622" y="1597872"/>
                  </a:lnTo>
                  <a:lnTo>
                    <a:pt x="136590" y="1637826"/>
                  </a:lnTo>
                  <a:lnTo>
                    <a:pt x="159119" y="1676808"/>
                  </a:lnTo>
                  <a:lnTo>
                    <a:pt x="183167" y="1714776"/>
                  </a:lnTo>
                  <a:lnTo>
                    <a:pt x="208690" y="1751689"/>
                  </a:lnTo>
                  <a:lnTo>
                    <a:pt x="235649" y="1787504"/>
                  </a:lnTo>
                  <a:lnTo>
                    <a:pt x="263999" y="1822179"/>
                  </a:lnTo>
                  <a:lnTo>
                    <a:pt x="293700" y="1855673"/>
                  </a:lnTo>
                  <a:lnTo>
                    <a:pt x="324709" y="1887943"/>
                  </a:lnTo>
                  <a:lnTo>
                    <a:pt x="356984" y="1918947"/>
                  </a:lnTo>
                  <a:lnTo>
                    <a:pt x="390483" y="1948643"/>
                  </a:lnTo>
                  <a:lnTo>
                    <a:pt x="425164" y="1976989"/>
                  </a:lnTo>
                  <a:lnTo>
                    <a:pt x="460985" y="2003942"/>
                  </a:lnTo>
                  <a:lnTo>
                    <a:pt x="497904" y="2029462"/>
                  </a:lnTo>
                  <a:lnTo>
                    <a:pt x="535879" y="2053506"/>
                  </a:lnTo>
                  <a:lnTo>
                    <a:pt x="574867" y="2076031"/>
                  </a:lnTo>
                  <a:lnTo>
                    <a:pt x="614827" y="2096996"/>
                  </a:lnTo>
                  <a:lnTo>
                    <a:pt x="655717" y="2116358"/>
                  </a:lnTo>
                  <a:lnTo>
                    <a:pt x="697494" y="2134077"/>
                  </a:lnTo>
                  <a:lnTo>
                    <a:pt x="740117" y="2150108"/>
                  </a:lnTo>
                  <a:lnTo>
                    <a:pt x="783543" y="2164411"/>
                  </a:lnTo>
                  <a:lnTo>
                    <a:pt x="827731" y="2176944"/>
                  </a:lnTo>
                  <a:lnTo>
                    <a:pt x="872637" y="2187663"/>
                  </a:lnTo>
                  <a:lnTo>
                    <a:pt x="918221" y="2196529"/>
                  </a:lnTo>
                  <a:lnTo>
                    <a:pt x="964440" y="2203497"/>
                  </a:lnTo>
                  <a:lnTo>
                    <a:pt x="1011252" y="2208526"/>
                  </a:lnTo>
                  <a:lnTo>
                    <a:pt x="1058616" y="2211575"/>
                  </a:lnTo>
                  <a:lnTo>
                    <a:pt x="1106488" y="2212600"/>
                  </a:lnTo>
                  <a:lnTo>
                    <a:pt x="1154360" y="2211575"/>
                  </a:lnTo>
                  <a:lnTo>
                    <a:pt x="1201724" y="2208526"/>
                  </a:lnTo>
                  <a:lnTo>
                    <a:pt x="1248537" y="2203497"/>
                  </a:lnTo>
                  <a:lnTo>
                    <a:pt x="1294756" y="2196529"/>
                  </a:lnTo>
                  <a:lnTo>
                    <a:pt x="1340340" y="2187663"/>
                  </a:lnTo>
                  <a:lnTo>
                    <a:pt x="1385247" y="2176944"/>
                  </a:lnTo>
                  <a:lnTo>
                    <a:pt x="1429435" y="2164411"/>
                  </a:lnTo>
                  <a:lnTo>
                    <a:pt x="1472861" y="2150108"/>
                  </a:lnTo>
                  <a:lnTo>
                    <a:pt x="1515484" y="2134077"/>
                  </a:lnTo>
                  <a:lnTo>
                    <a:pt x="1557261" y="2116358"/>
                  </a:lnTo>
                  <a:lnTo>
                    <a:pt x="1598151" y="2096996"/>
                  </a:lnTo>
                  <a:lnTo>
                    <a:pt x="1638111" y="2076031"/>
                  </a:lnTo>
                  <a:lnTo>
                    <a:pt x="1677100" y="2053506"/>
                  </a:lnTo>
                  <a:lnTo>
                    <a:pt x="1715074" y="2029462"/>
                  </a:lnTo>
                  <a:lnTo>
                    <a:pt x="1751993" y="2003942"/>
                  </a:lnTo>
                  <a:lnTo>
                    <a:pt x="1787814" y="1976989"/>
                  </a:lnTo>
                  <a:lnTo>
                    <a:pt x="1822495" y="1948643"/>
                  </a:lnTo>
                  <a:lnTo>
                    <a:pt x="1855994" y="1918947"/>
                  </a:lnTo>
                  <a:lnTo>
                    <a:pt x="1888269" y="1887943"/>
                  </a:lnTo>
                  <a:lnTo>
                    <a:pt x="1919278" y="1855673"/>
                  </a:lnTo>
                  <a:lnTo>
                    <a:pt x="1948979" y="1822179"/>
                  </a:lnTo>
                  <a:lnTo>
                    <a:pt x="1977329" y="1787504"/>
                  </a:lnTo>
                  <a:lnTo>
                    <a:pt x="2004287" y="1751689"/>
                  </a:lnTo>
                  <a:lnTo>
                    <a:pt x="2029811" y="1714776"/>
                  </a:lnTo>
                  <a:lnTo>
                    <a:pt x="2053858" y="1676808"/>
                  </a:lnTo>
                  <a:lnTo>
                    <a:pt x="2076387" y="1637826"/>
                  </a:lnTo>
                  <a:lnTo>
                    <a:pt x="2097355" y="1597872"/>
                  </a:lnTo>
                  <a:lnTo>
                    <a:pt x="2116720" y="1556989"/>
                  </a:lnTo>
                  <a:lnTo>
                    <a:pt x="2134441" y="1515219"/>
                  </a:lnTo>
                  <a:lnTo>
                    <a:pt x="2150475" y="1472604"/>
                  </a:lnTo>
                  <a:lnTo>
                    <a:pt x="2164780" y="1429185"/>
                  </a:lnTo>
                  <a:lnTo>
                    <a:pt x="2177314" y="1385005"/>
                  </a:lnTo>
                  <a:lnTo>
                    <a:pt x="2188036" y="1340106"/>
                  </a:lnTo>
                  <a:lnTo>
                    <a:pt x="2196902" y="1294530"/>
                  </a:lnTo>
                  <a:lnTo>
                    <a:pt x="2203871" y="1248319"/>
                  </a:lnTo>
                  <a:lnTo>
                    <a:pt x="2208901" y="1201515"/>
                  </a:lnTo>
                  <a:lnTo>
                    <a:pt x="2211950" y="1154160"/>
                  </a:lnTo>
                  <a:lnTo>
                    <a:pt x="2212976" y="1106296"/>
                  </a:lnTo>
                  <a:lnTo>
                    <a:pt x="2211950" y="1058432"/>
                  </a:lnTo>
                  <a:lnTo>
                    <a:pt x="2208901" y="1011077"/>
                  </a:lnTo>
                  <a:lnTo>
                    <a:pt x="2203871" y="964273"/>
                  </a:lnTo>
                  <a:lnTo>
                    <a:pt x="2196902" y="918062"/>
                  </a:lnTo>
                  <a:lnTo>
                    <a:pt x="2188036" y="872486"/>
                  </a:lnTo>
                  <a:lnTo>
                    <a:pt x="2177314" y="827587"/>
                  </a:lnTo>
                  <a:lnTo>
                    <a:pt x="2164780" y="783408"/>
                  </a:lnTo>
                  <a:lnTo>
                    <a:pt x="2150475" y="739989"/>
                  </a:lnTo>
                  <a:lnTo>
                    <a:pt x="2134441" y="697374"/>
                  </a:lnTo>
                  <a:lnTo>
                    <a:pt x="2116720" y="655604"/>
                  </a:lnTo>
                  <a:lnTo>
                    <a:pt x="2097355" y="614721"/>
                  </a:lnTo>
                  <a:lnTo>
                    <a:pt x="2076387" y="574768"/>
                  </a:lnTo>
                  <a:lnTo>
                    <a:pt x="2053858" y="535786"/>
                  </a:lnTo>
                  <a:lnTo>
                    <a:pt x="2029811" y="497818"/>
                  </a:lnTo>
                  <a:lnTo>
                    <a:pt x="2004287" y="460906"/>
                  </a:lnTo>
                  <a:lnTo>
                    <a:pt x="1977329" y="425091"/>
                  </a:lnTo>
                  <a:lnTo>
                    <a:pt x="1948979" y="390416"/>
                  </a:lnTo>
                  <a:lnTo>
                    <a:pt x="1919278" y="356922"/>
                  </a:lnTo>
                  <a:lnTo>
                    <a:pt x="1888269" y="324653"/>
                  </a:lnTo>
                  <a:lnTo>
                    <a:pt x="1855994" y="293649"/>
                  </a:lnTo>
                  <a:lnTo>
                    <a:pt x="1822495" y="263954"/>
                  </a:lnTo>
                  <a:lnTo>
                    <a:pt x="1787814" y="235608"/>
                  </a:lnTo>
                  <a:lnTo>
                    <a:pt x="1751993" y="208655"/>
                  </a:lnTo>
                  <a:lnTo>
                    <a:pt x="1715074" y="183135"/>
                  </a:lnTo>
                  <a:lnTo>
                    <a:pt x="1677100" y="159092"/>
                  </a:lnTo>
                  <a:lnTo>
                    <a:pt x="1638111" y="136567"/>
                  </a:lnTo>
                  <a:lnTo>
                    <a:pt x="1598151" y="115602"/>
                  </a:lnTo>
                  <a:lnTo>
                    <a:pt x="1557261" y="96240"/>
                  </a:lnTo>
                  <a:lnTo>
                    <a:pt x="1515484" y="78522"/>
                  </a:lnTo>
                  <a:lnTo>
                    <a:pt x="1472861" y="62491"/>
                  </a:lnTo>
                  <a:lnTo>
                    <a:pt x="1429435" y="48188"/>
                  </a:lnTo>
                  <a:lnTo>
                    <a:pt x="1385247" y="35655"/>
                  </a:lnTo>
                  <a:lnTo>
                    <a:pt x="1340340" y="24936"/>
                  </a:lnTo>
                  <a:lnTo>
                    <a:pt x="1294756" y="16071"/>
                  </a:lnTo>
                  <a:lnTo>
                    <a:pt x="1248537" y="9103"/>
                  </a:lnTo>
                  <a:lnTo>
                    <a:pt x="1201724" y="4073"/>
                  </a:lnTo>
                  <a:lnTo>
                    <a:pt x="1154360" y="1025"/>
                  </a:lnTo>
                  <a:lnTo>
                    <a:pt x="1106488" y="0"/>
                  </a:lnTo>
                  <a:close/>
                </a:path>
              </a:pathLst>
            </a:custGeom>
            <a:solidFill>
              <a:srgbClr val="F8C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054027" y="2784289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4" h="0">
                  <a:moveTo>
                    <a:pt x="0" y="0"/>
                  </a:moveTo>
                  <a:lnTo>
                    <a:pt x="149974" y="0"/>
                  </a:lnTo>
                </a:path>
              </a:pathLst>
            </a:custGeom>
            <a:ln w="3621">
              <a:solidFill>
                <a:srgbClr val="F0C8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048172" y="2781376"/>
              <a:ext cx="161925" cy="0"/>
            </a:xfrm>
            <a:custGeom>
              <a:avLst/>
              <a:gdLst/>
              <a:ahLst/>
              <a:cxnLst/>
              <a:rect l="l" t="t" r="r" b="b"/>
              <a:pathLst>
                <a:path w="161925" h="0">
                  <a:moveTo>
                    <a:pt x="0" y="0"/>
                  </a:moveTo>
                  <a:lnTo>
                    <a:pt x="161684" y="0"/>
                  </a:lnTo>
                </a:path>
              </a:pathLst>
            </a:custGeom>
            <a:ln w="3621">
              <a:solidFill>
                <a:srgbClr val="F0C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731" y="1573646"/>
              <a:ext cx="1912090" cy="120655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261720" y="1582819"/>
              <a:ext cx="1770380" cy="1059180"/>
            </a:xfrm>
            <a:custGeom>
              <a:avLst/>
              <a:gdLst/>
              <a:ahLst/>
              <a:cxnLst/>
              <a:rect l="l" t="t" r="r" b="b"/>
              <a:pathLst>
                <a:path w="1770380" h="1059180">
                  <a:moveTo>
                    <a:pt x="862215" y="0"/>
                  </a:moveTo>
                  <a:lnTo>
                    <a:pt x="819236" y="1455"/>
                  </a:lnTo>
                  <a:lnTo>
                    <a:pt x="776460" y="4582"/>
                  </a:lnTo>
                  <a:lnTo>
                    <a:pt x="733912" y="9357"/>
                  </a:lnTo>
                  <a:lnTo>
                    <a:pt x="691615" y="15755"/>
                  </a:lnTo>
                  <a:lnTo>
                    <a:pt x="649593" y="23751"/>
                  </a:lnTo>
                  <a:lnTo>
                    <a:pt x="607868" y="33321"/>
                  </a:lnTo>
                  <a:lnTo>
                    <a:pt x="566464" y="44440"/>
                  </a:lnTo>
                  <a:lnTo>
                    <a:pt x="525406" y="57084"/>
                  </a:lnTo>
                  <a:lnTo>
                    <a:pt x="484716" y="71227"/>
                  </a:lnTo>
                  <a:lnTo>
                    <a:pt x="444419" y="86845"/>
                  </a:lnTo>
                  <a:lnTo>
                    <a:pt x="404537" y="103914"/>
                  </a:lnTo>
                  <a:lnTo>
                    <a:pt x="365094" y="122409"/>
                  </a:lnTo>
                  <a:lnTo>
                    <a:pt x="326114" y="142305"/>
                  </a:lnTo>
                  <a:lnTo>
                    <a:pt x="287620" y="163578"/>
                  </a:lnTo>
                  <a:lnTo>
                    <a:pt x="249636" y="186203"/>
                  </a:lnTo>
                  <a:lnTo>
                    <a:pt x="212185" y="210155"/>
                  </a:lnTo>
                  <a:lnTo>
                    <a:pt x="175291" y="235410"/>
                  </a:lnTo>
                  <a:lnTo>
                    <a:pt x="138978" y="261943"/>
                  </a:lnTo>
                  <a:lnTo>
                    <a:pt x="103269" y="289730"/>
                  </a:lnTo>
                  <a:lnTo>
                    <a:pt x="68187" y="318745"/>
                  </a:lnTo>
                  <a:lnTo>
                    <a:pt x="33756" y="348965"/>
                  </a:lnTo>
                  <a:lnTo>
                    <a:pt x="0" y="380364"/>
                  </a:lnTo>
                  <a:lnTo>
                    <a:pt x="380139" y="676751"/>
                  </a:lnTo>
                  <a:lnTo>
                    <a:pt x="598130" y="846227"/>
                  </a:lnTo>
                  <a:lnTo>
                    <a:pt x="736121" y="952404"/>
                  </a:lnTo>
                  <a:lnTo>
                    <a:pt x="876261" y="1058893"/>
                  </a:lnTo>
                  <a:lnTo>
                    <a:pt x="900048" y="1040906"/>
                  </a:lnTo>
                  <a:lnTo>
                    <a:pt x="926681" y="1021029"/>
                  </a:lnTo>
                  <a:lnTo>
                    <a:pt x="987745" y="976056"/>
                  </a:lnTo>
                  <a:lnTo>
                    <a:pt x="1021802" y="951184"/>
                  </a:lnTo>
                  <a:lnTo>
                    <a:pt x="1057961" y="924871"/>
                  </a:lnTo>
                  <a:lnTo>
                    <a:pt x="1096034" y="897229"/>
                  </a:lnTo>
                  <a:lnTo>
                    <a:pt x="1219881" y="807450"/>
                  </a:lnTo>
                  <a:lnTo>
                    <a:pt x="1263750" y="775613"/>
                  </a:lnTo>
                  <a:lnTo>
                    <a:pt x="1308602" y="743008"/>
                  </a:lnTo>
                  <a:lnTo>
                    <a:pt x="1354250" y="709746"/>
                  </a:lnTo>
                  <a:lnTo>
                    <a:pt x="1400508" y="675939"/>
                  </a:lnTo>
                  <a:lnTo>
                    <a:pt x="1447189" y="641700"/>
                  </a:lnTo>
                  <a:lnTo>
                    <a:pt x="1494108" y="607141"/>
                  </a:lnTo>
                  <a:lnTo>
                    <a:pt x="1541076" y="572374"/>
                  </a:lnTo>
                  <a:lnTo>
                    <a:pt x="1587909" y="537510"/>
                  </a:lnTo>
                  <a:lnTo>
                    <a:pt x="1634420" y="502663"/>
                  </a:lnTo>
                  <a:lnTo>
                    <a:pt x="1680421" y="467943"/>
                  </a:lnTo>
                  <a:lnTo>
                    <a:pt x="1725728" y="433464"/>
                  </a:lnTo>
                  <a:lnTo>
                    <a:pt x="1770152" y="399336"/>
                  </a:lnTo>
                  <a:lnTo>
                    <a:pt x="1728332" y="359986"/>
                  </a:lnTo>
                  <a:lnTo>
                    <a:pt x="1686221" y="322825"/>
                  </a:lnTo>
                  <a:lnTo>
                    <a:pt x="1643844" y="287829"/>
                  </a:lnTo>
                  <a:lnTo>
                    <a:pt x="1601222" y="254973"/>
                  </a:lnTo>
                  <a:lnTo>
                    <a:pt x="1558381" y="224233"/>
                  </a:lnTo>
                  <a:lnTo>
                    <a:pt x="1515344" y="195583"/>
                  </a:lnTo>
                  <a:lnTo>
                    <a:pt x="1472133" y="169000"/>
                  </a:lnTo>
                  <a:lnTo>
                    <a:pt x="1428773" y="144458"/>
                  </a:lnTo>
                  <a:lnTo>
                    <a:pt x="1385287" y="121933"/>
                  </a:lnTo>
                  <a:lnTo>
                    <a:pt x="1341699" y="101401"/>
                  </a:lnTo>
                  <a:lnTo>
                    <a:pt x="1298033" y="82837"/>
                  </a:lnTo>
                  <a:lnTo>
                    <a:pt x="1254311" y="66215"/>
                  </a:lnTo>
                  <a:lnTo>
                    <a:pt x="1210557" y="51512"/>
                  </a:lnTo>
                  <a:lnTo>
                    <a:pt x="1166796" y="38703"/>
                  </a:lnTo>
                  <a:lnTo>
                    <a:pt x="1123049" y="27764"/>
                  </a:lnTo>
                  <a:lnTo>
                    <a:pt x="1079342" y="18668"/>
                  </a:lnTo>
                  <a:lnTo>
                    <a:pt x="1035698" y="11393"/>
                  </a:lnTo>
                  <a:lnTo>
                    <a:pt x="992139" y="5913"/>
                  </a:lnTo>
                  <a:lnTo>
                    <a:pt x="948690" y="2204"/>
                  </a:lnTo>
                  <a:lnTo>
                    <a:pt x="905374" y="241"/>
                  </a:lnTo>
                  <a:lnTo>
                    <a:pt x="862215" y="0"/>
                  </a:lnTo>
                  <a:close/>
                </a:path>
              </a:pathLst>
            </a:custGeom>
            <a:solidFill>
              <a:srgbClr val="B1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57263" y="2240441"/>
              <a:ext cx="581660" cy="1605280"/>
            </a:xfrm>
            <a:custGeom>
              <a:avLst/>
              <a:gdLst/>
              <a:ahLst/>
              <a:cxnLst/>
              <a:rect l="l" t="t" r="r" b="b"/>
              <a:pathLst>
                <a:path w="581660" h="1605279">
                  <a:moveTo>
                    <a:pt x="296589" y="0"/>
                  </a:moveTo>
                  <a:lnTo>
                    <a:pt x="329257" y="35494"/>
                  </a:lnTo>
                  <a:lnTo>
                    <a:pt x="359875" y="71790"/>
                  </a:lnTo>
                  <a:lnTo>
                    <a:pt x="388457" y="108836"/>
                  </a:lnTo>
                  <a:lnTo>
                    <a:pt x="415015" y="146578"/>
                  </a:lnTo>
                  <a:lnTo>
                    <a:pt x="439560" y="184965"/>
                  </a:lnTo>
                  <a:lnTo>
                    <a:pt x="462105" y="223943"/>
                  </a:lnTo>
                  <a:lnTo>
                    <a:pt x="482661" y="263462"/>
                  </a:lnTo>
                  <a:lnTo>
                    <a:pt x="501241" y="303469"/>
                  </a:lnTo>
                  <a:lnTo>
                    <a:pt x="517857" y="343911"/>
                  </a:lnTo>
                  <a:lnTo>
                    <a:pt x="532520" y="384736"/>
                  </a:lnTo>
                  <a:lnTo>
                    <a:pt x="545243" y="425892"/>
                  </a:lnTo>
                  <a:lnTo>
                    <a:pt x="556039" y="467327"/>
                  </a:lnTo>
                  <a:lnTo>
                    <a:pt x="564918" y="508988"/>
                  </a:lnTo>
                  <a:lnTo>
                    <a:pt x="571892" y="550823"/>
                  </a:lnTo>
                  <a:lnTo>
                    <a:pt x="576975" y="592780"/>
                  </a:lnTo>
                  <a:lnTo>
                    <a:pt x="580178" y="634806"/>
                  </a:lnTo>
                  <a:lnTo>
                    <a:pt x="581513" y="676850"/>
                  </a:lnTo>
                  <a:lnTo>
                    <a:pt x="580992" y="718858"/>
                  </a:lnTo>
                  <a:lnTo>
                    <a:pt x="578627" y="760779"/>
                  </a:lnTo>
                  <a:lnTo>
                    <a:pt x="574430" y="802561"/>
                  </a:lnTo>
                  <a:lnTo>
                    <a:pt x="568413" y="844150"/>
                  </a:lnTo>
                  <a:lnTo>
                    <a:pt x="560589" y="885496"/>
                  </a:lnTo>
                  <a:lnTo>
                    <a:pt x="550969" y="926544"/>
                  </a:lnTo>
                  <a:lnTo>
                    <a:pt x="539565" y="967245"/>
                  </a:lnTo>
                  <a:lnTo>
                    <a:pt x="526389" y="1007544"/>
                  </a:lnTo>
                  <a:lnTo>
                    <a:pt x="511454" y="1047390"/>
                  </a:lnTo>
                  <a:lnTo>
                    <a:pt x="494771" y="1086730"/>
                  </a:lnTo>
                  <a:lnTo>
                    <a:pt x="476353" y="1125512"/>
                  </a:lnTo>
                  <a:lnTo>
                    <a:pt x="456211" y="1163684"/>
                  </a:lnTo>
                  <a:lnTo>
                    <a:pt x="434358" y="1201194"/>
                  </a:lnTo>
                  <a:lnTo>
                    <a:pt x="410805" y="1237989"/>
                  </a:lnTo>
                  <a:lnTo>
                    <a:pt x="385565" y="1274018"/>
                  </a:lnTo>
                  <a:lnTo>
                    <a:pt x="358650" y="1309227"/>
                  </a:lnTo>
                  <a:lnTo>
                    <a:pt x="330071" y="1343564"/>
                  </a:lnTo>
                  <a:lnTo>
                    <a:pt x="299841" y="1376978"/>
                  </a:lnTo>
                  <a:lnTo>
                    <a:pt x="267972" y="1409415"/>
                  </a:lnTo>
                  <a:lnTo>
                    <a:pt x="234475" y="1440824"/>
                  </a:lnTo>
                  <a:lnTo>
                    <a:pt x="199364" y="1471153"/>
                  </a:lnTo>
                  <a:lnTo>
                    <a:pt x="162649" y="1500348"/>
                  </a:lnTo>
                  <a:lnTo>
                    <a:pt x="124343" y="1528359"/>
                  </a:lnTo>
                  <a:lnTo>
                    <a:pt x="84458" y="1555132"/>
                  </a:lnTo>
                  <a:lnTo>
                    <a:pt x="43006" y="1580615"/>
                  </a:lnTo>
                  <a:lnTo>
                    <a:pt x="0" y="1604756"/>
                  </a:lnTo>
                </a:path>
              </a:pathLst>
            </a:custGeom>
            <a:ln w="609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9142" y="3792498"/>
              <a:ext cx="93241" cy="7311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136265" y="2812411"/>
              <a:ext cx="509905" cy="996950"/>
            </a:xfrm>
            <a:custGeom>
              <a:avLst/>
              <a:gdLst/>
              <a:ahLst/>
              <a:cxnLst/>
              <a:rect l="l" t="t" r="r" b="b"/>
              <a:pathLst>
                <a:path w="509905" h="996950">
                  <a:moveTo>
                    <a:pt x="509283" y="996535"/>
                  </a:moveTo>
                  <a:lnTo>
                    <a:pt x="471307" y="971559"/>
                  </a:lnTo>
                  <a:lnTo>
                    <a:pt x="434155" y="944329"/>
                  </a:lnTo>
                  <a:lnTo>
                    <a:pt x="397916" y="914956"/>
                  </a:lnTo>
                  <a:lnTo>
                    <a:pt x="362678" y="883552"/>
                  </a:lnTo>
                  <a:lnTo>
                    <a:pt x="328528" y="850228"/>
                  </a:lnTo>
                  <a:lnTo>
                    <a:pt x="295556" y="815095"/>
                  </a:lnTo>
                  <a:lnTo>
                    <a:pt x="263848" y="778263"/>
                  </a:lnTo>
                  <a:lnTo>
                    <a:pt x="233494" y="739845"/>
                  </a:lnTo>
                  <a:lnTo>
                    <a:pt x="204582" y="699950"/>
                  </a:lnTo>
                  <a:lnTo>
                    <a:pt x="177199" y="658691"/>
                  </a:lnTo>
                  <a:lnTo>
                    <a:pt x="151434" y="616178"/>
                  </a:lnTo>
                  <a:lnTo>
                    <a:pt x="127375" y="572523"/>
                  </a:lnTo>
                  <a:lnTo>
                    <a:pt x="105110" y="527837"/>
                  </a:lnTo>
                  <a:lnTo>
                    <a:pt x="84727" y="482230"/>
                  </a:lnTo>
                  <a:lnTo>
                    <a:pt x="66314" y="435814"/>
                  </a:lnTo>
                  <a:lnTo>
                    <a:pt x="49960" y="388701"/>
                  </a:lnTo>
                  <a:lnTo>
                    <a:pt x="35752" y="341000"/>
                  </a:lnTo>
                  <a:lnTo>
                    <a:pt x="23780" y="292824"/>
                  </a:lnTo>
                  <a:lnTo>
                    <a:pt x="14130" y="244283"/>
                  </a:lnTo>
                  <a:lnTo>
                    <a:pt x="6891" y="195489"/>
                  </a:lnTo>
                  <a:lnTo>
                    <a:pt x="2152" y="146552"/>
                  </a:lnTo>
                  <a:lnTo>
                    <a:pt x="0" y="97584"/>
                  </a:lnTo>
                  <a:lnTo>
                    <a:pt x="523" y="48696"/>
                  </a:lnTo>
                  <a:lnTo>
                    <a:pt x="3810" y="0"/>
                  </a:lnTo>
                </a:path>
              </a:pathLst>
            </a:custGeom>
            <a:ln w="609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76211" y="2214010"/>
              <a:ext cx="248285" cy="405765"/>
            </a:xfrm>
            <a:custGeom>
              <a:avLst/>
              <a:gdLst/>
              <a:ahLst/>
              <a:cxnLst/>
              <a:rect l="l" t="t" r="r" b="b"/>
              <a:pathLst>
                <a:path w="248284" h="405764">
                  <a:moveTo>
                    <a:pt x="0" y="405352"/>
                  </a:moveTo>
                  <a:lnTo>
                    <a:pt x="13004" y="364278"/>
                  </a:lnTo>
                  <a:lnTo>
                    <a:pt x="28801" y="322378"/>
                  </a:lnTo>
                  <a:lnTo>
                    <a:pt x="47327" y="280007"/>
                  </a:lnTo>
                  <a:lnTo>
                    <a:pt x="68517" y="237519"/>
                  </a:lnTo>
                  <a:lnTo>
                    <a:pt x="92307" y="195268"/>
                  </a:lnTo>
                  <a:lnTo>
                    <a:pt x="118634" y="153611"/>
                  </a:lnTo>
                  <a:lnTo>
                    <a:pt x="147432" y="112900"/>
                  </a:lnTo>
                  <a:lnTo>
                    <a:pt x="178638" y="73492"/>
                  </a:lnTo>
                  <a:lnTo>
                    <a:pt x="212188" y="35740"/>
                  </a:lnTo>
                  <a:lnTo>
                    <a:pt x="248018" y="0"/>
                  </a:lnTo>
                </a:path>
              </a:pathLst>
            </a:custGeom>
            <a:ln w="609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7795" y="2184457"/>
              <a:ext cx="87976" cy="8569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265936" y="2229287"/>
              <a:ext cx="143510" cy="401955"/>
            </a:xfrm>
            <a:custGeom>
              <a:avLst/>
              <a:gdLst/>
              <a:ahLst/>
              <a:cxnLst/>
              <a:rect l="l" t="t" r="r" b="b"/>
              <a:pathLst>
                <a:path w="143509" h="401955">
                  <a:moveTo>
                    <a:pt x="0" y="401586"/>
                  </a:moveTo>
                  <a:lnTo>
                    <a:pt x="1842" y="358860"/>
                  </a:lnTo>
                  <a:lnTo>
                    <a:pt x="6743" y="314666"/>
                  </a:lnTo>
                  <a:lnTo>
                    <a:pt x="14900" y="269429"/>
                  </a:lnTo>
                  <a:lnTo>
                    <a:pt x="26509" y="223577"/>
                  </a:lnTo>
                  <a:lnTo>
                    <a:pt x="41767" y="177535"/>
                  </a:lnTo>
                  <a:lnTo>
                    <a:pt x="60872" y="131730"/>
                  </a:lnTo>
                  <a:lnTo>
                    <a:pt x="84020" y="86588"/>
                  </a:lnTo>
                  <a:lnTo>
                    <a:pt x="111409" y="42536"/>
                  </a:lnTo>
                  <a:lnTo>
                    <a:pt x="143235" y="0"/>
                  </a:lnTo>
                </a:path>
              </a:pathLst>
            </a:custGeom>
            <a:ln w="6096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7314" y="2013404"/>
              <a:ext cx="333659" cy="345791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 rot="2160000">
            <a:off x="1310577" y="2063455"/>
            <a:ext cx="502997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80"/>
              </a:lnSpc>
            </a:pPr>
            <a:r>
              <a:rPr dirty="0" sz="850" spc="95">
                <a:solidFill>
                  <a:srgbClr val="231F1F"/>
                </a:solidFill>
                <a:latin typeface="Calibri"/>
                <a:cs typeface="Calibri"/>
              </a:rPr>
              <a:t>Syngamy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902369" y="1724297"/>
            <a:ext cx="374650" cy="287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83820" marR="5080" indent="-71755">
              <a:lnSpc>
                <a:spcPct val="100000"/>
              </a:lnSpc>
              <a:spcBef>
                <a:spcPts val="110"/>
              </a:spcBef>
            </a:pPr>
            <a:r>
              <a:rPr dirty="0" sz="850" spc="50">
                <a:solidFill>
                  <a:srgbClr val="231F1F"/>
                </a:solidFill>
                <a:latin typeface="Calibri"/>
                <a:cs typeface="Calibri"/>
              </a:rPr>
              <a:t>Zygote </a:t>
            </a:r>
            <a:r>
              <a:rPr dirty="0" sz="850" spc="35">
                <a:solidFill>
                  <a:srgbClr val="231F1F"/>
                </a:solidFill>
                <a:latin typeface="Calibri"/>
                <a:cs typeface="Calibri"/>
              </a:rPr>
              <a:t>(2n)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955715" y="2151855"/>
            <a:ext cx="390525" cy="287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5730" marR="5080" indent="-113664">
              <a:lnSpc>
                <a:spcPct val="100000"/>
              </a:lnSpc>
              <a:spcBef>
                <a:spcPts val="110"/>
              </a:spcBef>
            </a:pPr>
            <a:r>
              <a:rPr dirty="0" sz="850" spc="75">
                <a:solidFill>
                  <a:srgbClr val="231F1F"/>
                </a:solidFill>
                <a:latin typeface="Calibri"/>
                <a:cs typeface="Calibri"/>
              </a:rPr>
              <a:t>Spores </a:t>
            </a:r>
            <a:r>
              <a:rPr dirty="0" sz="850" spc="-25">
                <a:solidFill>
                  <a:srgbClr val="231F1F"/>
                </a:solidFill>
                <a:latin typeface="Calibri"/>
                <a:cs typeface="Calibri"/>
              </a:rPr>
              <a:t>(n)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849883" y="2915392"/>
            <a:ext cx="60134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Haplontic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076902" y="2273369"/>
            <a:ext cx="10858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4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755065" y="2670295"/>
            <a:ext cx="11620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140">
                <a:solidFill>
                  <a:srgbClr val="231F1F"/>
                </a:solidFill>
                <a:latin typeface="Calibri"/>
                <a:cs typeface="Calibri"/>
              </a:rPr>
              <a:t>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92409" y="2599112"/>
            <a:ext cx="833119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60">
                <a:solidFill>
                  <a:srgbClr val="231F1F"/>
                </a:solidFill>
                <a:latin typeface="Calibri"/>
                <a:cs typeface="Calibri"/>
              </a:rPr>
              <a:t>Gametogenesis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506464" y="1828526"/>
            <a:ext cx="424815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55">
                <a:solidFill>
                  <a:srgbClr val="231F1F"/>
                </a:solidFill>
                <a:latin typeface="Calibri"/>
                <a:cs typeface="Calibri"/>
              </a:rPr>
              <a:t>Meiosis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725004" y="3728484"/>
            <a:ext cx="739140" cy="287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9720" marR="5080" indent="-287655">
              <a:lnSpc>
                <a:spcPct val="100000"/>
              </a:lnSpc>
              <a:spcBef>
                <a:spcPts val="110"/>
              </a:spcBef>
            </a:pPr>
            <a:r>
              <a:rPr dirty="0" sz="850" spc="60">
                <a:solidFill>
                  <a:srgbClr val="231F1F"/>
                </a:solidFill>
                <a:latin typeface="Calibri"/>
                <a:cs typeface="Calibri"/>
              </a:rPr>
              <a:t>Gametophyte </a:t>
            </a:r>
            <a:r>
              <a:rPr dirty="0" sz="850" spc="-25">
                <a:solidFill>
                  <a:srgbClr val="231F1F"/>
                </a:solidFill>
                <a:latin typeface="Calibri"/>
                <a:cs typeface="Calibri"/>
              </a:rPr>
              <a:t>(n)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212583" y="1919718"/>
            <a:ext cx="1852295" cy="730885"/>
            <a:chOff x="1212583" y="1919718"/>
            <a:chExt cx="1852295" cy="730885"/>
          </a:xfrm>
        </p:grpSpPr>
        <p:sp>
          <p:nvSpPr>
            <p:cNvPr id="43" name="object 43" descr=""/>
            <p:cNvSpPr/>
            <p:nvPr/>
          </p:nvSpPr>
          <p:spPr>
            <a:xfrm>
              <a:off x="1215631" y="1922766"/>
              <a:ext cx="1846580" cy="724535"/>
            </a:xfrm>
            <a:custGeom>
              <a:avLst/>
              <a:gdLst/>
              <a:ahLst/>
              <a:cxnLst/>
              <a:rect l="l" t="t" r="r" b="b"/>
              <a:pathLst>
                <a:path w="1846580" h="724535">
                  <a:moveTo>
                    <a:pt x="1846126" y="38155"/>
                  </a:moveTo>
                  <a:lnTo>
                    <a:pt x="923532" y="724163"/>
                  </a:lnTo>
                  <a:lnTo>
                    <a:pt x="0" y="0"/>
                  </a:lnTo>
                </a:path>
              </a:pathLst>
            </a:custGeom>
            <a:ln w="609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600751" y="1954669"/>
              <a:ext cx="294640" cy="111125"/>
            </a:xfrm>
            <a:custGeom>
              <a:avLst/>
              <a:gdLst/>
              <a:ahLst/>
              <a:cxnLst/>
              <a:rect l="l" t="t" r="r" b="b"/>
              <a:pathLst>
                <a:path w="294639" h="111125">
                  <a:moveTo>
                    <a:pt x="0" y="110841"/>
                  </a:moveTo>
                  <a:lnTo>
                    <a:pt x="48005" y="82987"/>
                  </a:lnTo>
                  <a:lnTo>
                    <a:pt x="96494" y="59462"/>
                  </a:lnTo>
                  <a:lnTo>
                    <a:pt x="145417" y="39833"/>
                  </a:lnTo>
                  <a:lnTo>
                    <a:pt x="194728" y="23667"/>
                  </a:lnTo>
                  <a:lnTo>
                    <a:pt x="244377" y="10534"/>
                  </a:lnTo>
                  <a:lnTo>
                    <a:pt x="294315" y="0"/>
                  </a:lnTo>
                </a:path>
              </a:pathLst>
            </a:custGeom>
            <a:ln w="609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84171" y="192403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0"/>
                  </a:moveTo>
                  <a:lnTo>
                    <a:pt x="11831" y="63169"/>
                  </a:lnTo>
                  <a:lnTo>
                    <a:pt x="63312" y="20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3205" y="1935989"/>
              <a:ext cx="273833" cy="75655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2975239" y="3627810"/>
            <a:ext cx="16954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98821" y="4123302"/>
            <a:ext cx="2075814" cy="2247265"/>
            <a:chOff x="1098821" y="4123302"/>
            <a:chExt cx="2075814" cy="2247265"/>
          </a:xfrm>
        </p:grpSpPr>
        <p:sp>
          <p:nvSpPr>
            <p:cNvPr id="49" name="object 49" descr=""/>
            <p:cNvSpPr/>
            <p:nvPr/>
          </p:nvSpPr>
          <p:spPr>
            <a:xfrm>
              <a:off x="1138713" y="4126321"/>
              <a:ext cx="2032635" cy="2032000"/>
            </a:xfrm>
            <a:custGeom>
              <a:avLst/>
              <a:gdLst/>
              <a:ahLst/>
              <a:cxnLst/>
              <a:rect l="l" t="t" r="r" b="b"/>
              <a:pathLst>
                <a:path w="2032635" h="2032000">
                  <a:moveTo>
                    <a:pt x="1016138" y="0"/>
                  </a:moveTo>
                  <a:lnTo>
                    <a:pt x="968427" y="1109"/>
                  </a:lnTo>
                  <a:lnTo>
                    <a:pt x="921271" y="4404"/>
                  </a:lnTo>
                  <a:lnTo>
                    <a:pt x="874720" y="9836"/>
                  </a:lnTo>
                  <a:lnTo>
                    <a:pt x="828822" y="17354"/>
                  </a:lnTo>
                  <a:lnTo>
                    <a:pt x="783627" y="26910"/>
                  </a:lnTo>
                  <a:lnTo>
                    <a:pt x="739186" y="38454"/>
                  </a:lnTo>
                  <a:lnTo>
                    <a:pt x="695546" y="51937"/>
                  </a:lnTo>
                  <a:lnTo>
                    <a:pt x="652758" y="67309"/>
                  </a:lnTo>
                  <a:lnTo>
                    <a:pt x="610870" y="84521"/>
                  </a:lnTo>
                  <a:lnTo>
                    <a:pt x="569934" y="103524"/>
                  </a:lnTo>
                  <a:lnTo>
                    <a:pt x="529997" y="124267"/>
                  </a:lnTo>
                  <a:lnTo>
                    <a:pt x="491109" y="146702"/>
                  </a:lnTo>
                  <a:lnTo>
                    <a:pt x="453320" y="170779"/>
                  </a:lnTo>
                  <a:lnTo>
                    <a:pt x="416679" y="196449"/>
                  </a:lnTo>
                  <a:lnTo>
                    <a:pt x="381236" y="223662"/>
                  </a:lnTo>
                  <a:lnTo>
                    <a:pt x="347040" y="252369"/>
                  </a:lnTo>
                  <a:lnTo>
                    <a:pt x="314140" y="282520"/>
                  </a:lnTo>
                  <a:lnTo>
                    <a:pt x="282586" y="314066"/>
                  </a:lnTo>
                  <a:lnTo>
                    <a:pt x="252428" y="346958"/>
                  </a:lnTo>
                  <a:lnTo>
                    <a:pt x="223714" y="381146"/>
                  </a:lnTo>
                  <a:lnTo>
                    <a:pt x="196495" y="416581"/>
                  </a:lnTo>
                  <a:lnTo>
                    <a:pt x="170819" y="453213"/>
                  </a:lnTo>
                  <a:lnTo>
                    <a:pt x="146736" y="490993"/>
                  </a:lnTo>
                  <a:lnTo>
                    <a:pt x="124296" y="529871"/>
                  </a:lnTo>
                  <a:lnTo>
                    <a:pt x="103548" y="569799"/>
                  </a:lnTo>
                  <a:lnTo>
                    <a:pt x="84541" y="610726"/>
                  </a:lnTo>
                  <a:lnTo>
                    <a:pt x="67325" y="652603"/>
                  </a:lnTo>
                  <a:lnTo>
                    <a:pt x="51949" y="695381"/>
                  </a:lnTo>
                  <a:lnTo>
                    <a:pt x="38463" y="739010"/>
                  </a:lnTo>
                  <a:lnTo>
                    <a:pt x="26917" y="783442"/>
                  </a:lnTo>
                  <a:lnTo>
                    <a:pt x="17358" y="828625"/>
                  </a:lnTo>
                  <a:lnTo>
                    <a:pt x="9838" y="874512"/>
                  </a:lnTo>
                  <a:lnTo>
                    <a:pt x="4405" y="921052"/>
                  </a:lnTo>
                  <a:lnTo>
                    <a:pt x="1109" y="968197"/>
                  </a:lnTo>
                  <a:lnTo>
                    <a:pt x="0" y="1015896"/>
                  </a:lnTo>
                  <a:lnTo>
                    <a:pt x="1109" y="1063596"/>
                  </a:lnTo>
                  <a:lnTo>
                    <a:pt x="4405" y="1110741"/>
                  </a:lnTo>
                  <a:lnTo>
                    <a:pt x="9838" y="1157282"/>
                  </a:lnTo>
                  <a:lnTo>
                    <a:pt x="17358" y="1203170"/>
                  </a:lnTo>
                  <a:lnTo>
                    <a:pt x="26917" y="1248354"/>
                  </a:lnTo>
                  <a:lnTo>
                    <a:pt x="38463" y="1292785"/>
                  </a:lnTo>
                  <a:lnTo>
                    <a:pt x="51949" y="1336415"/>
                  </a:lnTo>
                  <a:lnTo>
                    <a:pt x="67325" y="1379193"/>
                  </a:lnTo>
                  <a:lnTo>
                    <a:pt x="84541" y="1421071"/>
                  </a:lnTo>
                  <a:lnTo>
                    <a:pt x="103548" y="1461998"/>
                  </a:lnTo>
                  <a:lnTo>
                    <a:pt x="124296" y="1501926"/>
                  </a:lnTo>
                  <a:lnTo>
                    <a:pt x="146736" y="1540805"/>
                  </a:lnTo>
                  <a:lnTo>
                    <a:pt x="170819" y="1578585"/>
                  </a:lnTo>
                  <a:lnTo>
                    <a:pt x="196495" y="1615217"/>
                  </a:lnTo>
                  <a:lnTo>
                    <a:pt x="223714" y="1650652"/>
                  </a:lnTo>
                  <a:lnTo>
                    <a:pt x="252428" y="1684841"/>
                  </a:lnTo>
                  <a:lnTo>
                    <a:pt x="282586" y="1717733"/>
                  </a:lnTo>
                  <a:lnTo>
                    <a:pt x="314140" y="1749279"/>
                  </a:lnTo>
                  <a:lnTo>
                    <a:pt x="347040" y="1779431"/>
                  </a:lnTo>
                  <a:lnTo>
                    <a:pt x="381236" y="1808138"/>
                  </a:lnTo>
                  <a:lnTo>
                    <a:pt x="416679" y="1835351"/>
                  </a:lnTo>
                  <a:lnTo>
                    <a:pt x="453320" y="1861021"/>
                  </a:lnTo>
                  <a:lnTo>
                    <a:pt x="491109" y="1885098"/>
                  </a:lnTo>
                  <a:lnTo>
                    <a:pt x="529997" y="1907533"/>
                  </a:lnTo>
                  <a:lnTo>
                    <a:pt x="569934" y="1928276"/>
                  </a:lnTo>
                  <a:lnTo>
                    <a:pt x="610870" y="1947278"/>
                  </a:lnTo>
                  <a:lnTo>
                    <a:pt x="652758" y="1964490"/>
                  </a:lnTo>
                  <a:lnTo>
                    <a:pt x="695546" y="1979863"/>
                  </a:lnTo>
                  <a:lnTo>
                    <a:pt x="739186" y="1993345"/>
                  </a:lnTo>
                  <a:lnTo>
                    <a:pt x="783627" y="2004890"/>
                  </a:lnTo>
                  <a:lnTo>
                    <a:pt x="828822" y="2014446"/>
                  </a:lnTo>
                  <a:lnTo>
                    <a:pt x="874720" y="2021964"/>
                  </a:lnTo>
                  <a:lnTo>
                    <a:pt x="921271" y="2027396"/>
                  </a:lnTo>
                  <a:lnTo>
                    <a:pt x="968427" y="2030691"/>
                  </a:lnTo>
                  <a:lnTo>
                    <a:pt x="1016138" y="2031800"/>
                  </a:lnTo>
                  <a:lnTo>
                    <a:pt x="1063849" y="2030691"/>
                  </a:lnTo>
                  <a:lnTo>
                    <a:pt x="1111005" y="2027396"/>
                  </a:lnTo>
                  <a:lnTo>
                    <a:pt x="1157556" y="2021964"/>
                  </a:lnTo>
                  <a:lnTo>
                    <a:pt x="1203454" y="2014446"/>
                  </a:lnTo>
                  <a:lnTo>
                    <a:pt x="1248649" y="2004890"/>
                  </a:lnTo>
                  <a:lnTo>
                    <a:pt x="1293091" y="1993345"/>
                  </a:lnTo>
                  <a:lnTo>
                    <a:pt x="1336731" y="1979863"/>
                  </a:lnTo>
                  <a:lnTo>
                    <a:pt x="1379519" y="1964490"/>
                  </a:lnTo>
                  <a:lnTo>
                    <a:pt x="1421407" y="1947278"/>
                  </a:lnTo>
                  <a:lnTo>
                    <a:pt x="1462344" y="1928276"/>
                  </a:lnTo>
                  <a:lnTo>
                    <a:pt x="1502281" y="1907533"/>
                  </a:lnTo>
                  <a:lnTo>
                    <a:pt x="1541169" y="1885098"/>
                  </a:lnTo>
                  <a:lnTo>
                    <a:pt x="1578958" y="1861021"/>
                  </a:lnTo>
                  <a:lnTo>
                    <a:pt x="1615599" y="1835351"/>
                  </a:lnTo>
                  <a:lnTo>
                    <a:pt x="1651043" y="1808138"/>
                  </a:lnTo>
                  <a:lnTo>
                    <a:pt x="1685239" y="1779431"/>
                  </a:lnTo>
                  <a:lnTo>
                    <a:pt x="1718139" y="1749279"/>
                  </a:lnTo>
                  <a:lnTo>
                    <a:pt x="1749693" y="1717733"/>
                  </a:lnTo>
                  <a:lnTo>
                    <a:pt x="1779852" y="1684841"/>
                  </a:lnTo>
                  <a:lnTo>
                    <a:pt x="1808566" y="1650652"/>
                  </a:lnTo>
                  <a:lnTo>
                    <a:pt x="1835786" y="1615217"/>
                  </a:lnTo>
                  <a:lnTo>
                    <a:pt x="1861462" y="1578585"/>
                  </a:lnTo>
                  <a:lnTo>
                    <a:pt x="1885545" y="1540805"/>
                  </a:lnTo>
                  <a:lnTo>
                    <a:pt x="1907985" y="1501926"/>
                  </a:lnTo>
                  <a:lnTo>
                    <a:pt x="1928734" y="1461998"/>
                  </a:lnTo>
                  <a:lnTo>
                    <a:pt x="1947741" y="1421071"/>
                  </a:lnTo>
                  <a:lnTo>
                    <a:pt x="1964957" y="1379193"/>
                  </a:lnTo>
                  <a:lnTo>
                    <a:pt x="1980333" y="1336415"/>
                  </a:lnTo>
                  <a:lnTo>
                    <a:pt x="1993819" y="1292785"/>
                  </a:lnTo>
                  <a:lnTo>
                    <a:pt x="2005366" y="1248354"/>
                  </a:lnTo>
                  <a:lnTo>
                    <a:pt x="2014925" y="1203170"/>
                  </a:lnTo>
                  <a:lnTo>
                    <a:pt x="2022445" y="1157282"/>
                  </a:lnTo>
                  <a:lnTo>
                    <a:pt x="2027878" y="1110741"/>
                  </a:lnTo>
                  <a:lnTo>
                    <a:pt x="2031174" y="1063596"/>
                  </a:lnTo>
                  <a:lnTo>
                    <a:pt x="2032284" y="1015896"/>
                  </a:lnTo>
                  <a:lnTo>
                    <a:pt x="2031174" y="968197"/>
                  </a:lnTo>
                  <a:lnTo>
                    <a:pt x="2027878" y="921052"/>
                  </a:lnTo>
                  <a:lnTo>
                    <a:pt x="2022445" y="874512"/>
                  </a:lnTo>
                  <a:lnTo>
                    <a:pt x="2014925" y="828625"/>
                  </a:lnTo>
                  <a:lnTo>
                    <a:pt x="2005366" y="783442"/>
                  </a:lnTo>
                  <a:lnTo>
                    <a:pt x="1993819" y="739010"/>
                  </a:lnTo>
                  <a:lnTo>
                    <a:pt x="1980333" y="695381"/>
                  </a:lnTo>
                  <a:lnTo>
                    <a:pt x="1964957" y="652603"/>
                  </a:lnTo>
                  <a:lnTo>
                    <a:pt x="1947741" y="610726"/>
                  </a:lnTo>
                  <a:lnTo>
                    <a:pt x="1928734" y="569799"/>
                  </a:lnTo>
                  <a:lnTo>
                    <a:pt x="1907985" y="529871"/>
                  </a:lnTo>
                  <a:lnTo>
                    <a:pt x="1885545" y="490993"/>
                  </a:lnTo>
                  <a:lnTo>
                    <a:pt x="1861462" y="453213"/>
                  </a:lnTo>
                  <a:lnTo>
                    <a:pt x="1835786" y="416581"/>
                  </a:lnTo>
                  <a:lnTo>
                    <a:pt x="1808566" y="381146"/>
                  </a:lnTo>
                  <a:lnTo>
                    <a:pt x="1779852" y="346958"/>
                  </a:lnTo>
                  <a:lnTo>
                    <a:pt x="1749693" y="314066"/>
                  </a:lnTo>
                  <a:lnTo>
                    <a:pt x="1718139" y="282520"/>
                  </a:lnTo>
                  <a:lnTo>
                    <a:pt x="1685239" y="252369"/>
                  </a:lnTo>
                  <a:lnTo>
                    <a:pt x="1651043" y="223662"/>
                  </a:lnTo>
                  <a:lnTo>
                    <a:pt x="1615599" y="196449"/>
                  </a:lnTo>
                  <a:lnTo>
                    <a:pt x="1578958" y="170779"/>
                  </a:lnTo>
                  <a:lnTo>
                    <a:pt x="1541169" y="146702"/>
                  </a:lnTo>
                  <a:lnTo>
                    <a:pt x="1502281" y="124267"/>
                  </a:lnTo>
                  <a:lnTo>
                    <a:pt x="1462344" y="103524"/>
                  </a:lnTo>
                  <a:lnTo>
                    <a:pt x="1421407" y="84521"/>
                  </a:lnTo>
                  <a:lnTo>
                    <a:pt x="1379519" y="67309"/>
                  </a:lnTo>
                  <a:lnTo>
                    <a:pt x="1336731" y="51937"/>
                  </a:lnTo>
                  <a:lnTo>
                    <a:pt x="1293091" y="38454"/>
                  </a:lnTo>
                  <a:lnTo>
                    <a:pt x="1248649" y="26910"/>
                  </a:lnTo>
                  <a:lnTo>
                    <a:pt x="1203454" y="17354"/>
                  </a:lnTo>
                  <a:lnTo>
                    <a:pt x="1157556" y="9836"/>
                  </a:lnTo>
                  <a:lnTo>
                    <a:pt x="1111005" y="4404"/>
                  </a:lnTo>
                  <a:lnTo>
                    <a:pt x="1063849" y="1109"/>
                  </a:lnTo>
                  <a:lnTo>
                    <a:pt x="1016138" y="0"/>
                  </a:lnTo>
                  <a:close/>
                </a:path>
              </a:pathLst>
            </a:custGeom>
            <a:solidFill>
              <a:srgbClr val="B1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38714" y="4126318"/>
              <a:ext cx="2032635" cy="2032000"/>
            </a:xfrm>
            <a:custGeom>
              <a:avLst/>
              <a:gdLst/>
              <a:ahLst/>
              <a:cxnLst/>
              <a:rect l="l" t="t" r="r" b="b"/>
              <a:pathLst>
                <a:path w="2032635" h="2032000">
                  <a:moveTo>
                    <a:pt x="1016146" y="2031804"/>
                  </a:moveTo>
                  <a:lnTo>
                    <a:pt x="1063857" y="2030695"/>
                  </a:lnTo>
                  <a:lnTo>
                    <a:pt x="1111012" y="2027400"/>
                  </a:lnTo>
                  <a:lnTo>
                    <a:pt x="1157564" y="2021968"/>
                  </a:lnTo>
                  <a:lnTo>
                    <a:pt x="1203461" y="2014449"/>
                  </a:lnTo>
                  <a:lnTo>
                    <a:pt x="1248656" y="2004893"/>
                  </a:lnTo>
                  <a:lnTo>
                    <a:pt x="1293097" y="1993349"/>
                  </a:lnTo>
                  <a:lnTo>
                    <a:pt x="1336737" y="1979866"/>
                  </a:lnTo>
                  <a:lnTo>
                    <a:pt x="1379525" y="1964494"/>
                  </a:lnTo>
                  <a:lnTo>
                    <a:pt x="1421412" y="1947282"/>
                  </a:lnTo>
                  <a:lnTo>
                    <a:pt x="1462349" y="1928279"/>
                  </a:lnTo>
                  <a:lnTo>
                    <a:pt x="1502286" y="1907536"/>
                  </a:lnTo>
                  <a:lnTo>
                    <a:pt x="1541174" y="1885101"/>
                  </a:lnTo>
                  <a:lnTo>
                    <a:pt x="1578963" y="1861023"/>
                  </a:lnTo>
                  <a:lnTo>
                    <a:pt x="1615604" y="1835353"/>
                  </a:lnTo>
                  <a:lnTo>
                    <a:pt x="1651047" y="1808140"/>
                  </a:lnTo>
                  <a:lnTo>
                    <a:pt x="1685243" y="1779433"/>
                  </a:lnTo>
                  <a:lnTo>
                    <a:pt x="1718143" y="1749282"/>
                  </a:lnTo>
                  <a:lnTo>
                    <a:pt x="1749697" y="1717735"/>
                  </a:lnTo>
                  <a:lnTo>
                    <a:pt x="1779856" y="1684843"/>
                  </a:lnTo>
                  <a:lnTo>
                    <a:pt x="1808569" y="1650654"/>
                  </a:lnTo>
                  <a:lnTo>
                    <a:pt x="1835789" y="1615219"/>
                  </a:lnTo>
                  <a:lnTo>
                    <a:pt x="1861465" y="1578587"/>
                  </a:lnTo>
                  <a:lnTo>
                    <a:pt x="1885548" y="1540807"/>
                  </a:lnTo>
                  <a:lnTo>
                    <a:pt x="1907988" y="1501928"/>
                  </a:lnTo>
                  <a:lnTo>
                    <a:pt x="1928736" y="1462000"/>
                  </a:lnTo>
                  <a:lnTo>
                    <a:pt x="1947743" y="1421073"/>
                  </a:lnTo>
                  <a:lnTo>
                    <a:pt x="1964960" y="1379195"/>
                  </a:lnTo>
                  <a:lnTo>
                    <a:pt x="1980335" y="1336417"/>
                  </a:lnTo>
                  <a:lnTo>
                    <a:pt x="1993822" y="1292787"/>
                  </a:lnTo>
                  <a:lnTo>
                    <a:pt x="2005369" y="1248355"/>
                  </a:lnTo>
                  <a:lnTo>
                    <a:pt x="2014927" y="1203171"/>
                  </a:lnTo>
                  <a:lnTo>
                    <a:pt x="2022447" y="1157284"/>
                  </a:lnTo>
                  <a:lnTo>
                    <a:pt x="2027880" y="1110743"/>
                  </a:lnTo>
                  <a:lnTo>
                    <a:pt x="2031176" y="1063598"/>
                  </a:lnTo>
                  <a:lnTo>
                    <a:pt x="2032286" y="1015898"/>
                  </a:lnTo>
                  <a:lnTo>
                    <a:pt x="2031176" y="968199"/>
                  </a:lnTo>
                  <a:lnTo>
                    <a:pt x="2027880" y="921055"/>
                  </a:lnTo>
                  <a:lnTo>
                    <a:pt x="2022447" y="874514"/>
                  </a:lnTo>
                  <a:lnTo>
                    <a:pt x="2014927" y="828628"/>
                  </a:lnTo>
                  <a:lnTo>
                    <a:pt x="2005369" y="783444"/>
                  </a:lnTo>
                  <a:lnTo>
                    <a:pt x="1993822" y="739013"/>
                  </a:lnTo>
                  <a:lnTo>
                    <a:pt x="1980335" y="695383"/>
                  </a:lnTo>
                  <a:lnTo>
                    <a:pt x="1964960" y="652605"/>
                  </a:lnTo>
                  <a:lnTo>
                    <a:pt x="1947743" y="610728"/>
                  </a:lnTo>
                  <a:lnTo>
                    <a:pt x="1928736" y="569801"/>
                  </a:lnTo>
                  <a:lnTo>
                    <a:pt x="1907988" y="529874"/>
                  </a:lnTo>
                  <a:lnTo>
                    <a:pt x="1885548" y="490995"/>
                  </a:lnTo>
                  <a:lnTo>
                    <a:pt x="1861465" y="453215"/>
                  </a:lnTo>
                  <a:lnTo>
                    <a:pt x="1835789" y="416583"/>
                  </a:lnTo>
                  <a:lnTo>
                    <a:pt x="1808569" y="381148"/>
                  </a:lnTo>
                  <a:lnTo>
                    <a:pt x="1779856" y="346960"/>
                  </a:lnTo>
                  <a:lnTo>
                    <a:pt x="1749697" y="314068"/>
                  </a:lnTo>
                  <a:lnTo>
                    <a:pt x="1718143" y="282521"/>
                  </a:lnTo>
                  <a:lnTo>
                    <a:pt x="1685243" y="252370"/>
                  </a:lnTo>
                  <a:lnTo>
                    <a:pt x="1651047" y="223663"/>
                  </a:lnTo>
                  <a:lnTo>
                    <a:pt x="1615604" y="196450"/>
                  </a:lnTo>
                  <a:lnTo>
                    <a:pt x="1578963" y="170780"/>
                  </a:lnTo>
                  <a:lnTo>
                    <a:pt x="1541174" y="146703"/>
                  </a:lnTo>
                  <a:lnTo>
                    <a:pt x="1502286" y="124268"/>
                  </a:lnTo>
                  <a:lnTo>
                    <a:pt x="1462349" y="103524"/>
                  </a:lnTo>
                  <a:lnTo>
                    <a:pt x="1421412" y="84522"/>
                  </a:lnTo>
                  <a:lnTo>
                    <a:pt x="1379525" y="67310"/>
                  </a:lnTo>
                  <a:lnTo>
                    <a:pt x="1336737" y="51938"/>
                  </a:lnTo>
                  <a:lnTo>
                    <a:pt x="1293097" y="38455"/>
                  </a:lnTo>
                  <a:lnTo>
                    <a:pt x="1248656" y="26910"/>
                  </a:lnTo>
                  <a:lnTo>
                    <a:pt x="1203461" y="17354"/>
                  </a:lnTo>
                  <a:lnTo>
                    <a:pt x="1157564" y="9836"/>
                  </a:lnTo>
                  <a:lnTo>
                    <a:pt x="1111012" y="4404"/>
                  </a:lnTo>
                  <a:lnTo>
                    <a:pt x="1063857" y="1109"/>
                  </a:lnTo>
                  <a:lnTo>
                    <a:pt x="1016146" y="0"/>
                  </a:lnTo>
                  <a:lnTo>
                    <a:pt x="968435" y="1109"/>
                  </a:lnTo>
                  <a:lnTo>
                    <a:pt x="921279" y="4404"/>
                  </a:lnTo>
                  <a:lnTo>
                    <a:pt x="874727" y="9836"/>
                  </a:lnTo>
                  <a:lnTo>
                    <a:pt x="828829" y="17354"/>
                  </a:lnTo>
                  <a:lnTo>
                    <a:pt x="783634" y="26910"/>
                  </a:lnTo>
                  <a:lnTo>
                    <a:pt x="739192" y="38455"/>
                  </a:lnTo>
                  <a:lnTo>
                    <a:pt x="695552" y="51938"/>
                  </a:lnTo>
                  <a:lnTo>
                    <a:pt x="652763" y="67310"/>
                  </a:lnTo>
                  <a:lnTo>
                    <a:pt x="610876" y="84522"/>
                  </a:lnTo>
                  <a:lnTo>
                    <a:pt x="569939" y="103524"/>
                  </a:lnTo>
                  <a:lnTo>
                    <a:pt x="530002" y="124268"/>
                  </a:lnTo>
                  <a:lnTo>
                    <a:pt x="491114" y="146703"/>
                  </a:lnTo>
                  <a:lnTo>
                    <a:pt x="453324" y="170780"/>
                  </a:lnTo>
                  <a:lnTo>
                    <a:pt x="416683" y="196450"/>
                  </a:lnTo>
                  <a:lnTo>
                    <a:pt x="381240" y="223663"/>
                  </a:lnTo>
                  <a:lnTo>
                    <a:pt x="347043" y="252370"/>
                  </a:lnTo>
                  <a:lnTo>
                    <a:pt x="314143" y="282521"/>
                  </a:lnTo>
                  <a:lnTo>
                    <a:pt x="282589" y="314068"/>
                  </a:lnTo>
                  <a:lnTo>
                    <a:pt x="252431" y="346960"/>
                  </a:lnTo>
                  <a:lnTo>
                    <a:pt x="223717" y="381148"/>
                  </a:lnTo>
                  <a:lnTo>
                    <a:pt x="196497" y="416583"/>
                  </a:lnTo>
                  <a:lnTo>
                    <a:pt x="170821" y="453215"/>
                  </a:lnTo>
                  <a:lnTo>
                    <a:pt x="146738" y="490995"/>
                  </a:lnTo>
                  <a:lnTo>
                    <a:pt x="124298" y="529874"/>
                  </a:lnTo>
                  <a:lnTo>
                    <a:pt x="103549" y="569801"/>
                  </a:lnTo>
                  <a:lnTo>
                    <a:pt x="84542" y="610728"/>
                  </a:lnTo>
                  <a:lnTo>
                    <a:pt x="67326" y="652605"/>
                  </a:lnTo>
                  <a:lnTo>
                    <a:pt x="51950" y="695383"/>
                  </a:lnTo>
                  <a:lnTo>
                    <a:pt x="38464" y="739013"/>
                  </a:lnTo>
                  <a:lnTo>
                    <a:pt x="26917" y="783444"/>
                  </a:lnTo>
                  <a:lnTo>
                    <a:pt x="17358" y="828628"/>
                  </a:lnTo>
                  <a:lnTo>
                    <a:pt x="9838" y="874514"/>
                  </a:lnTo>
                  <a:lnTo>
                    <a:pt x="4405" y="921055"/>
                  </a:lnTo>
                  <a:lnTo>
                    <a:pt x="1109" y="968199"/>
                  </a:lnTo>
                  <a:lnTo>
                    <a:pt x="0" y="1015898"/>
                  </a:lnTo>
                  <a:lnTo>
                    <a:pt x="1109" y="1063598"/>
                  </a:lnTo>
                  <a:lnTo>
                    <a:pt x="4405" y="1110743"/>
                  </a:lnTo>
                  <a:lnTo>
                    <a:pt x="9838" y="1157284"/>
                  </a:lnTo>
                  <a:lnTo>
                    <a:pt x="17358" y="1203171"/>
                  </a:lnTo>
                  <a:lnTo>
                    <a:pt x="26917" y="1248355"/>
                  </a:lnTo>
                  <a:lnTo>
                    <a:pt x="38464" y="1292787"/>
                  </a:lnTo>
                  <a:lnTo>
                    <a:pt x="51950" y="1336417"/>
                  </a:lnTo>
                  <a:lnTo>
                    <a:pt x="67326" y="1379195"/>
                  </a:lnTo>
                  <a:lnTo>
                    <a:pt x="84542" y="1421073"/>
                  </a:lnTo>
                  <a:lnTo>
                    <a:pt x="103549" y="1462000"/>
                  </a:lnTo>
                  <a:lnTo>
                    <a:pt x="124298" y="1501928"/>
                  </a:lnTo>
                  <a:lnTo>
                    <a:pt x="146738" y="1540807"/>
                  </a:lnTo>
                  <a:lnTo>
                    <a:pt x="170821" y="1578587"/>
                  </a:lnTo>
                  <a:lnTo>
                    <a:pt x="196497" y="1615219"/>
                  </a:lnTo>
                  <a:lnTo>
                    <a:pt x="223717" y="1650654"/>
                  </a:lnTo>
                  <a:lnTo>
                    <a:pt x="252431" y="1684843"/>
                  </a:lnTo>
                  <a:lnTo>
                    <a:pt x="282589" y="1717735"/>
                  </a:lnTo>
                  <a:lnTo>
                    <a:pt x="314143" y="1749282"/>
                  </a:lnTo>
                  <a:lnTo>
                    <a:pt x="347043" y="1779433"/>
                  </a:lnTo>
                  <a:lnTo>
                    <a:pt x="381240" y="1808140"/>
                  </a:lnTo>
                  <a:lnTo>
                    <a:pt x="416683" y="1835353"/>
                  </a:lnTo>
                  <a:lnTo>
                    <a:pt x="453324" y="1861023"/>
                  </a:lnTo>
                  <a:lnTo>
                    <a:pt x="491114" y="1885101"/>
                  </a:lnTo>
                  <a:lnTo>
                    <a:pt x="530002" y="1907536"/>
                  </a:lnTo>
                  <a:lnTo>
                    <a:pt x="569939" y="1928279"/>
                  </a:lnTo>
                  <a:lnTo>
                    <a:pt x="610876" y="1947282"/>
                  </a:lnTo>
                  <a:lnTo>
                    <a:pt x="652763" y="1964494"/>
                  </a:lnTo>
                  <a:lnTo>
                    <a:pt x="695552" y="1979866"/>
                  </a:lnTo>
                  <a:lnTo>
                    <a:pt x="739192" y="1993349"/>
                  </a:lnTo>
                  <a:lnTo>
                    <a:pt x="783634" y="2004893"/>
                  </a:lnTo>
                  <a:lnTo>
                    <a:pt x="828829" y="2014449"/>
                  </a:lnTo>
                  <a:lnTo>
                    <a:pt x="874727" y="2021968"/>
                  </a:lnTo>
                  <a:lnTo>
                    <a:pt x="921279" y="2027400"/>
                  </a:lnTo>
                  <a:lnTo>
                    <a:pt x="968435" y="2030695"/>
                  </a:lnTo>
                  <a:lnTo>
                    <a:pt x="1016146" y="2031804"/>
                  </a:lnTo>
                  <a:close/>
                </a:path>
              </a:pathLst>
            </a:custGeom>
            <a:ln w="6032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4754" y="5579840"/>
              <a:ext cx="1345646" cy="772915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100577" y="5578735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 h="0">
                  <a:moveTo>
                    <a:pt x="0" y="0"/>
                  </a:moveTo>
                  <a:lnTo>
                    <a:pt x="99239" y="0"/>
                  </a:lnTo>
                </a:path>
              </a:pathLst>
            </a:custGeom>
            <a:ln w="3574">
              <a:solidFill>
                <a:srgbClr val="A9DF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6774" y="5133769"/>
              <a:ext cx="503789" cy="10832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8821" y="4218185"/>
              <a:ext cx="2028695" cy="2152285"/>
            </a:xfrm>
            <a:prstGeom prst="rect">
              <a:avLst/>
            </a:prstGeom>
          </p:spPr>
        </p:pic>
      </p:grpSp>
      <p:grpSp>
        <p:nvGrpSpPr>
          <p:cNvPr id="55" name="object 55" descr=""/>
          <p:cNvGrpSpPr/>
          <p:nvPr/>
        </p:nvGrpSpPr>
        <p:grpSpPr>
          <a:xfrm>
            <a:off x="644293" y="6431239"/>
            <a:ext cx="2655570" cy="2409825"/>
            <a:chOff x="644293" y="6431239"/>
            <a:chExt cx="2655570" cy="2409825"/>
          </a:xfrm>
        </p:grpSpPr>
        <p:sp>
          <p:nvSpPr>
            <p:cNvPr id="56" name="object 56" descr=""/>
            <p:cNvSpPr/>
            <p:nvPr/>
          </p:nvSpPr>
          <p:spPr>
            <a:xfrm>
              <a:off x="898303" y="6694734"/>
              <a:ext cx="2127885" cy="2143125"/>
            </a:xfrm>
            <a:custGeom>
              <a:avLst/>
              <a:gdLst/>
              <a:ahLst/>
              <a:cxnLst/>
              <a:rect l="l" t="t" r="r" b="b"/>
              <a:pathLst>
                <a:path w="2127885" h="2143125">
                  <a:moveTo>
                    <a:pt x="1063754" y="0"/>
                  </a:moveTo>
                  <a:lnTo>
                    <a:pt x="1016492" y="1047"/>
                  </a:lnTo>
                  <a:lnTo>
                    <a:pt x="969749" y="4160"/>
                  </a:lnTo>
                  <a:lnTo>
                    <a:pt x="923566" y="9294"/>
                  </a:lnTo>
                  <a:lnTo>
                    <a:pt x="877988" y="16406"/>
                  </a:lnTo>
                  <a:lnTo>
                    <a:pt x="833059" y="25450"/>
                  </a:lnTo>
                  <a:lnTo>
                    <a:pt x="788822" y="36384"/>
                  </a:lnTo>
                  <a:lnTo>
                    <a:pt x="745322" y="49163"/>
                  </a:lnTo>
                  <a:lnTo>
                    <a:pt x="702602" y="63742"/>
                  </a:lnTo>
                  <a:lnTo>
                    <a:pt x="660706" y="80078"/>
                  </a:lnTo>
                  <a:lnTo>
                    <a:pt x="619678" y="98126"/>
                  </a:lnTo>
                  <a:lnTo>
                    <a:pt x="579561" y="117843"/>
                  </a:lnTo>
                  <a:lnTo>
                    <a:pt x="540400" y="139184"/>
                  </a:lnTo>
                  <a:lnTo>
                    <a:pt x="502238" y="162105"/>
                  </a:lnTo>
                  <a:lnTo>
                    <a:pt x="465119" y="186562"/>
                  </a:lnTo>
                  <a:lnTo>
                    <a:pt x="429087" y="212511"/>
                  </a:lnTo>
                  <a:lnTo>
                    <a:pt x="394185" y="239907"/>
                  </a:lnTo>
                  <a:lnTo>
                    <a:pt x="360458" y="268707"/>
                  </a:lnTo>
                  <a:lnTo>
                    <a:pt x="327949" y="298867"/>
                  </a:lnTo>
                  <a:lnTo>
                    <a:pt x="296702" y="330342"/>
                  </a:lnTo>
                  <a:lnTo>
                    <a:pt x="266760" y="363088"/>
                  </a:lnTo>
                  <a:lnTo>
                    <a:pt x="238169" y="397062"/>
                  </a:lnTo>
                  <a:lnTo>
                    <a:pt x="210971" y="432218"/>
                  </a:lnTo>
                  <a:lnTo>
                    <a:pt x="185210" y="468513"/>
                  </a:lnTo>
                  <a:lnTo>
                    <a:pt x="160930" y="505903"/>
                  </a:lnTo>
                  <a:lnTo>
                    <a:pt x="138175" y="544343"/>
                  </a:lnTo>
                  <a:lnTo>
                    <a:pt x="116989" y="583790"/>
                  </a:lnTo>
                  <a:lnTo>
                    <a:pt x="97415" y="624200"/>
                  </a:lnTo>
                  <a:lnTo>
                    <a:pt x="79497" y="665527"/>
                  </a:lnTo>
                  <a:lnTo>
                    <a:pt x="63280" y="707729"/>
                  </a:lnTo>
                  <a:lnTo>
                    <a:pt x="48806" y="750760"/>
                  </a:lnTo>
                  <a:lnTo>
                    <a:pt x="36120" y="794578"/>
                  </a:lnTo>
                  <a:lnTo>
                    <a:pt x="25266" y="839137"/>
                  </a:lnTo>
                  <a:lnTo>
                    <a:pt x="16287" y="884393"/>
                  </a:lnTo>
                  <a:lnTo>
                    <a:pt x="9227" y="930303"/>
                  </a:lnTo>
                  <a:lnTo>
                    <a:pt x="4130" y="976823"/>
                  </a:lnTo>
                  <a:lnTo>
                    <a:pt x="1039" y="1023907"/>
                  </a:lnTo>
                  <a:lnTo>
                    <a:pt x="0" y="1071513"/>
                  </a:lnTo>
                  <a:lnTo>
                    <a:pt x="1039" y="1119119"/>
                  </a:lnTo>
                  <a:lnTo>
                    <a:pt x="4130" y="1166204"/>
                  </a:lnTo>
                  <a:lnTo>
                    <a:pt x="9227" y="1212723"/>
                  </a:lnTo>
                  <a:lnTo>
                    <a:pt x="16287" y="1258633"/>
                  </a:lnTo>
                  <a:lnTo>
                    <a:pt x="25266" y="1303890"/>
                  </a:lnTo>
                  <a:lnTo>
                    <a:pt x="36120" y="1348449"/>
                  </a:lnTo>
                  <a:lnTo>
                    <a:pt x="48806" y="1392267"/>
                  </a:lnTo>
                  <a:lnTo>
                    <a:pt x="63280" y="1435299"/>
                  </a:lnTo>
                  <a:lnTo>
                    <a:pt x="79497" y="1477500"/>
                  </a:lnTo>
                  <a:lnTo>
                    <a:pt x="97415" y="1518828"/>
                  </a:lnTo>
                  <a:lnTo>
                    <a:pt x="116989" y="1559238"/>
                  </a:lnTo>
                  <a:lnTo>
                    <a:pt x="138175" y="1598685"/>
                  </a:lnTo>
                  <a:lnTo>
                    <a:pt x="160930" y="1637125"/>
                  </a:lnTo>
                  <a:lnTo>
                    <a:pt x="185210" y="1674516"/>
                  </a:lnTo>
                  <a:lnTo>
                    <a:pt x="210971" y="1710811"/>
                  </a:lnTo>
                  <a:lnTo>
                    <a:pt x="238169" y="1745968"/>
                  </a:lnTo>
                  <a:lnTo>
                    <a:pt x="266760" y="1779941"/>
                  </a:lnTo>
                  <a:lnTo>
                    <a:pt x="296702" y="1812688"/>
                  </a:lnTo>
                  <a:lnTo>
                    <a:pt x="327949" y="1844163"/>
                  </a:lnTo>
                  <a:lnTo>
                    <a:pt x="360458" y="1874323"/>
                  </a:lnTo>
                  <a:lnTo>
                    <a:pt x="394185" y="1903123"/>
                  </a:lnTo>
                  <a:lnTo>
                    <a:pt x="429087" y="1930520"/>
                  </a:lnTo>
                  <a:lnTo>
                    <a:pt x="465119" y="1956470"/>
                  </a:lnTo>
                  <a:lnTo>
                    <a:pt x="502238" y="1980927"/>
                  </a:lnTo>
                  <a:lnTo>
                    <a:pt x="540400" y="2003848"/>
                  </a:lnTo>
                  <a:lnTo>
                    <a:pt x="579561" y="2025189"/>
                  </a:lnTo>
                  <a:lnTo>
                    <a:pt x="619678" y="2044906"/>
                  </a:lnTo>
                  <a:lnTo>
                    <a:pt x="660706" y="2062955"/>
                  </a:lnTo>
                  <a:lnTo>
                    <a:pt x="702602" y="2079291"/>
                  </a:lnTo>
                  <a:lnTo>
                    <a:pt x="745322" y="2093870"/>
                  </a:lnTo>
                  <a:lnTo>
                    <a:pt x="788822" y="2106649"/>
                  </a:lnTo>
                  <a:lnTo>
                    <a:pt x="833059" y="2117583"/>
                  </a:lnTo>
                  <a:lnTo>
                    <a:pt x="877988" y="2126628"/>
                  </a:lnTo>
                  <a:lnTo>
                    <a:pt x="923566" y="2133739"/>
                  </a:lnTo>
                  <a:lnTo>
                    <a:pt x="969749" y="2138874"/>
                  </a:lnTo>
                  <a:lnTo>
                    <a:pt x="1016492" y="2141987"/>
                  </a:lnTo>
                  <a:lnTo>
                    <a:pt x="1063754" y="2143034"/>
                  </a:lnTo>
                  <a:lnTo>
                    <a:pt x="1111015" y="2141987"/>
                  </a:lnTo>
                  <a:lnTo>
                    <a:pt x="1157759" y="2138874"/>
                  </a:lnTo>
                  <a:lnTo>
                    <a:pt x="1203942" y="2133739"/>
                  </a:lnTo>
                  <a:lnTo>
                    <a:pt x="1249519" y="2126628"/>
                  </a:lnTo>
                  <a:lnTo>
                    <a:pt x="1294448" y="2117583"/>
                  </a:lnTo>
                  <a:lnTo>
                    <a:pt x="1338685" y="2106649"/>
                  </a:lnTo>
                  <a:lnTo>
                    <a:pt x="1382185" y="2093870"/>
                  </a:lnTo>
                  <a:lnTo>
                    <a:pt x="1424905" y="2079291"/>
                  </a:lnTo>
                  <a:lnTo>
                    <a:pt x="1466801" y="2062955"/>
                  </a:lnTo>
                  <a:lnTo>
                    <a:pt x="1507829" y="2044906"/>
                  </a:lnTo>
                  <a:lnTo>
                    <a:pt x="1547946" y="2025189"/>
                  </a:lnTo>
                  <a:lnTo>
                    <a:pt x="1587107" y="2003848"/>
                  </a:lnTo>
                  <a:lnTo>
                    <a:pt x="1625269" y="1980927"/>
                  </a:lnTo>
                  <a:lnTo>
                    <a:pt x="1662389" y="1956470"/>
                  </a:lnTo>
                  <a:lnTo>
                    <a:pt x="1698421" y="1930520"/>
                  </a:lnTo>
                  <a:lnTo>
                    <a:pt x="1733323" y="1903123"/>
                  </a:lnTo>
                  <a:lnTo>
                    <a:pt x="1767050" y="1874323"/>
                  </a:lnTo>
                  <a:lnTo>
                    <a:pt x="1799559" y="1844163"/>
                  </a:lnTo>
                  <a:lnTo>
                    <a:pt x="1830806" y="1812688"/>
                  </a:lnTo>
                  <a:lnTo>
                    <a:pt x="1860747" y="1779941"/>
                  </a:lnTo>
                  <a:lnTo>
                    <a:pt x="1889339" y="1745968"/>
                  </a:lnTo>
                  <a:lnTo>
                    <a:pt x="1916537" y="1710811"/>
                  </a:lnTo>
                  <a:lnTo>
                    <a:pt x="1942298" y="1674516"/>
                  </a:lnTo>
                  <a:lnTo>
                    <a:pt x="1966577" y="1637125"/>
                  </a:lnTo>
                  <a:lnTo>
                    <a:pt x="1989332" y="1598685"/>
                  </a:lnTo>
                  <a:lnTo>
                    <a:pt x="2010519" y="1559238"/>
                  </a:lnTo>
                  <a:lnTo>
                    <a:pt x="2030092" y="1518828"/>
                  </a:lnTo>
                  <a:lnTo>
                    <a:pt x="2048010" y="1477500"/>
                  </a:lnTo>
                  <a:lnTo>
                    <a:pt x="2064228" y="1435299"/>
                  </a:lnTo>
                  <a:lnTo>
                    <a:pt x="2078701" y="1392267"/>
                  </a:lnTo>
                  <a:lnTo>
                    <a:pt x="2091387" y="1348449"/>
                  </a:lnTo>
                  <a:lnTo>
                    <a:pt x="2102241" y="1303890"/>
                  </a:lnTo>
                  <a:lnTo>
                    <a:pt x="2111221" y="1258633"/>
                  </a:lnTo>
                  <a:lnTo>
                    <a:pt x="2118281" y="1212723"/>
                  </a:lnTo>
                  <a:lnTo>
                    <a:pt x="2123378" y="1166204"/>
                  </a:lnTo>
                  <a:lnTo>
                    <a:pt x="2126468" y="1119119"/>
                  </a:lnTo>
                  <a:lnTo>
                    <a:pt x="2127508" y="1071513"/>
                  </a:lnTo>
                  <a:lnTo>
                    <a:pt x="2126468" y="1023907"/>
                  </a:lnTo>
                  <a:lnTo>
                    <a:pt x="2123378" y="976823"/>
                  </a:lnTo>
                  <a:lnTo>
                    <a:pt x="2118281" y="930303"/>
                  </a:lnTo>
                  <a:lnTo>
                    <a:pt x="2111221" y="884393"/>
                  </a:lnTo>
                  <a:lnTo>
                    <a:pt x="2102241" y="839137"/>
                  </a:lnTo>
                  <a:lnTo>
                    <a:pt x="2091387" y="794578"/>
                  </a:lnTo>
                  <a:lnTo>
                    <a:pt x="2078701" y="750760"/>
                  </a:lnTo>
                  <a:lnTo>
                    <a:pt x="2064228" y="707729"/>
                  </a:lnTo>
                  <a:lnTo>
                    <a:pt x="2048010" y="665527"/>
                  </a:lnTo>
                  <a:lnTo>
                    <a:pt x="2030092" y="624200"/>
                  </a:lnTo>
                  <a:lnTo>
                    <a:pt x="2010519" y="583790"/>
                  </a:lnTo>
                  <a:lnTo>
                    <a:pt x="1989332" y="544343"/>
                  </a:lnTo>
                  <a:lnTo>
                    <a:pt x="1966577" y="505903"/>
                  </a:lnTo>
                  <a:lnTo>
                    <a:pt x="1942298" y="468513"/>
                  </a:lnTo>
                  <a:lnTo>
                    <a:pt x="1916537" y="432218"/>
                  </a:lnTo>
                  <a:lnTo>
                    <a:pt x="1889339" y="397062"/>
                  </a:lnTo>
                  <a:lnTo>
                    <a:pt x="1860747" y="363088"/>
                  </a:lnTo>
                  <a:lnTo>
                    <a:pt x="1830806" y="330342"/>
                  </a:lnTo>
                  <a:lnTo>
                    <a:pt x="1799559" y="298867"/>
                  </a:lnTo>
                  <a:lnTo>
                    <a:pt x="1767050" y="268707"/>
                  </a:lnTo>
                  <a:lnTo>
                    <a:pt x="1733323" y="239907"/>
                  </a:lnTo>
                  <a:lnTo>
                    <a:pt x="1698421" y="212511"/>
                  </a:lnTo>
                  <a:lnTo>
                    <a:pt x="1662389" y="186562"/>
                  </a:lnTo>
                  <a:lnTo>
                    <a:pt x="1625269" y="162105"/>
                  </a:lnTo>
                  <a:lnTo>
                    <a:pt x="1587107" y="139184"/>
                  </a:lnTo>
                  <a:lnTo>
                    <a:pt x="1547946" y="117843"/>
                  </a:lnTo>
                  <a:lnTo>
                    <a:pt x="1507829" y="98126"/>
                  </a:lnTo>
                  <a:lnTo>
                    <a:pt x="1466801" y="80078"/>
                  </a:lnTo>
                  <a:lnTo>
                    <a:pt x="1424905" y="63742"/>
                  </a:lnTo>
                  <a:lnTo>
                    <a:pt x="1382185" y="49163"/>
                  </a:lnTo>
                  <a:lnTo>
                    <a:pt x="1338685" y="36384"/>
                  </a:lnTo>
                  <a:lnTo>
                    <a:pt x="1294448" y="25450"/>
                  </a:lnTo>
                  <a:lnTo>
                    <a:pt x="1249519" y="16406"/>
                  </a:lnTo>
                  <a:lnTo>
                    <a:pt x="1203942" y="9294"/>
                  </a:lnTo>
                  <a:lnTo>
                    <a:pt x="1157759" y="4160"/>
                  </a:lnTo>
                  <a:lnTo>
                    <a:pt x="1111015" y="1047"/>
                  </a:lnTo>
                  <a:lnTo>
                    <a:pt x="1063754" y="0"/>
                  </a:lnTo>
                  <a:close/>
                </a:path>
              </a:pathLst>
            </a:custGeom>
            <a:solidFill>
              <a:srgbClr val="F8C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98302" y="6694717"/>
              <a:ext cx="2127885" cy="2143125"/>
            </a:xfrm>
            <a:custGeom>
              <a:avLst/>
              <a:gdLst/>
              <a:ahLst/>
              <a:cxnLst/>
              <a:rect l="l" t="t" r="r" b="b"/>
              <a:pathLst>
                <a:path w="2127885" h="2143125">
                  <a:moveTo>
                    <a:pt x="1063760" y="0"/>
                  </a:moveTo>
                  <a:lnTo>
                    <a:pt x="1111021" y="1047"/>
                  </a:lnTo>
                  <a:lnTo>
                    <a:pt x="1157764" y="4160"/>
                  </a:lnTo>
                  <a:lnTo>
                    <a:pt x="1203946" y="9294"/>
                  </a:lnTo>
                  <a:lnTo>
                    <a:pt x="1249524" y="16406"/>
                  </a:lnTo>
                  <a:lnTo>
                    <a:pt x="1294453" y="25450"/>
                  </a:lnTo>
                  <a:lnTo>
                    <a:pt x="1338689" y="36384"/>
                  </a:lnTo>
                  <a:lnTo>
                    <a:pt x="1382189" y="49162"/>
                  </a:lnTo>
                  <a:lnTo>
                    <a:pt x="1424909" y="63742"/>
                  </a:lnTo>
                  <a:lnTo>
                    <a:pt x="1466805" y="80077"/>
                  </a:lnTo>
                  <a:lnTo>
                    <a:pt x="1507833" y="98126"/>
                  </a:lnTo>
                  <a:lnTo>
                    <a:pt x="1547949" y="117842"/>
                  </a:lnTo>
                  <a:lnTo>
                    <a:pt x="1587111" y="139183"/>
                  </a:lnTo>
                  <a:lnTo>
                    <a:pt x="1625273" y="162104"/>
                  </a:lnTo>
                  <a:lnTo>
                    <a:pt x="1662392" y="186561"/>
                  </a:lnTo>
                  <a:lnTo>
                    <a:pt x="1698424" y="212510"/>
                  </a:lnTo>
                  <a:lnTo>
                    <a:pt x="1733326" y="239907"/>
                  </a:lnTo>
                  <a:lnTo>
                    <a:pt x="1767053" y="268707"/>
                  </a:lnTo>
                  <a:lnTo>
                    <a:pt x="1799562" y="298867"/>
                  </a:lnTo>
                  <a:lnTo>
                    <a:pt x="1830809" y="330342"/>
                  </a:lnTo>
                  <a:lnTo>
                    <a:pt x="1860751" y="363088"/>
                  </a:lnTo>
                  <a:lnTo>
                    <a:pt x="1889342" y="397062"/>
                  </a:lnTo>
                  <a:lnTo>
                    <a:pt x="1916540" y="432218"/>
                  </a:lnTo>
                  <a:lnTo>
                    <a:pt x="1942301" y="468514"/>
                  </a:lnTo>
                  <a:lnTo>
                    <a:pt x="1966581" y="505904"/>
                  </a:lnTo>
                  <a:lnTo>
                    <a:pt x="1989336" y="544344"/>
                  </a:lnTo>
                  <a:lnTo>
                    <a:pt x="2010523" y="583792"/>
                  </a:lnTo>
                  <a:lnTo>
                    <a:pt x="2030097" y="624201"/>
                  </a:lnTo>
                  <a:lnTo>
                    <a:pt x="2048014" y="665529"/>
                  </a:lnTo>
                  <a:lnTo>
                    <a:pt x="2064232" y="707731"/>
                  </a:lnTo>
                  <a:lnTo>
                    <a:pt x="2078706" y="750763"/>
                  </a:lnTo>
                  <a:lnTo>
                    <a:pt x="2091392" y="794581"/>
                  </a:lnTo>
                  <a:lnTo>
                    <a:pt x="2102246" y="839140"/>
                  </a:lnTo>
                  <a:lnTo>
                    <a:pt x="2111225" y="884397"/>
                  </a:lnTo>
                  <a:lnTo>
                    <a:pt x="2118285" y="930308"/>
                  </a:lnTo>
                  <a:lnTo>
                    <a:pt x="2123383" y="976828"/>
                  </a:lnTo>
                  <a:lnTo>
                    <a:pt x="2126473" y="1023913"/>
                  </a:lnTo>
                  <a:lnTo>
                    <a:pt x="2127513" y="1071520"/>
                  </a:lnTo>
                  <a:lnTo>
                    <a:pt x="2126473" y="1119126"/>
                  </a:lnTo>
                  <a:lnTo>
                    <a:pt x="2123383" y="1166211"/>
                  </a:lnTo>
                  <a:lnTo>
                    <a:pt x="2118285" y="1212731"/>
                  </a:lnTo>
                  <a:lnTo>
                    <a:pt x="2111225" y="1258642"/>
                  </a:lnTo>
                  <a:lnTo>
                    <a:pt x="2102246" y="1303899"/>
                  </a:lnTo>
                  <a:lnTo>
                    <a:pt x="2091392" y="1348459"/>
                  </a:lnTo>
                  <a:lnTo>
                    <a:pt x="2078706" y="1392277"/>
                  </a:lnTo>
                  <a:lnTo>
                    <a:pt x="2064232" y="1435308"/>
                  </a:lnTo>
                  <a:lnTo>
                    <a:pt x="2048014" y="1477510"/>
                  </a:lnTo>
                  <a:lnTo>
                    <a:pt x="2030097" y="1518838"/>
                  </a:lnTo>
                  <a:lnTo>
                    <a:pt x="2010523" y="1559248"/>
                  </a:lnTo>
                  <a:lnTo>
                    <a:pt x="1989336" y="1598695"/>
                  </a:lnTo>
                  <a:lnTo>
                    <a:pt x="1966581" y="1637136"/>
                  </a:lnTo>
                  <a:lnTo>
                    <a:pt x="1942301" y="1674526"/>
                  </a:lnTo>
                  <a:lnTo>
                    <a:pt x="1916540" y="1710821"/>
                  </a:lnTo>
                  <a:lnTo>
                    <a:pt x="1889342" y="1745977"/>
                  </a:lnTo>
                  <a:lnTo>
                    <a:pt x="1860751" y="1779951"/>
                  </a:lnTo>
                  <a:lnTo>
                    <a:pt x="1830809" y="1812697"/>
                  </a:lnTo>
                  <a:lnTo>
                    <a:pt x="1799562" y="1844172"/>
                  </a:lnTo>
                  <a:lnTo>
                    <a:pt x="1767053" y="1874332"/>
                  </a:lnTo>
                  <a:lnTo>
                    <a:pt x="1733326" y="1903132"/>
                  </a:lnTo>
                  <a:lnTo>
                    <a:pt x="1698424" y="1930529"/>
                  </a:lnTo>
                  <a:lnTo>
                    <a:pt x="1662392" y="1956478"/>
                  </a:lnTo>
                  <a:lnTo>
                    <a:pt x="1625273" y="1980935"/>
                  </a:lnTo>
                  <a:lnTo>
                    <a:pt x="1587111" y="2003856"/>
                  </a:lnTo>
                  <a:lnTo>
                    <a:pt x="1547949" y="2025197"/>
                  </a:lnTo>
                  <a:lnTo>
                    <a:pt x="1507833" y="2044913"/>
                  </a:lnTo>
                  <a:lnTo>
                    <a:pt x="1466805" y="2062962"/>
                  </a:lnTo>
                  <a:lnTo>
                    <a:pt x="1424909" y="2079298"/>
                  </a:lnTo>
                  <a:lnTo>
                    <a:pt x="1382189" y="2093877"/>
                  </a:lnTo>
                  <a:lnTo>
                    <a:pt x="1338689" y="2106655"/>
                  </a:lnTo>
                  <a:lnTo>
                    <a:pt x="1294453" y="2117589"/>
                  </a:lnTo>
                  <a:lnTo>
                    <a:pt x="1249524" y="2126634"/>
                  </a:lnTo>
                  <a:lnTo>
                    <a:pt x="1203946" y="2133745"/>
                  </a:lnTo>
                  <a:lnTo>
                    <a:pt x="1157764" y="2138879"/>
                  </a:lnTo>
                  <a:lnTo>
                    <a:pt x="1111021" y="2141992"/>
                  </a:lnTo>
                  <a:lnTo>
                    <a:pt x="1063760" y="2143040"/>
                  </a:lnTo>
                  <a:lnTo>
                    <a:pt x="1016498" y="2141992"/>
                  </a:lnTo>
                  <a:lnTo>
                    <a:pt x="969754" y="2138879"/>
                  </a:lnTo>
                  <a:lnTo>
                    <a:pt x="923571" y="2133745"/>
                  </a:lnTo>
                  <a:lnTo>
                    <a:pt x="877993" y="2126634"/>
                  </a:lnTo>
                  <a:lnTo>
                    <a:pt x="833064" y="2117589"/>
                  </a:lnTo>
                  <a:lnTo>
                    <a:pt x="788828" y="2106655"/>
                  </a:lnTo>
                  <a:lnTo>
                    <a:pt x="745327" y="2093877"/>
                  </a:lnTo>
                  <a:lnTo>
                    <a:pt x="702607" y="2079298"/>
                  </a:lnTo>
                  <a:lnTo>
                    <a:pt x="660711" y="2062962"/>
                  </a:lnTo>
                  <a:lnTo>
                    <a:pt x="619682" y="2044913"/>
                  </a:lnTo>
                  <a:lnTo>
                    <a:pt x="579565" y="2025197"/>
                  </a:lnTo>
                  <a:lnTo>
                    <a:pt x="540404" y="2003856"/>
                  </a:lnTo>
                  <a:lnTo>
                    <a:pt x="502242" y="1980935"/>
                  </a:lnTo>
                  <a:lnTo>
                    <a:pt x="465122" y="1956478"/>
                  </a:lnTo>
                  <a:lnTo>
                    <a:pt x="429090" y="1930529"/>
                  </a:lnTo>
                  <a:lnTo>
                    <a:pt x="394188" y="1903132"/>
                  </a:lnTo>
                  <a:lnTo>
                    <a:pt x="360460" y="1874332"/>
                  </a:lnTo>
                  <a:lnTo>
                    <a:pt x="327951" y="1844172"/>
                  </a:lnTo>
                  <a:lnTo>
                    <a:pt x="296704" y="1812697"/>
                  </a:lnTo>
                  <a:lnTo>
                    <a:pt x="266763" y="1779951"/>
                  </a:lnTo>
                  <a:lnTo>
                    <a:pt x="238171" y="1745977"/>
                  </a:lnTo>
                  <a:lnTo>
                    <a:pt x="210972" y="1710821"/>
                  </a:lnTo>
                  <a:lnTo>
                    <a:pt x="185211" y="1674526"/>
                  </a:lnTo>
                  <a:lnTo>
                    <a:pt x="160931" y="1637136"/>
                  </a:lnTo>
                  <a:lnTo>
                    <a:pt x="138176" y="1598695"/>
                  </a:lnTo>
                  <a:lnTo>
                    <a:pt x="116990" y="1559248"/>
                  </a:lnTo>
                  <a:lnTo>
                    <a:pt x="97416" y="1518838"/>
                  </a:lnTo>
                  <a:lnTo>
                    <a:pt x="79498" y="1477510"/>
                  </a:lnTo>
                  <a:lnTo>
                    <a:pt x="63280" y="1435308"/>
                  </a:lnTo>
                  <a:lnTo>
                    <a:pt x="48807" y="1392277"/>
                  </a:lnTo>
                  <a:lnTo>
                    <a:pt x="36121" y="1348459"/>
                  </a:lnTo>
                  <a:lnTo>
                    <a:pt x="25266" y="1303899"/>
                  </a:lnTo>
                  <a:lnTo>
                    <a:pt x="16287" y="1258642"/>
                  </a:lnTo>
                  <a:lnTo>
                    <a:pt x="9227" y="1212731"/>
                  </a:lnTo>
                  <a:lnTo>
                    <a:pt x="4130" y="1166211"/>
                  </a:lnTo>
                  <a:lnTo>
                    <a:pt x="1039" y="1119126"/>
                  </a:lnTo>
                  <a:lnTo>
                    <a:pt x="0" y="1071520"/>
                  </a:lnTo>
                  <a:lnTo>
                    <a:pt x="1039" y="1023913"/>
                  </a:lnTo>
                  <a:lnTo>
                    <a:pt x="4130" y="976828"/>
                  </a:lnTo>
                  <a:lnTo>
                    <a:pt x="9227" y="930308"/>
                  </a:lnTo>
                  <a:lnTo>
                    <a:pt x="16287" y="884397"/>
                  </a:lnTo>
                  <a:lnTo>
                    <a:pt x="25266" y="839140"/>
                  </a:lnTo>
                  <a:lnTo>
                    <a:pt x="36121" y="794581"/>
                  </a:lnTo>
                  <a:lnTo>
                    <a:pt x="48807" y="750763"/>
                  </a:lnTo>
                  <a:lnTo>
                    <a:pt x="63280" y="707731"/>
                  </a:lnTo>
                  <a:lnTo>
                    <a:pt x="79498" y="665529"/>
                  </a:lnTo>
                  <a:lnTo>
                    <a:pt x="97416" y="624201"/>
                  </a:lnTo>
                  <a:lnTo>
                    <a:pt x="116990" y="583792"/>
                  </a:lnTo>
                  <a:lnTo>
                    <a:pt x="138176" y="544344"/>
                  </a:lnTo>
                  <a:lnTo>
                    <a:pt x="160931" y="505904"/>
                  </a:lnTo>
                  <a:lnTo>
                    <a:pt x="185211" y="468514"/>
                  </a:lnTo>
                  <a:lnTo>
                    <a:pt x="210972" y="432218"/>
                  </a:lnTo>
                  <a:lnTo>
                    <a:pt x="238171" y="397062"/>
                  </a:lnTo>
                  <a:lnTo>
                    <a:pt x="266763" y="363088"/>
                  </a:lnTo>
                  <a:lnTo>
                    <a:pt x="296704" y="330342"/>
                  </a:lnTo>
                  <a:lnTo>
                    <a:pt x="327951" y="298867"/>
                  </a:lnTo>
                  <a:lnTo>
                    <a:pt x="360460" y="268707"/>
                  </a:lnTo>
                  <a:lnTo>
                    <a:pt x="394188" y="239907"/>
                  </a:lnTo>
                  <a:lnTo>
                    <a:pt x="429090" y="212510"/>
                  </a:lnTo>
                  <a:lnTo>
                    <a:pt x="465122" y="186561"/>
                  </a:lnTo>
                  <a:lnTo>
                    <a:pt x="502242" y="162104"/>
                  </a:lnTo>
                  <a:lnTo>
                    <a:pt x="540404" y="139183"/>
                  </a:lnTo>
                  <a:lnTo>
                    <a:pt x="579565" y="117842"/>
                  </a:lnTo>
                  <a:lnTo>
                    <a:pt x="619682" y="98126"/>
                  </a:lnTo>
                  <a:lnTo>
                    <a:pt x="660711" y="80077"/>
                  </a:lnTo>
                  <a:lnTo>
                    <a:pt x="702607" y="63742"/>
                  </a:lnTo>
                  <a:lnTo>
                    <a:pt x="745327" y="49162"/>
                  </a:lnTo>
                  <a:lnTo>
                    <a:pt x="788828" y="36384"/>
                  </a:lnTo>
                  <a:lnTo>
                    <a:pt x="833064" y="25450"/>
                  </a:lnTo>
                  <a:lnTo>
                    <a:pt x="877993" y="16406"/>
                  </a:lnTo>
                  <a:lnTo>
                    <a:pt x="923571" y="9294"/>
                  </a:lnTo>
                  <a:lnTo>
                    <a:pt x="969754" y="4160"/>
                  </a:lnTo>
                  <a:lnTo>
                    <a:pt x="1016498" y="1047"/>
                  </a:lnTo>
                  <a:lnTo>
                    <a:pt x="1063760" y="0"/>
                  </a:lnTo>
                  <a:close/>
                </a:path>
              </a:pathLst>
            </a:custGeom>
            <a:ln w="598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4293" y="6431239"/>
              <a:ext cx="2655218" cy="1548793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777590" y="6459953"/>
              <a:ext cx="2464435" cy="1347470"/>
            </a:xfrm>
            <a:custGeom>
              <a:avLst/>
              <a:gdLst/>
              <a:ahLst/>
              <a:cxnLst/>
              <a:rect l="l" t="t" r="r" b="b"/>
              <a:pathLst>
                <a:path w="2464435" h="1347470">
                  <a:moveTo>
                    <a:pt x="1231352" y="0"/>
                  </a:moveTo>
                  <a:lnTo>
                    <a:pt x="1161863" y="2304"/>
                  </a:lnTo>
                  <a:lnTo>
                    <a:pt x="1092302" y="8408"/>
                  </a:lnTo>
                  <a:lnTo>
                    <a:pt x="1022836" y="18343"/>
                  </a:lnTo>
                  <a:lnTo>
                    <a:pt x="953633" y="32147"/>
                  </a:lnTo>
                  <a:lnTo>
                    <a:pt x="884863" y="49852"/>
                  </a:lnTo>
                  <a:lnTo>
                    <a:pt x="816694" y="71494"/>
                  </a:lnTo>
                  <a:lnTo>
                    <a:pt x="749295" y="97107"/>
                  </a:lnTo>
                  <a:lnTo>
                    <a:pt x="682834" y="126725"/>
                  </a:lnTo>
                  <a:lnTo>
                    <a:pt x="617480" y="160385"/>
                  </a:lnTo>
                  <a:lnTo>
                    <a:pt x="553402" y="198119"/>
                  </a:lnTo>
                  <a:lnTo>
                    <a:pt x="490767" y="239963"/>
                  </a:lnTo>
                  <a:lnTo>
                    <a:pt x="429745" y="285952"/>
                  </a:lnTo>
                  <a:lnTo>
                    <a:pt x="399892" y="310511"/>
                  </a:lnTo>
                  <a:lnTo>
                    <a:pt x="370505" y="336119"/>
                  </a:lnTo>
                  <a:lnTo>
                    <a:pt x="341605" y="362781"/>
                  </a:lnTo>
                  <a:lnTo>
                    <a:pt x="313214" y="390500"/>
                  </a:lnTo>
                  <a:lnTo>
                    <a:pt x="285353" y="419282"/>
                  </a:lnTo>
                  <a:lnTo>
                    <a:pt x="258042" y="449130"/>
                  </a:lnTo>
                  <a:lnTo>
                    <a:pt x="231303" y="480048"/>
                  </a:lnTo>
                  <a:lnTo>
                    <a:pt x="205157" y="512042"/>
                  </a:lnTo>
                  <a:lnTo>
                    <a:pt x="179625" y="545115"/>
                  </a:lnTo>
                  <a:lnTo>
                    <a:pt x="154728" y="579271"/>
                  </a:lnTo>
                  <a:lnTo>
                    <a:pt x="130487" y="614516"/>
                  </a:lnTo>
                  <a:lnTo>
                    <a:pt x="106923" y="650853"/>
                  </a:lnTo>
                  <a:lnTo>
                    <a:pt x="84058" y="688287"/>
                  </a:lnTo>
                  <a:lnTo>
                    <a:pt x="61912" y="726821"/>
                  </a:lnTo>
                  <a:lnTo>
                    <a:pt x="40506" y="766461"/>
                  </a:lnTo>
                  <a:lnTo>
                    <a:pt x="19861" y="807211"/>
                  </a:lnTo>
                  <a:lnTo>
                    <a:pt x="0" y="849074"/>
                  </a:lnTo>
                  <a:lnTo>
                    <a:pt x="48480" y="867722"/>
                  </a:lnTo>
                  <a:lnTo>
                    <a:pt x="96819" y="886346"/>
                  </a:lnTo>
                  <a:lnTo>
                    <a:pt x="145026" y="904946"/>
                  </a:lnTo>
                  <a:lnTo>
                    <a:pt x="193112" y="923524"/>
                  </a:lnTo>
                  <a:lnTo>
                    <a:pt x="241087" y="942080"/>
                  </a:lnTo>
                  <a:lnTo>
                    <a:pt x="288962" y="960616"/>
                  </a:lnTo>
                  <a:lnTo>
                    <a:pt x="384451" y="997630"/>
                  </a:lnTo>
                  <a:lnTo>
                    <a:pt x="669590" y="1108281"/>
                  </a:lnTo>
                  <a:lnTo>
                    <a:pt x="764470" y="1145061"/>
                  </a:lnTo>
                  <a:lnTo>
                    <a:pt x="811926" y="1163436"/>
                  </a:lnTo>
                  <a:lnTo>
                    <a:pt x="859406" y="1181802"/>
                  </a:lnTo>
                  <a:lnTo>
                    <a:pt x="906920" y="1200160"/>
                  </a:lnTo>
                  <a:lnTo>
                    <a:pt x="954480" y="1218511"/>
                  </a:lnTo>
                  <a:lnTo>
                    <a:pt x="1002095" y="1236857"/>
                  </a:lnTo>
                  <a:lnTo>
                    <a:pt x="1049776" y="1255197"/>
                  </a:lnTo>
                  <a:lnTo>
                    <a:pt x="1097533" y="1273534"/>
                  </a:lnTo>
                  <a:lnTo>
                    <a:pt x="1145377" y="1291868"/>
                  </a:lnTo>
                  <a:lnTo>
                    <a:pt x="1193318" y="1310200"/>
                  </a:lnTo>
                  <a:lnTo>
                    <a:pt x="1241366" y="1328531"/>
                  </a:lnTo>
                  <a:lnTo>
                    <a:pt x="1289532" y="1346862"/>
                  </a:lnTo>
                  <a:lnTo>
                    <a:pt x="1344774" y="1346606"/>
                  </a:lnTo>
                  <a:lnTo>
                    <a:pt x="1398861" y="1346303"/>
                  </a:lnTo>
                  <a:lnTo>
                    <a:pt x="1451903" y="1345956"/>
                  </a:lnTo>
                  <a:lnTo>
                    <a:pt x="1504009" y="1345569"/>
                  </a:lnTo>
                  <a:lnTo>
                    <a:pt x="1555291" y="1345149"/>
                  </a:lnTo>
                  <a:lnTo>
                    <a:pt x="1605858" y="1344699"/>
                  </a:lnTo>
                  <a:lnTo>
                    <a:pt x="1655819" y="1344223"/>
                  </a:lnTo>
                  <a:lnTo>
                    <a:pt x="1705286" y="1343727"/>
                  </a:lnTo>
                  <a:lnTo>
                    <a:pt x="1754368" y="1343215"/>
                  </a:lnTo>
                  <a:lnTo>
                    <a:pt x="1997851" y="1340574"/>
                  </a:lnTo>
                  <a:lnTo>
                    <a:pt x="2046933" y="1340062"/>
                  </a:lnTo>
                  <a:lnTo>
                    <a:pt x="2096400" y="1339566"/>
                  </a:lnTo>
                  <a:lnTo>
                    <a:pt x="2146361" y="1339091"/>
                  </a:lnTo>
                  <a:lnTo>
                    <a:pt x="2196928" y="1338640"/>
                  </a:lnTo>
                  <a:lnTo>
                    <a:pt x="2248210" y="1338220"/>
                  </a:lnTo>
                  <a:lnTo>
                    <a:pt x="2300317" y="1337834"/>
                  </a:lnTo>
                  <a:lnTo>
                    <a:pt x="2353358" y="1337487"/>
                  </a:lnTo>
                  <a:lnTo>
                    <a:pt x="2407445" y="1337183"/>
                  </a:lnTo>
                  <a:lnTo>
                    <a:pt x="2462687" y="1336928"/>
                  </a:lnTo>
                  <a:lnTo>
                    <a:pt x="2463807" y="1291584"/>
                  </a:lnTo>
                  <a:lnTo>
                    <a:pt x="2463707" y="1246942"/>
                  </a:lnTo>
                  <a:lnTo>
                    <a:pt x="2462409" y="1203008"/>
                  </a:lnTo>
                  <a:lnTo>
                    <a:pt x="2459934" y="1159785"/>
                  </a:lnTo>
                  <a:lnTo>
                    <a:pt x="2456302" y="1117279"/>
                  </a:lnTo>
                  <a:lnTo>
                    <a:pt x="2451534" y="1075492"/>
                  </a:lnTo>
                  <a:lnTo>
                    <a:pt x="2445653" y="1034430"/>
                  </a:lnTo>
                  <a:lnTo>
                    <a:pt x="2438678" y="994096"/>
                  </a:lnTo>
                  <a:lnTo>
                    <a:pt x="2430631" y="954496"/>
                  </a:lnTo>
                  <a:lnTo>
                    <a:pt x="2421533" y="915633"/>
                  </a:lnTo>
                  <a:lnTo>
                    <a:pt x="2411404" y="877512"/>
                  </a:lnTo>
                  <a:lnTo>
                    <a:pt x="2400267" y="840137"/>
                  </a:lnTo>
                  <a:lnTo>
                    <a:pt x="2388143" y="803513"/>
                  </a:lnTo>
                  <a:lnTo>
                    <a:pt x="2375051" y="767643"/>
                  </a:lnTo>
                  <a:lnTo>
                    <a:pt x="2346052" y="698186"/>
                  </a:lnTo>
                  <a:lnTo>
                    <a:pt x="2313439" y="631799"/>
                  </a:lnTo>
                  <a:lnTo>
                    <a:pt x="2277380" y="568518"/>
                  </a:lnTo>
                  <a:lnTo>
                    <a:pt x="2238044" y="508377"/>
                  </a:lnTo>
                  <a:lnTo>
                    <a:pt x="2195600" y="451412"/>
                  </a:lnTo>
                  <a:lnTo>
                    <a:pt x="2150216" y="397655"/>
                  </a:lnTo>
                  <a:lnTo>
                    <a:pt x="2102062" y="347143"/>
                  </a:lnTo>
                  <a:lnTo>
                    <a:pt x="2051304" y="299910"/>
                  </a:lnTo>
                  <a:lnTo>
                    <a:pt x="1998113" y="255990"/>
                  </a:lnTo>
                  <a:lnTo>
                    <a:pt x="1942657" y="215418"/>
                  </a:lnTo>
                  <a:lnTo>
                    <a:pt x="1885104" y="178229"/>
                  </a:lnTo>
                  <a:lnTo>
                    <a:pt x="1825623" y="144457"/>
                  </a:lnTo>
                  <a:lnTo>
                    <a:pt x="1764382" y="114137"/>
                  </a:lnTo>
                  <a:lnTo>
                    <a:pt x="1701551" y="87304"/>
                  </a:lnTo>
                  <a:lnTo>
                    <a:pt x="1637298" y="63991"/>
                  </a:lnTo>
                  <a:lnTo>
                    <a:pt x="1571790" y="44235"/>
                  </a:lnTo>
                  <a:lnTo>
                    <a:pt x="1505198" y="28068"/>
                  </a:lnTo>
                  <a:lnTo>
                    <a:pt x="1437690" y="15527"/>
                  </a:lnTo>
                  <a:lnTo>
                    <a:pt x="1369433" y="6645"/>
                  </a:lnTo>
                  <a:lnTo>
                    <a:pt x="1300598" y="1458"/>
                  </a:lnTo>
                  <a:lnTo>
                    <a:pt x="1266015" y="260"/>
                  </a:lnTo>
                  <a:lnTo>
                    <a:pt x="1231352" y="0"/>
                  </a:lnTo>
                  <a:close/>
                </a:path>
              </a:pathLst>
            </a:custGeom>
            <a:solidFill>
              <a:srgbClr val="B1E2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2505784" y="7936573"/>
            <a:ext cx="10922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120">
                <a:solidFill>
                  <a:srgbClr val="231F1F"/>
                </a:solidFill>
                <a:latin typeface="Calibri"/>
                <a:cs typeface="Calibri"/>
              </a:rPr>
              <a:t>B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2347080" y="7208318"/>
            <a:ext cx="1028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2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599935" y="7804963"/>
            <a:ext cx="8769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70">
                <a:solidFill>
                  <a:srgbClr val="231F1F"/>
                </a:solidFill>
                <a:latin typeface="Calibri"/>
                <a:cs typeface="Calibri"/>
              </a:rPr>
              <a:t>Haplo-</a:t>
            </a:r>
            <a:r>
              <a:rPr dirty="0" sz="900" spc="50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2756430" y="7888898"/>
            <a:ext cx="402590" cy="29718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9539" marR="5080" indent="-117475">
              <a:lnSpc>
                <a:spcPts val="1060"/>
              </a:lnSpc>
              <a:spcBef>
                <a:spcPts val="150"/>
              </a:spcBef>
            </a:pPr>
            <a:r>
              <a:rPr dirty="0" sz="900" spc="65">
                <a:solidFill>
                  <a:srgbClr val="231F1F"/>
                </a:solidFill>
                <a:latin typeface="Calibri"/>
                <a:cs typeface="Calibri"/>
              </a:rPr>
              <a:t>Spores </a:t>
            </a:r>
            <a:r>
              <a:rPr dirty="0" sz="900" spc="-25">
                <a:solidFill>
                  <a:srgbClr val="231F1F"/>
                </a:solidFill>
                <a:latin typeface="Calibri"/>
                <a:cs typeface="Calibri"/>
              </a:rPr>
              <a:t>(n)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3075427" y="7519506"/>
            <a:ext cx="4381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45">
                <a:solidFill>
                  <a:srgbClr val="231F1F"/>
                </a:solidFill>
                <a:latin typeface="Calibri"/>
                <a:cs typeface="Calibri"/>
              </a:rPr>
              <a:t>Meiosis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551732" y="8539353"/>
            <a:ext cx="761365" cy="29718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309245" marR="5080" indent="-297180">
              <a:lnSpc>
                <a:spcPts val="1060"/>
              </a:lnSpc>
              <a:spcBef>
                <a:spcPts val="150"/>
              </a:spcBef>
            </a:pPr>
            <a:r>
              <a:rPr dirty="0" sz="900" spc="50">
                <a:solidFill>
                  <a:srgbClr val="231F1F"/>
                </a:solidFill>
                <a:latin typeface="Calibri"/>
                <a:cs typeface="Calibri"/>
              </a:rPr>
              <a:t>Gametophyte </a:t>
            </a:r>
            <a:r>
              <a:rPr dirty="0" sz="900" spc="-25">
                <a:solidFill>
                  <a:srgbClr val="231F1F"/>
                </a:solidFill>
                <a:latin typeface="Calibri"/>
                <a:cs typeface="Calibri"/>
              </a:rPr>
              <a:t>(n)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969844" y="6769231"/>
            <a:ext cx="2002789" cy="1870075"/>
            <a:chOff x="969844" y="6769231"/>
            <a:chExt cx="2002789" cy="1870075"/>
          </a:xfrm>
        </p:grpSpPr>
        <p:sp>
          <p:nvSpPr>
            <p:cNvPr id="67" name="object 67" descr=""/>
            <p:cNvSpPr/>
            <p:nvPr/>
          </p:nvSpPr>
          <p:spPr>
            <a:xfrm>
              <a:off x="1000146" y="7943955"/>
              <a:ext cx="479425" cy="681990"/>
            </a:xfrm>
            <a:custGeom>
              <a:avLst/>
              <a:gdLst/>
              <a:ahLst/>
              <a:cxnLst/>
              <a:rect l="l" t="t" r="r" b="b"/>
              <a:pathLst>
                <a:path w="479425" h="681990">
                  <a:moveTo>
                    <a:pt x="0" y="0"/>
                  </a:moveTo>
                  <a:lnTo>
                    <a:pt x="9298" y="47269"/>
                  </a:lnTo>
                  <a:lnTo>
                    <a:pt x="20869" y="93676"/>
                  </a:lnTo>
                  <a:lnTo>
                    <a:pt x="34730" y="139216"/>
                  </a:lnTo>
                  <a:lnTo>
                    <a:pt x="50898" y="183879"/>
                  </a:lnTo>
                  <a:lnTo>
                    <a:pt x="69391" y="227661"/>
                  </a:lnTo>
                  <a:lnTo>
                    <a:pt x="90228" y="270554"/>
                  </a:lnTo>
                  <a:lnTo>
                    <a:pt x="113425" y="312552"/>
                  </a:lnTo>
                  <a:lnTo>
                    <a:pt x="139000" y="353647"/>
                  </a:lnTo>
                  <a:lnTo>
                    <a:pt x="166972" y="393833"/>
                  </a:lnTo>
                  <a:lnTo>
                    <a:pt x="197357" y="433104"/>
                  </a:lnTo>
                  <a:lnTo>
                    <a:pt x="230175" y="471452"/>
                  </a:lnTo>
                  <a:lnTo>
                    <a:pt x="265441" y="508871"/>
                  </a:lnTo>
                  <a:lnTo>
                    <a:pt x="303175" y="545354"/>
                  </a:lnTo>
                  <a:lnTo>
                    <a:pt x="343393" y="580894"/>
                  </a:lnTo>
                  <a:lnTo>
                    <a:pt x="386114" y="615485"/>
                  </a:lnTo>
                  <a:lnTo>
                    <a:pt x="431355" y="649119"/>
                  </a:lnTo>
                  <a:lnTo>
                    <a:pt x="479134" y="681791"/>
                  </a:lnTo>
                </a:path>
              </a:pathLst>
            </a:custGeom>
            <a:ln w="5973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70043" y="7892219"/>
              <a:ext cx="62230" cy="62230"/>
            </a:xfrm>
            <a:custGeom>
              <a:avLst/>
              <a:gdLst/>
              <a:ahLst/>
              <a:cxnLst/>
              <a:rect l="l" t="t" r="r" b="b"/>
              <a:pathLst>
                <a:path w="62230" h="62229">
                  <a:moveTo>
                    <a:pt x="21239" y="0"/>
                  </a:moveTo>
                  <a:lnTo>
                    <a:pt x="0" y="62040"/>
                  </a:lnTo>
                  <a:lnTo>
                    <a:pt x="61891" y="51289"/>
                  </a:lnTo>
                  <a:lnTo>
                    <a:pt x="21239" y="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493438" y="8208026"/>
              <a:ext cx="370205" cy="406400"/>
            </a:xfrm>
            <a:custGeom>
              <a:avLst/>
              <a:gdLst/>
              <a:ahLst/>
              <a:cxnLst/>
              <a:rect l="l" t="t" r="r" b="b"/>
              <a:pathLst>
                <a:path w="370205" h="406400">
                  <a:moveTo>
                    <a:pt x="370039" y="0"/>
                  </a:moveTo>
                  <a:lnTo>
                    <a:pt x="340463" y="46751"/>
                  </a:lnTo>
                  <a:lnTo>
                    <a:pt x="310730" y="90928"/>
                  </a:lnTo>
                  <a:lnTo>
                    <a:pt x="280620" y="132734"/>
                  </a:lnTo>
                  <a:lnTo>
                    <a:pt x="249915" y="172374"/>
                  </a:lnTo>
                  <a:lnTo>
                    <a:pt x="218398" y="210053"/>
                  </a:lnTo>
                  <a:lnTo>
                    <a:pt x="185849" y="245975"/>
                  </a:lnTo>
                  <a:lnTo>
                    <a:pt x="152051" y="280344"/>
                  </a:lnTo>
                  <a:lnTo>
                    <a:pt x="116786" y="313366"/>
                  </a:lnTo>
                  <a:lnTo>
                    <a:pt x="79834" y="345244"/>
                  </a:lnTo>
                  <a:lnTo>
                    <a:pt x="40978" y="376183"/>
                  </a:lnTo>
                  <a:lnTo>
                    <a:pt x="0" y="406389"/>
                  </a:lnTo>
                </a:path>
              </a:pathLst>
            </a:custGeom>
            <a:ln w="5978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58900" y="8560467"/>
              <a:ext cx="89497" cy="78483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984702" y="7481833"/>
              <a:ext cx="32384" cy="303530"/>
            </a:xfrm>
            <a:custGeom>
              <a:avLst/>
              <a:gdLst/>
              <a:ahLst/>
              <a:cxnLst/>
              <a:rect l="l" t="t" r="r" b="b"/>
              <a:pathLst>
                <a:path w="32384" h="303529">
                  <a:moveTo>
                    <a:pt x="894" y="303479"/>
                  </a:moveTo>
                  <a:lnTo>
                    <a:pt x="0" y="250714"/>
                  </a:lnTo>
                  <a:lnTo>
                    <a:pt x="1310" y="197663"/>
                  </a:lnTo>
                  <a:lnTo>
                    <a:pt x="4987" y="145195"/>
                  </a:lnTo>
                  <a:lnTo>
                    <a:pt x="11193" y="94182"/>
                  </a:lnTo>
                  <a:lnTo>
                    <a:pt x="20087" y="45493"/>
                  </a:lnTo>
                  <a:lnTo>
                    <a:pt x="31833" y="0"/>
                  </a:lnTo>
                </a:path>
              </a:pathLst>
            </a:custGeom>
            <a:ln w="5959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9844" y="7441131"/>
              <a:ext cx="68940" cy="91621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1008069" y="7513041"/>
              <a:ext cx="41275" cy="249554"/>
            </a:xfrm>
            <a:custGeom>
              <a:avLst/>
              <a:gdLst/>
              <a:ahLst/>
              <a:cxnLst/>
              <a:rect l="l" t="t" r="r" b="b"/>
              <a:pathLst>
                <a:path w="41275" h="249554">
                  <a:moveTo>
                    <a:pt x="40702" y="249043"/>
                  </a:moveTo>
                  <a:lnTo>
                    <a:pt x="26152" y="201094"/>
                  </a:lnTo>
                  <a:lnTo>
                    <a:pt x="15593" y="153786"/>
                  </a:lnTo>
                  <a:lnTo>
                    <a:pt x="8240" y="105547"/>
                  </a:lnTo>
                  <a:lnTo>
                    <a:pt x="3305" y="54809"/>
                  </a:lnTo>
                  <a:lnTo>
                    <a:pt x="0" y="0"/>
                  </a:lnTo>
                </a:path>
              </a:pathLst>
            </a:custGeom>
            <a:ln w="596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3023" y="6769231"/>
              <a:ext cx="235626" cy="112555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2332880" y="6821073"/>
              <a:ext cx="568325" cy="719455"/>
            </a:xfrm>
            <a:custGeom>
              <a:avLst/>
              <a:gdLst/>
              <a:ahLst/>
              <a:cxnLst/>
              <a:rect l="l" t="t" r="r" b="b"/>
              <a:pathLst>
                <a:path w="568325" h="719454">
                  <a:moveTo>
                    <a:pt x="0" y="0"/>
                  </a:moveTo>
                  <a:lnTo>
                    <a:pt x="44101" y="16069"/>
                  </a:lnTo>
                  <a:lnTo>
                    <a:pt x="87174" y="35555"/>
                  </a:lnTo>
                  <a:lnTo>
                    <a:pt x="129115" y="58235"/>
                  </a:lnTo>
                  <a:lnTo>
                    <a:pt x="169820" y="83889"/>
                  </a:lnTo>
                  <a:lnTo>
                    <a:pt x="209185" y="112298"/>
                  </a:lnTo>
                  <a:lnTo>
                    <a:pt x="247106" y="143239"/>
                  </a:lnTo>
                  <a:lnTo>
                    <a:pt x="283480" y="176494"/>
                  </a:lnTo>
                  <a:lnTo>
                    <a:pt x="318203" y="211840"/>
                  </a:lnTo>
                  <a:lnTo>
                    <a:pt x="351171" y="249059"/>
                  </a:lnTo>
                  <a:lnTo>
                    <a:pt x="382280" y="287929"/>
                  </a:lnTo>
                  <a:lnTo>
                    <a:pt x="411428" y="328229"/>
                  </a:lnTo>
                  <a:lnTo>
                    <a:pt x="438509" y="369739"/>
                  </a:lnTo>
                  <a:lnTo>
                    <a:pt x="463420" y="412239"/>
                  </a:lnTo>
                  <a:lnTo>
                    <a:pt x="486058" y="455509"/>
                  </a:lnTo>
                  <a:lnTo>
                    <a:pt x="506318" y="499326"/>
                  </a:lnTo>
                  <a:lnTo>
                    <a:pt x="524097" y="543472"/>
                  </a:lnTo>
                  <a:lnTo>
                    <a:pt x="539291" y="587726"/>
                  </a:lnTo>
                  <a:lnTo>
                    <a:pt x="551797" y="631866"/>
                  </a:lnTo>
                  <a:lnTo>
                    <a:pt x="561510" y="675673"/>
                  </a:lnTo>
                  <a:lnTo>
                    <a:pt x="568327" y="718925"/>
                  </a:lnTo>
                </a:path>
              </a:pathLst>
            </a:custGeom>
            <a:ln w="59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869428" y="7531133"/>
              <a:ext cx="62865" cy="61594"/>
            </a:xfrm>
            <a:custGeom>
              <a:avLst/>
              <a:gdLst/>
              <a:ahLst/>
              <a:cxnLst/>
              <a:rect l="l" t="t" r="r" b="b"/>
              <a:pathLst>
                <a:path w="62864" h="61595">
                  <a:moveTo>
                    <a:pt x="62324" y="0"/>
                  </a:moveTo>
                  <a:lnTo>
                    <a:pt x="0" y="7866"/>
                  </a:lnTo>
                  <a:lnTo>
                    <a:pt x="38250" y="60988"/>
                  </a:lnTo>
                  <a:lnTo>
                    <a:pt x="62324" y="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25025" y="7619284"/>
              <a:ext cx="347554" cy="318661"/>
            </a:xfrm>
            <a:prstGeom prst="rect">
              <a:avLst/>
            </a:prstGeom>
          </p:spPr>
        </p:pic>
      </p:grpSp>
      <p:sp>
        <p:nvSpPr>
          <p:cNvPr id="78" name="object 78" descr=""/>
          <p:cNvSpPr txBox="1"/>
          <p:nvPr/>
        </p:nvSpPr>
        <p:spPr>
          <a:xfrm rot="1320000">
            <a:off x="913849" y="7295123"/>
            <a:ext cx="519461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900" spc="85">
                <a:solidFill>
                  <a:srgbClr val="231F1F"/>
                </a:solidFill>
                <a:latin typeface="Calibri"/>
                <a:cs typeface="Calibri"/>
              </a:rPr>
              <a:t>Syngamy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179507" y="6847537"/>
            <a:ext cx="386080" cy="29718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85725" marR="5080" indent="-73660">
              <a:lnSpc>
                <a:spcPts val="1060"/>
              </a:lnSpc>
              <a:spcBef>
                <a:spcPts val="150"/>
              </a:spcBef>
            </a:pPr>
            <a:r>
              <a:rPr dirty="0" sz="900" spc="40">
                <a:solidFill>
                  <a:srgbClr val="231F1F"/>
                </a:solidFill>
                <a:latin typeface="Calibri"/>
                <a:cs typeface="Calibri"/>
              </a:rPr>
              <a:t>Zygote </a:t>
            </a:r>
            <a:r>
              <a:rPr dirty="0" sz="900" spc="-20">
                <a:solidFill>
                  <a:srgbClr val="231F1F"/>
                </a:solidFill>
                <a:latin typeface="Calibri"/>
                <a:cs typeface="Calibri"/>
              </a:rPr>
              <a:t>(2n)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579327" y="7745796"/>
            <a:ext cx="85915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55">
                <a:solidFill>
                  <a:srgbClr val="231F1F"/>
                </a:solidFill>
                <a:latin typeface="Calibri"/>
                <a:cs typeface="Calibri"/>
              </a:rPr>
              <a:t>Gametogenesis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691805" y="6619712"/>
            <a:ext cx="655955" cy="29718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39395" marR="5080" indent="-227329">
              <a:lnSpc>
                <a:spcPts val="1060"/>
              </a:lnSpc>
              <a:spcBef>
                <a:spcPts val="150"/>
              </a:spcBef>
            </a:pPr>
            <a:r>
              <a:rPr dirty="0" sz="900" spc="55">
                <a:solidFill>
                  <a:srgbClr val="231F1F"/>
                </a:solidFill>
                <a:latin typeface="Calibri"/>
                <a:cs typeface="Calibri"/>
              </a:rPr>
              <a:t>Sporophyte </a:t>
            </a:r>
            <a:r>
              <a:rPr dirty="0" sz="900" spc="-20">
                <a:solidFill>
                  <a:srgbClr val="231F1F"/>
                </a:solidFill>
                <a:latin typeface="Calibri"/>
                <a:cs typeface="Calibri"/>
              </a:rPr>
              <a:t>(2n)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814686" y="8483424"/>
            <a:ext cx="15240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689789" y="7073770"/>
            <a:ext cx="2592070" cy="733425"/>
            <a:chOff x="689789" y="7073770"/>
            <a:chExt cx="2592070" cy="733425"/>
          </a:xfrm>
        </p:grpSpPr>
        <p:pic>
          <p:nvPicPr>
            <p:cNvPr id="84" name="object 8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13214" y="7073770"/>
              <a:ext cx="132305" cy="181645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692789" y="7276291"/>
              <a:ext cx="2586355" cy="527685"/>
            </a:xfrm>
            <a:custGeom>
              <a:avLst/>
              <a:gdLst/>
              <a:ahLst/>
              <a:cxnLst/>
              <a:rect l="l" t="t" r="r" b="b"/>
              <a:pathLst>
                <a:path w="2586354" h="527684">
                  <a:moveTo>
                    <a:pt x="0" y="0"/>
                  </a:moveTo>
                  <a:lnTo>
                    <a:pt x="1375081" y="527648"/>
                  </a:lnTo>
                  <a:lnTo>
                    <a:pt x="2585990" y="520053"/>
                  </a:lnTo>
                </a:path>
              </a:pathLst>
            </a:custGeom>
            <a:ln w="6000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671842" y="8929496"/>
            <a:ext cx="28460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Figure</a:t>
            </a:r>
            <a:r>
              <a:rPr dirty="0" sz="950" spc="30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120" b="1">
                <a:solidFill>
                  <a:srgbClr val="231F1F"/>
                </a:solidFill>
                <a:latin typeface="Calibri"/>
                <a:cs typeface="Calibri"/>
              </a:rPr>
              <a:t>3.7</a:t>
            </a:r>
            <a:r>
              <a:rPr dirty="0" sz="950" spc="484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9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9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patterns</a:t>
            </a:r>
            <a:r>
              <a:rPr dirty="0" sz="9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solidFill>
                  <a:srgbClr val="231F1F"/>
                </a:solidFill>
                <a:latin typeface="Calibri"/>
                <a:cs typeface="Calibri"/>
              </a:rPr>
              <a:t>:</a:t>
            </a:r>
            <a:r>
              <a:rPr dirty="0" sz="9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(a)</a:t>
            </a:r>
            <a:r>
              <a:rPr dirty="0" sz="9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80">
                <a:solidFill>
                  <a:srgbClr val="231F1F"/>
                </a:solidFill>
                <a:latin typeface="Calibri"/>
                <a:cs typeface="Calibri"/>
              </a:rPr>
              <a:t>Haplontic</a:t>
            </a:r>
            <a:endParaRPr sz="95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</a:pP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(b)</a:t>
            </a:r>
            <a:r>
              <a:rPr dirty="0" sz="950" spc="25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r>
              <a:rPr dirty="0" sz="950" spc="260">
                <a:solidFill>
                  <a:srgbClr val="231F1F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231F1F"/>
                </a:solidFill>
                <a:latin typeface="Calibri"/>
                <a:cs typeface="Calibri"/>
              </a:rPr>
              <a:t>(c)</a:t>
            </a:r>
            <a:r>
              <a:rPr dirty="0" sz="9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950" spc="75">
                <a:solidFill>
                  <a:srgbClr val="231F1F"/>
                </a:solidFill>
                <a:latin typeface="Calibri"/>
                <a:cs typeface="Calibri"/>
              </a:rPr>
              <a:t>Haplo-</a:t>
            </a:r>
            <a:r>
              <a:rPr dirty="0" sz="950" spc="55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7" name="object 8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43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2086948" y="5256194"/>
            <a:ext cx="3352800" cy="3352800"/>
          </a:xfrm>
          <a:custGeom>
            <a:avLst/>
            <a:gdLst/>
            <a:ahLst/>
            <a:cxnLst/>
            <a:rect l="l" t="t" r="r" b="b"/>
            <a:pathLst>
              <a:path w="3352800" h="3352800">
                <a:moveTo>
                  <a:pt x="1676335" y="0"/>
                </a:moveTo>
                <a:lnTo>
                  <a:pt x="1627900" y="692"/>
                </a:lnTo>
                <a:lnTo>
                  <a:pt x="1579800" y="2756"/>
                </a:lnTo>
                <a:lnTo>
                  <a:pt x="1532051" y="6172"/>
                </a:lnTo>
                <a:lnTo>
                  <a:pt x="1484673" y="10923"/>
                </a:lnTo>
                <a:lnTo>
                  <a:pt x="1437686" y="16989"/>
                </a:lnTo>
                <a:lnTo>
                  <a:pt x="1391107" y="24352"/>
                </a:lnTo>
                <a:lnTo>
                  <a:pt x="1344956" y="32991"/>
                </a:lnTo>
                <a:lnTo>
                  <a:pt x="1299251" y="42889"/>
                </a:lnTo>
                <a:lnTo>
                  <a:pt x="1254012" y="54027"/>
                </a:lnTo>
                <a:lnTo>
                  <a:pt x="1209258" y="66385"/>
                </a:lnTo>
                <a:lnTo>
                  <a:pt x="1165006" y="79946"/>
                </a:lnTo>
                <a:lnTo>
                  <a:pt x="1121277" y="94689"/>
                </a:lnTo>
                <a:lnTo>
                  <a:pt x="1078088" y="110596"/>
                </a:lnTo>
                <a:lnTo>
                  <a:pt x="1035460" y="127649"/>
                </a:lnTo>
                <a:lnTo>
                  <a:pt x="993410" y="145828"/>
                </a:lnTo>
                <a:lnTo>
                  <a:pt x="951958" y="165114"/>
                </a:lnTo>
                <a:lnTo>
                  <a:pt x="911122" y="185489"/>
                </a:lnTo>
                <a:lnTo>
                  <a:pt x="870922" y="206933"/>
                </a:lnTo>
                <a:lnTo>
                  <a:pt x="831376" y="229428"/>
                </a:lnTo>
                <a:lnTo>
                  <a:pt x="792503" y="252955"/>
                </a:lnTo>
                <a:lnTo>
                  <a:pt x="754322" y="277496"/>
                </a:lnTo>
                <a:lnTo>
                  <a:pt x="716853" y="303030"/>
                </a:lnTo>
                <a:lnTo>
                  <a:pt x="680113" y="329540"/>
                </a:lnTo>
                <a:lnTo>
                  <a:pt x="644121" y="357006"/>
                </a:lnTo>
                <a:lnTo>
                  <a:pt x="608898" y="385409"/>
                </a:lnTo>
                <a:lnTo>
                  <a:pt x="574460" y="414731"/>
                </a:lnTo>
                <a:lnTo>
                  <a:pt x="540828" y="444953"/>
                </a:lnTo>
                <a:lnTo>
                  <a:pt x="508020" y="476056"/>
                </a:lnTo>
                <a:lnTo>
                  <a:pt x="476056" y="508020"/>
                </a:lnTo>
                <a:lnTo>
                  <a:pt x="444953" y="540828"/>
                </a:lnTo>
                <a:lnTo>
                  <a:pt x="414731" y="574460"/>
                </a:lnTo>
                <a:lnTo>
                  <a:pt x="385409" y="608898"/>
                </a:lnTo>
                <a:lnTo>
                  <a:pt x="357006" y="644121"/>
                </a:lnTo>
                <a:lnTo>
                  <a:pt x="329540" y="680113"/>
                </a:lnTo>
                <a:lnTo>
                  <a:pt x="303030" y="716853"/>
                </a:lnTo>
                <a:lnTo>
                  <a:pt x="277496" y="754322"/>
                </a:lnTo>
                <a:lnTo>
                  <a:pt x="252955" y="792503"/>
                </a:lnTo>
                <a:lnTo>
                  <a:pt x="229428" y="831376"/>
                </a:lnTo>
                <a:lnTo>
                  <a:pt x="206933" y="870922"/>
                </a:lnTo>
                <a:lnTo>
                  <a:pt x="185489" y="911122"/>
                </a:lnTo>
                <a:lnTo>
                  <a:pt x="165114" y="951958"/>
                </a:lnTo>
                <a:lnTo>
                  <a:pt x="145828" y="993410"/>
                </a:lnTo>
                <a:lnTo>
                  <a:pt x="127649" y="1035460"/>
                </a:lnTo>
                <a:lnTo>
                  <a:pt x="110596" y="1078088"/>
                </a:lnTo>
                <a:lnTo>
                  <a:pt x="94689" y="1121277"/>
                </a:lnTo>
                <a:lnTo>
                  <a:pt x="79946" y="1165006"/>
                </a:lnTo>
                <a:lnTo>
                  <a:pt x="66385" y="1209258"/>
                </a:lnTo>
                <a:lnTo>
                  <a:pt x="54027" y="1254012"/>
                </a:lnTo>
                <a:lnTo>
                  <a:pt x="42889" y="1299251"/>
                </a:lnTo>
                <a:lnTo>
                  <a:pt x="32991" y="1344956"/>
                </a:lnTo>
                <a:lnTo>
                  <a:pt x="24352" y="1391107"/>
                </a:lnTo>
                <a:lnTo>
                  <a:pt x="16989" y="1437686"/>
                </a:lnTo>
                <a:lnTo>
                  <a:pt x="10923" y="1484673"/>
                </a:lnTo>
                <a:lnTo>
                  <a:pt x="6172" y="1532051"/>
                </a:lnTo>
                <a:lnTo>
                  <a:pt x="2756" y="1579800"/>
                </a:lnTo>
                <a:lnTo>
                  <a:pt x="692" y="1627900"/>
                </a:lnTo>
                <a:lnTo>
                  <a:pt x="0" y="1676335"/>
                </a:lnTo>
                <a:lnTo>
                  <a:pt x="692" y="1724769"/>
                </a:lnTo>
                <a:lnTo>
                  <a:pt x="2756" y="1772869"/>
                </a:lnTo>
                <a:lnTo>
                  <a:pt x="6172" y="1820618"/>
                </a:lnTo>
                <a:lnTo>
                  <a:pt x="10923" y="1867996"/>
                </a:lnTo>
                <a:lnTo>
                  <a:pt x="16989" y="1914983"/>
                </a:lnTo>
                <a:lnTo>
                  <a:pt x="24352" y="1961562"/>
                </a:lnTo>
                <a:lnTo>
                  <a:pt x="32991" y="2007713"/>
                </a:lnTo>
                <a:lnTo>
                  <a:pt x="42889" y="2053418"/>
                </a:lnTo>
                <a:lnTo>
                  <a:pt x="54027" y="2098657"/>
                </a:lnTo>
                <a:lnTo>
                  <a:pt x="66385" y="2143412"/>
                </a:lnTo>
                <a:lnTo>
                  <a:pt x="79946" y="2187663"/>
                </a:lnTo>
                <a:lnTo>
                  <a:pt x="94689" y="2231392"/>
                </a:lnTo>
                <a:lnTo>
                  <a:pt x="110596" y="2274581"/>
                </a:lnTo>
                <a:lnTo>
                  <a:pt x="127649" y="2317209"/>
                </a:lnTo>
                <a:lnTo>
                  <a:pt x="145828" y="2359259"/>
                </a:lnTo>
                <a:lnTo>
                  <a:pt x="165114" y="2400711"/>
                </a:lnTo>
                <a:lnTo>
                  <a:pt x="185489" y="2441547"/>
                </a:lnTo>
                <a:lnTo>
                  <a:pt x="206933" y="2481747"/>
                </a:lnTo>
                <a:lnTo>
                  <a:pt x="229428" y="2521293"/>
                </a:lnTo>
                <a:lnTo>
                  <a:pt x="252955" y="2560166"/>
                </a:lnTo>
                <a:lnTo>
                  <a:pt x="277496" y="2598347"/>
                </a:lnTo>
                <a:lnTo>
                  <a:pt x="303030" y="2635816"/>
                </a:lnTo>
                <a:lnTo>
                  <a:pt x="329540" y="2672556"/>
                </a:lnTo>
                <a:lnTo>
                  <a:pt x="357006" y="2708548"/>
                </a:lnTo>
                <a:lnTo>
                  <a:pt x="385409" y="2743772"/>
                </a:lnTo>
                <a:lnTo>
                  <a:pt x="414731" y="2778209"/>
                </a:lnTo>
                <a:lnTo>
                  <a:pt x="444953" y="2811841"/>
                </a:lnTo>
                <a:lnTo>
                  <a:pt x="476056" y="2844649"/>
                </a:lnTo>
                <a:lnTo>
                  <a:pt x="508020" y="2876613"/>
                </a:lnTo>
                <a:lnTo>
                  <a:pt x="540828" y="2907716"/>
                </a:lnTo>
                <a:lnTo>
                  <a:pt x="574460" y="2937938"/>
                </a:lnTo>
                <a:lnTo>
                  <a:pt x="608898" y="2967260"/>
                </a:lnTo>
                <a:lnTo>
                  <a:pt x="644121" y="2995663"/>
                </a:lnTo>
                <a:lnTo>
                  <a:pt x="680113" y="3023129"/>
                </a:lnTo>
                <a:lnTo>
                  <a:pt x="716853" y="3049639"/>
                </a:lnTo>
                <a:lnTo>
                  <a:pt x="754322" y="3075173"/>
                </a:lnTo>
                <a:lnTo>
                  <a:pt x="792503" y="3099714"/>
                </a:lnTo>
                <a:lnTo>
                  <a:pt x="831376" y="3123241"/>
                </a:lnTo>
                <a:lnTo>
                  <a:pt x="870922" y="3145736"/>
                </a:lnTo>
                <a:lnTo>
                  <a:pt x="911122" y="3167180"/>
                </a:lnTo>
                <a:lnTo>
                  <a:pt x="951958" y="3187555"/>
                </a:lnTo>
                <a:lnTo>
                  <a:pt x="993410" y="3206842"/>
                </a:lnTo>
                <a:lnTo>
                  <a:pt x="1035460" y="3225020"/>
                </a:lnTo>
                <a:lnTo>
                  <a:pt x="1078088" y="3242073"/>
                </a:lnTo>
                <a:lnTo>
                  <a:pt x="1121277" y="3257980"/>
                </a:lnTo>
                <a:lnTo>
                  <a:pt x="1165006" y="3272723"/>
                </a:lnTo>
                <a:lnTo>
                  <a:pt x="1209258" y="3286284"/>
                </a:lnTo>
                <a:lnTo>
                  <a:pt x="1254012" y="3298642"/>
                </a:lnTo>
                <a:lnTo>
                  <a:pt x="1299251" y="3309780"/>
                </a:lnTo>
                <a:lnTo>
                  <a:pt x="1344956" y="3319678"/>
                </a:lnTo>
                <a:lnTo>
                  <a:pt x="1391107" y="3328317"/>
                </a:lnTo>
                <a:lnTo>
                  <a:pt x="1437686" y="3335680"/>
                </a:lnTo>
                <a:lnTo>
                  <a:pt x="1484673" y="3341746"/>
                </a:lnTo>
                <a:lnTo>
                  <a:pt x="1532051" y="3346497"/>
                </a:lnTo>
                <a:lnTo>
                  <a:pt x="1579800" y="3349913"/>
                </a:lnTo>
                <a:lnTo>
                  <a:pt x="1627900" y="3351977"/>
                </a:lnTo>
                <a:lnTo>
                  <a:pt x="1676335" y="3352670"/>
                </a:lnTo>
                <a:lnTo>
                  <a:pt x="1724769" y="3351977"/>
                </a:lnTo>
                <a:lnTo>
                  <a:pt x="1772869" y="3349913"/>
                </a:lnTo>
                <a:lnTo>
                  <a:pt x="1820618" y="3346497"/>
                </a:lnTo>
                <a:lnTo>
                  <a:pt x="1867996" y="3341746"/>
                </a:lnTo>
                <a:lnTo>
                  <a:pt x="1914983" y="3335680"/>
                </a:lnTo>
                <a:lnTo>
                  <a:pt x="1961562" y="3328317"/>
                </a:lnTo>
                <a:lnTo>
                  <a:pt x="2007713" y="3319678"/>
                </a:lnTo>
                <a:lnTo>
                  <a:pt x="2053418" y="3309780"/>
                </a:lnTo>
                <a:lnTo>
                  <a:pt x="2098657" y="3298642"/>
                </a:lnTo>
                <a:lnTo>
                  <a:pt x="2143412" y="3286284"/>
                </a:lnTo>
                <a:lnTo>
                  <a:pt x="2187663" y="3272723"/>
                </a:lnTo>
                <a:lnTo>
                  <a:pt x="2231392" y="3257980"/>
                </a:lnTo>
                <a:lnTo>
                  <a:pt x="2274581" y="3242073"/>
                </a:lnTo>
                <a:lnTo>
                  <a:pt x="2317209" y="3225020"/>
                </a:lnTo>
                <a:lnTo>
                  <a:pt x="2359259" y="3206842"/>
                </a:lnTo>
                <a:lnTo>
                  <a:pt x="2400711" y="3187555"/>
                </a:lnTo>
                <a:lnTo>
                  <a:pt x="2441547" y="3167180"/>
                </a:lnTo>
                <a:lnTo>
                  <a:pt x="2481747" y="3145736"/>
                </a:lnTo>
                <a:lnTo>
                  <a:pt x="2521293" y="3123241"/>
                </a:lnTo>
                <a:lnTo>
                  <a:pt x="2560166" y="3099714"/>
                </a:lnTo>
                <a:lnTo>
                  <a:pt x="2598347" y="3075173"/>
                </a:lnTo>
                <a:lnTo>
                  <a:pt x="2635816" y="3049639"/>
                </a:lnTo>
                <a:lnTo>
                  <a:pt x="2672556" y="3023129"/>
                </a:lnTo>
                <a:lnTo>
                  <a:pt x="2708548" y="2995663"/>
                </a:lnTo>
                <a:lnTo>
                  <a:pt x="2743772" y="2967260"/>
                </a:lnTo>
                <a:lnTo>
                  <a:pt x="2778209" y="2937938"/>
                </a:lnTo>
                <a:lnTo>
                  <a:pt x="2811841" y="2907716"/>
                </a:lnTo>
                <a:lnTo>
                  <a:pt x="2844649" y="2876613"/>
                </a:lnTo>
                <a:lnTo>
                  <a:pt x="2876613" y="2844649"/>
                </a:lnTo>
                <a:lnTo>
                  <a:pt x="2907716" y="2811841"/>
                </a:lnTo>
                <a:lnTo>
                  <a:pt x="2937938" y="2778209"/>
                </a:lnTo>
                <a:lnTo>
                  <a:pt x="2967260" y="2743772"/>
                </a:lnTo>
                <a:lnTo>
                  <a:pt x="2995663" y="2708548"/>
                </a:lnTo>
                <a:lnTo>
                  <a:pt x="3023129" y="2672556"/>
                </a:lnTo>
                <a:lnTo>
                  <a:pt x="3049639" y="2635816"/>
                </a:lnTo>
                <a:lnTo>
                  <a:pt x="3075173" y="2598347"/>
                </a:lnTo>
                <a:lnTo>
                  <a:pt x="3099714" y="2560166"/>
                </a:lnTo>
                <a:lnTo>
                  <a:pt x="3123241" y="2521293"/>
                </a:lnTo>
                <a:lnTo>
                  <a:pt x="3145736" y="2481747"/>
                </a:lnTo>
                <a:lnTo>
                  <a:pt x="3167180" y="2441547"/>
                </a:lnTo>
                <a:lnTo>
                  <a:pt x="3187555" y="2400711"/>
                </a:lnTo>
                <a:lnTo>
                  <a:pt x="3206842" y="2359259"/>
                </a:lnTo>
                <a:lnTo>
                  <a:pt x="3225020" y="2317209"/>
                </a:lnTo>
                <a:lnTo>
                  <a:pt x="3242073" y="2274581"/>
                </a:lnTo>
                <a:lnTo>
                  <a:pt x="3257980" y="2231392"/>
                </a:lnTo>
                <a:lnTo>
                  <a:pt x="3272723" y="2187663"/>
                </a:lnTo>
                <a:lnTo>
                  <a:pt x="3286284" y="2143412"/>
                </a:lnTo>
                <a:lnTo>
                  <a:pt x="3298642" y="2098657"/>
                </a:lnTo>
                <a:lnTo>
                  <a:pt x="3309780" y="2053418"/>
                </a:lnTo>
                <a:lnTo>
                  <a:pt x="3319678" y="2007713"/>
                </a:lnTo>
                <a:lnTo>
                  <a:pt x="3328317" y="1961562"/>
                </a:lnTo>
                <a:lnTo>
                  <a:pt x="3335680" y="1914983"/>
                </a:lnTo>
                <a:lnTo>
                  <a:pt x="3341746" y="1867996"/>
                </a:lnTo>
                <a:lnTo>
                  <a:pt x="3346497" y="1820618"/>
                </a:lnTo>
                <a:lnTo>
                  <a:pt x="3349913" y="1772869"/>
                </a:lnTo>
                <a:lnTo>
                  <a:pt x="3351977" y="1724769"/>
                </a:lnTo>
                <a:lnTo>
                  <a:pt x="3352670" y="1676335"/>
                </a:lnTo>
                <a:lnTo>
                  <a:pt x="3351977" y="1627900"/>
                </a:lnTo>
                <a:lnTo>
                  <a:pt x="3349913" y="1579800"/>
                </a:lnTo>
                <a:lnTo>
                  <a:pt x="3346497" y="1532051"/>
                </a:lnTo>
                <a:lnTo>
                  <a:pt x="3341746" y="1484673"/>
                </a:lnTo>
                <a:lnTo>
                  <a:pt x="3335680" y="1437686"/>
                </a:lnTo>
                <a:lnTo>
                  <a:pt x="3328317" y="1391107"/>
                </a:lnTo>
                <a:lnTo>
                  <a:pt x="3319678" y="1344956"/>
                </a:lnTo>
                <a:lnTo>
                  <a:pt x="3309780" y="1299251"/>
                </a:lnTo>
                <a:lnTo>
                  <a:pt x="3298642" y="1254012"/>
                </a:lnTo>
                <a:lnTo>
                  <a:pt x="3286284" y="1209258"/>
                </a:lnTo>
                <a:lnTo>
                  <a:pt x="3272723" y="1165006"/>
                </a:lnTo>
                <a:lnTo>
                  <a:pt x="3257980" y="1121277"/>
                </a:lnTo>
                <a:lnTo>
                  <a:pt x="3242073" y="1078088"/>
                </a:lnTo>
                <a:lnTo>
                  <a:pt x="3225020" y="1035460"/>
                </a:lnTo>
                <a:lnTo>
                  <a:pt x="3206842" y="993410"/>
                </a:lnTo>
                <a:lnTo>
                  <a:pt x="3187555" y="951958"/>
                </a:lnTo>
                <a:lnTo>
                  <a:pt x="3167180" y="911122"/>
                </a:lnTo>
                <a:lnTo>
                  <a:pt x="3145736" y="870922"/>
                </a:lnTo>
                <a:lnTo>
                  <a:pt x="3123241" y="831376"/>
                </a:lnTo>
                <a:lnTo>
                  <a:pt x="3099714" y="792503"/>
                </a:lnTo>
                <a:lnTo>
                  <a:pt x="3075173" y="754322"/>
                </a:lnTo>
                <a:lnTo>
                  <a:pt x="3049639" y="716853"/>
                </a:lnTo>
                <a:lnTo>
                  <a:pt x="3023129" y="680113"/>
                </a:lnTo>
                <a:lnTo>
                  <a:pt x="2995663" y="644121"/>
                </a:lnTo>
                <a:lnTo>
                  <a:pt x="2967260" y="608898"/>
                </a:lnTo>
                <a:lnTo>
                  <a:pt x="2937938" y="574460"/>
                </a:lnTo>
                <a:lnTo>
                  <a:pt x="2907716" y="540828"/>
                </a:lnTo>
                <a:lnTo>
                  <a:pt x="2876613" y="508020"/>
                </a:lnTo>
                <a:lnTo>
                  <a:pt x="2844649" y="476056"/>
                </a:lnTo>
                <a:lnTo>
                  <a:pt x="2811841" y="444953"/>
                </a:lnTo>
                <a:lnTo>
                  <a:pt x="2778209" y="414731"/>
                </a:lnTo>
                <a:lnTo>
                  <a:pt x="2743772" y="385409"/>
                </a:lnTo>
                <a:lnTo>
                  <a:pt x="2708548" y="357006"/>
                </a:lnTo>
                <a:lnTo>
                  <a:pt x="2672556" y="329540"/>
                </a:lnTo>
                <a:lnTo>
                  <a:pt x="2635816" y="303030"/>
                </a:lnTo>
                <a:lnTo>
                  <a:pt x="2598347" y="277496"/>
                </a:lnTo>
                <a:lnTo>
                  <a:pt x="2560166" y="252955"/>
                </a:lnTo>
                <a:lnTo>
                  <a:pt x="2521293" y="229428"/>
                </a:lnTo>
                <a:lnTo>
                  <a:pt x="2481747" y="206933"/>
                </a:lnTo>
                <a:lnTo>
                  <a:pt x="2441547" y="185489"/>
                </a:lnTo>
                <a:lnTo>
                  <a:pt x="2400711" y="165114"/>
                </a:lnTo>
                <a:lnTo>
                  <a:pt x="2359259" y="145828"/>
                </a:lnTo>
                <a:lnTo>
                  <a:pt x="2317209" y="127649"/>
                </a:lnTo>
                <a:lnTo>
                  <a:pt x="2274581" y="110596"/>
                </a:lnTo>
                <a:lnTo>
                  <a:pt x="2231392" y="94689"/>
                </a:lnTo>
                <a:lnTo>
                  <a:pt x="2187663" y="79946"/>
                </a:lnTo>
                <a:lnTo>
                  <a:pt x="2143412" y="66385"/>
                </a:lnTo>
                <a:lnTo>
                  <a:pt x="2098657" y="54027"/>
                </a:lnTo>
                <a:lnTo>
                  <a:pt x="2053418" y="42889"/>
                </a:lnTo>
                <a:lnTo>
                  <a:pt x="2007713" y="32991"/>
                </a:lnTo>
                <a:lnTo>
                  <a:pt x="1961562" y="24352"/>
                </a:lnTo>
                <a:lnTo>
                  <a:pt x="1914983" y="16989"/>
                </a:lnTo>
                <a:lnTo>
                  <a:pt x="1867996" y="10923"/>
                </a:lnTo>
                <a:lnTo>
                  <a:pt x="1820618" y="6172"/>
                </a:lnTo>
                <a:lnTo>
                  <a:pt x="1772869" y="2756"/>
                </a:lnTo>
                <a:lnTo>
                  <a:pt x="1724769" y="692"/>
                </a:lnTo>
                <a:lnTo>
                  <a:pt x="1676335" y="0"/>
                </a:lnTo>
                <a:close/>
              </a:path>
            </a:pathLst>
          </a:custGeom>
          <a:solidFill>
            <a:srgbClr val="FFFC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49300" y="1517396"/>
            <a:ext cx="5589905" cy="7645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998855" indent="228600">
              <a:lnSpc>
                <a:spcPct val="111100"/>
              </a:lnSpc>
              <a:spcBef>
                <a:spcPts val="95"/>
              </a:spcBef>
            </a:pP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dominant,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independent,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photosynthetic,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thalloid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erect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phase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is represented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it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alternates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short- lived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multicelluler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totally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partially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dependent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2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its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anchorage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nutrition.</a:t>
            </a:r>
            <a:r>
              <a:rPr dirty="0" sz="1050" spc="1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All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1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represent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pattern.</a:t>
            </a:r>
            <a:endParaRPr sz="1050">
              <a:latin typeface="Calibri"/>
              <a:cs typeface="Calibri"/>
            </a:endParaRPr>
          </a:p>
          <a:p>
            <a:pPr algn="just" marL="12700" marR="991869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represented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a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dominant,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independent,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photosynthetic,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vascular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body.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It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alternates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multicellular, 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saprophytic/autotrophic,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independent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4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short-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lived</a:t>
            </a:r>
            <a:r>
              <a:rPr dirty="0" sz="1050" spc="4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haploid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gametophyte.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pattern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known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haplo-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cycle.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All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exhibit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this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pattern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(Figure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3.7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c).</a:t>
            </a:r>
            <a:endParaRPr sz="1050">
              <a:latin typeface="Calibri"/>
              <a:cs typeface="Calibri"/>
            </a:endParaRPr>
          </a:p>
          <a:p>
            <a:pPr algn="just" marL="12700" marR="1000125" indent="228600">
              <a:lnSpc>
                <a:spcPts val="1400"/>
              </a:lnSpc>
              <a:spcBef>
                <a:spcPts val="65"/>
              </a:spcBef>
            </a:pP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Interestingly,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while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most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algal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genera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haplontic,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some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them 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such</a:t>
            </a:r>
            <a:r>
              <a:rPr dirty="0" sz="1050" spc="1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 i="1">
                <a:solidFill>
                  <a:srgbClr val="231F1F"/>
                </a:solidFill>
                <a:latin typeface="Calibri"/>
                <a:cs typeface="Calibri"/>
              </a:rPr>
              <a:t>Ectocarpus,</a:t>
            </a:r>
            <a:r>
              <a:rPr dirty="0" sz="1050" spc="114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 i="1">
                <a:solidFill>
                  <a:srgbClr val="231F1F"/>
                </a:solidFill>
                <a:latin typeface="Calibri"/>
                <a:cs typeface="Calibri"/>
              </a:rPr>
              <a:t>Polysiphonia,</a:t>
            </a:r>
            <a:r>
              <a:rPr dirty="0" sz="1050" spc="120" i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kelps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haplo-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diplontic.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 i="1">
                <a:solidFill>
                  <a:srgbClr val="231F1F"/>
                </a:solidFill>
                <a:latin typeface="Calibri"/>
                <a:cs typeface="Calibri"/>
              </a:rPr>
              <a:t>Fucus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,</a:t>
            </a:r>
            <a:r>
              <a:rPr dirty="0" sz="1050" spc="1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an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alga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diplontic.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50">
              <a:latin typeface="Calibri"/>
              <a:cs typeface="Calibri"/>
            </a:endParaRPr>
          </a:p>
          <a:p>
            <a:pPr algn="ctr" marL="680720">
              <a:lnSpc>
                <a:spcPct val="100000"/>
              </a:lnSpc>
            </a:pPr>
            <a:r>
              <a:rPr dirty="0" cap="small" sz="1300" spc="-10" b="1">
                <a:solidFill>
                  <a:srgbClr val="00ADEF"/>
                </a:solidFill>
                <a:latin typeface="Calibri"/>
                <a:cs typeface="Calibri"/>
              </a:rPr>
              <a:t>Summary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00">
              <a:latin typeface="Calibri"/>
              <a:cs typeface="Calibri"/>
            </a:endParaRPr>
          </a:p>
          <a:p>
            <a:pPr algn="just" marL="469900" marR="5080">
              <a:lnSpc>
                <a:spcPct val="1111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includes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algae,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bryophytes,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pteridophytes,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angiosperms.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chlorophyll-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bearing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simple,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thalloid,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autotrophic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largely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aquatic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organisms.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Depending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type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pigment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possesed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type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stored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food,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classfied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three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classes,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namely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Chlorophyceae,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Phaeophyceae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Rhodophyceae.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usually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reproduce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vegetatively</a:t>
            </a:r>
            <a:r>
              <a:rPr dirty="0" sz="1050" spc="3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fragmentation,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asexually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types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sexually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by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formation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may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show isogamy,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anisogamy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oogamy.</a:t>
            </a:r>
            <a:endParaRPr sz="1050">
              <a:latin typeface="Calibri"/>
              <a:cs typeface="Calibri"/>
            </a:endParaRPr>
          </a:p>
          <a:p>
            <a:pPr algn="just" marL="469900" marR="6350" indent="228600">
              <a:lnSpc>
                <a:spcPct val="111100"/>
              </a:lnSpc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can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live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soil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but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dependent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for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sexual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reproduction.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Their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more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differentiated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than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algae.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It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thallus-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prostrate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erect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attached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substratum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rhizoids.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possess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root-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like,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leaf-like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stem-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like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structures.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bryophytes</a:t>
            </a:r>
            <a:r>
              <a:rPr dirty="0" sz="1050" spc="20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divided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mosses.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thalloid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dorsiventral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whereas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mosses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have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upright,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slender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axes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bearing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spirally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arranged leaves.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The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bryophyte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is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gamete-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producing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is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 gametophyte.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It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bears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antheridia</a:t>
            </a:r>
            <a:r>
              <a:rPr dirty="0" sz="1050" spc="2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organs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archegonia.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fuse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zygote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multicellular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body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sporophyte.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It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haploid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spores.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spores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germinate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gametophytes.</a:t>
            </a:r>
            <a:endParaRPr sz="1050">
              <a:latin typeface="Calibri"/>
              <a:cs typeface="Calibri"/>
            </a:endParaRPr>
          </a:p>
          <a:p>
            <a:pPr algn="just" marL="469900" marR="5715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pteridophytes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main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sporophyte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differentiated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into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true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root,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stem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leaves.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possess</a:t>
            </a:r>
            <a:r>
              <a:rPr dirty="0" sz="1050" spc="2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well-differentiated</a:t>
            </a:r>
            <a:r>
              <a:rPr dirty="0" sz="1050" spc="229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vascular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tissues.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sporophytes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bear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sporangia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2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spores.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spores germinate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4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require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cool,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damp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places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grow.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gametophytes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bear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antheridia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archegonia,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respectively.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Water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required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for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transfer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archegonium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where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formed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fertilisation.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sporophyte.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2" y="9763759"/>
            <a:ext cx="7773034" cy="660400"/>
            <a:chOff x="-112" y="9763759"/>
            <a:chExt cx="7773034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73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25"/>
            <a:ext cx="7772400" cy="1333500"/>
            <a:chOff x="0" y="25"/>
            <a:chExt cx="7772400" cy="1333500"/>
          </a:xfrm>
        </p:grpSpPr>
        <p:sp>
          <p:nvSpPr>
            <p:cNvPr id="6" name="object 6" descr=""/>
            <p:cNvSpPr/>
            <p:nvPr/>
          </p:nvSpPr>
          <p:spPr>
            <a:xfrm>
              <a:off x="0" y="1041424"/>
              <a:ext cx="7772400" cy="129539"/>
            </a:xfrm>
            <a:custGeom>
              <a:avLst/>
              <a:gdLst/>
              <a:ahLst/>
              <a:cxnLst/>
              <a:rect l="l" t="t" r="r" b="b"/>
              <a:pathLst>
                <a:path w="7772400" h="129540">
                  <a:moveTo>
                    <a:pt x="0" y="129538"/>
                  </a:moveTo>
                  <a:lnTo>
                    <a:pt x="7772284" y="129538"/>
                  </a:lnTo>
                  <a:lnTo>
                    <a:pt x="7772284" y="0"/>
                  </a:lnTo>
                  <a:lnTo>
                    <a:pt x="0" y="0"/>
                  </a:lnTo>
                  <a:lnTo>
                    <a:pt x="0" y="129538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25"/>
              <a:ext cx="7772400" cy="1041400"/>
            </a:xfrm>
            <a:custGeom>
              <a:avLst/>
              <a:gdLst/>
              <a:ahLst/>
              <a:cxnLst/>
              <a:rect l="l" t="t" r="r" b="b"/>
              <a:pathLst>
                <a:path w="7772400" h="1041400">
                  <a:moveTo>
                    <a:pt x="7772284" y="0"/>
                  </a:moveTo>
                  <a:lnTo>
                    <a:pt x="0" y="0"/>
                  </a:lnTo>
                  <a:lnTo>
                    <a:pt x="0" y="1041399"/>
                  </a:lnTo>
                  <a:lnTo>
                    <a:pt x="7772284" y="1041399"/>
                  </a:lnTo>
                  <a:lnTo>
                    <a:pt x="7772284" y="0"/>
                  </a:lnTo>
                  <a:close/>
                </a:path>
              </a:pathLst>
            </a:custGeom>
            <a:solidFill>
              <a:srgbClr val="E6EF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0486" y="876286"/>
              <a:ext cx="444500" cy="457200"/>
            </a:xfrm>
            <a:custGeom>
              <a:avLst/>
              <a:gdLst/>
              <a:ahLst/>
              <a:cxnLst/>
              <a:rect l="l" t="t" r="r" b="b"/>
              <a:pathLst>
                <a:path w="444500" h="457200">
                  <a:moveTo>
                    <a:pt x="330197" y="0"/>
                  </a:moveTo>
                  <a:lnTo>
                    <a:pt x="114303" y="0"/>
                  </a:lnTo>
                  <a:lnTo>
                    <a:pt x="91496" y="2091"/>
                  </a:lnTo>
                  <a:lnTo>
                    <a:pt x="51084" y="18826"/>
                  </a:lnTo>
                  <a:lnTo>
                    <a:pt x="18834" y="51079"/>
                  </a:lnTo>
                  <a:lnTo>
                    <a:pt x="2092" y="91524"/>
                  </a:lnTo>
                  <a:lnTo>
                    <a:pt x="0" y="114331"/>
                  </a:lnTo>
                  <a:lnTo>
                    <a:pt x="0" y="342924"/>
                  </a:lnTo>
                  <a:lnTo>
                    <a:pt x="8371" y="386784"/>
                  </a:lnTo>
                  <a:lnTo>
                    <a:pt x="33482" y="423716"/>
                  </a:lnTo>
                  <a:lnTo>
                    <a:pt x="70423" y="448818"/>
                  </a:lnTo>
                  <a:lnTo>
                    <a:pt x="114303" y="457184"/>
                  </a:lnTo>
                  <a:lnTo>
                    <a:pt x="330197" y="457184"/>
                  </a:lnTo>
                  <a:lnTo>
                    <a:pt x="374081" y="448818"/>
                  </a:lnTo>
                  <a:lnTo>
                    <a:pt x="411025" y="423716"/>
                  </a:lnTo>
                  <a:lnTo>
                    <a:pt x="436133" y="386784"/>
                  </a:lnTo>
                  <a:lnTo>
                    <a:pt x="444501" y="342924"/>
                  </a:lnTo>
                  <a:lnTo>
                    <a:pt x="444501" y="114331"/>
                  </a:lnTo>
                  <a:lnTo>
                    <a:pt x="436133" y="70435"/>
                  </a:lnTo>
                  <a:lnTo>
                    <a:pt x="411025" y="33468"/>
                  </a:lnTo>
                  <a:lnTo>
                    <a:pt x="374081" y="8367"/>
                  </a:lnTo>
                  <a:lnTo>
                    <a:pt x="330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92085" y="1008519"/>
            <a:ext cx="2070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20" b="1">
                <a:solidFill>
                  <a:srgbClr val="231F1F"/>
                </a:solidFill>
                <a:latin typeface="Calibri"/>
                <a:cs typeface="Calibri"/>
              </a:rPr>
              <a:t>44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4952" y="1008519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Biology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9" y="1140"/>
            <a:ext cx="232410" cy="234315"/>
            <a:chOff x="1029" y="1140"/>
            <a:chExt cx="232410" cy="234315"/>
          </a:xfrm>
        </p:grpSpPr>
        <p:sp>
          <p:nvSpPr>
            <p:cNvPr id="12" name="object 12" descr=""/>
            <p:cNvSpPr/>
            <p:nvPr/>
          </p:nvSpPr>
          <p:spPr>
            <a:xfrm>
              <a:off x="1029" y="2335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1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1537" y="114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2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029" y="1019251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1" y="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1537" y="10238613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79">
                <a:moveTo>
                  <a:pt x="0" y="0"/>
                </a:moveTo>
                <a:lnTo>
                  <a:pt x="0" y="182878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68874" y="10193655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175">
            <a:solidFill>
              <a:srgbClr val="23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340958" y="1916002"/>
            <a:ext cx="3352800" cy="3353435"/>
          </a:xfrm>
          <a:custGeom>
            <a:avLst/>
            <a:gdLst/>
            <a:ahLst/>
            <a:cxnLst/>
            <a:rect l="l" t="t" r="r" b="b"/>
            <a:pathLst>
              <a:path w="3352800" h="3353435">
                <a:moveTo>
                  <a:pt x="1676335" y="0"/>
                </a:moveTo>
                <a:lnTo>
                  <a:pt x="1627900" y="692"/>
                </a:lnTo>
                <a:lnTo>
                  <a:pt x="1579800" y="2756"/>
                </a:lnTo>
                <a:lnTo>
                  <a:pt x="1532051" y="6173"/>
                </a:lnTo>
                <a:lnTo>
                  <a:pt x="1484673" y="10924"/>
                </a:lnTo>
                <a:lnTo>
                  <a:pt x="1437686" y="16990"/>
                </a:lnTo>
                <a:lnTo>
                  <a:pt x="1391107" y="24353"/>
                </a:lnTo>
                <a:lnTo>
                  <a:pt x="1344956" y="32993"/>
                </a:lnTo>
                <a:lnTo>
                  <a:pt x="1299251" y="42891"/>
                </a:lnTo>
                <a:lnTo>
                  <a:pt x="1254012" y="54029"/>
                </a:lnTo>
                <a:lnTo>
                  <a:pt x="1209258" y="66388"/>
                </a:lnTo>
                <a:lnTo>
                  <a:pt x="1165006" y="79949"/>
                </a:lnTo>
                <a:lnTo>
                  <a:pt x="1121277" y="94693"/>
                </a:lnTo>
                <a:lnTo>
                  <a:pt x="1078088" y="110602"/>
                </a:lnTo>
                <a:lnTo>
                  <a:pt x="1035460" y="127655"/>
                </a:lnTo>
                <a:lnTo>
                  <a:pt x="993410" y="145835"/>
                </a:lnTo>
                <a:lnTo>
                  <a:pt x="951958" y="165122"/>
                </a:lnTo>
                <a:lnTo>
                  <a:pt x="911122" y="185498"/>
                </a:lnTo>
                <a:lnTo>
                  <a:pt x="870922" y="206944"/>
                </a:lnTo>
                <a:lnTo>
                  <a:pt x="831376" y="229441"/>
                </a:lnTo>
                <a:lnTo>
                  <a:pt x="792503" y="252969"/>
                </a:lnTo>
                <a:lnTo>
                  <a:pt x="754322" y="277511"/>
                </a:lnTo>
                <a:lnTo>
                  <a:pt x="716853" y="303047"/>
                </a:lnTo>
                <a:lnTo>
                  <a:pt x="680113" y="329559"/>
                </a:lnTo>
                <a:lnTo>
                  <a:pt x="644121" y="357027"/>
                </a:lnTo>
                <a:lnTo>
                  <a:pt x="608898" y="385432"/>
                </a:lnTo>
                <a:lnTo>
                  <a:pt x="574460" y="414756"/>
                </a:lnTo>
                <a:lnTo>
                  <a:pt x="540828" y="444981"/>
                </a:lnTo>
                <a:lnTo>
                  <a:pt x="508020" y="476086"/>
                </a:lnTo>
                <a:lnTo>
                  <a:pt x="476056" y="508053"/>
                </a:lnTo>
                <a:lnTo>
                  <a:pt x="444953" y="540863"/>
                </a:lnTo>
                <a:lnTo>
                  <a:pt x="414731" y="574498"/>
                </a:lnTo>
                <a:lnTo>
                  <a:pt x="385409" y="608938"/>
                </a:lnTo>
                <a:lnTo>
                  <a:pt x="357006" y="644165"/>
                </a:lnTo>
                <a:lnTo>
                  <a:pt x="329540" y="680160"/>
                </a:lnTo>
                <a:lnTo>
                  <a:pt x="303030" y="716903"/>
                </a:lnTo>
                <a:lnTo>
                  <a:pt x="277496" y="754376"/>
                </a:lnTo>
                <a:lnTo>
                  <a:pt x="252955" y="792561"/>
                </a:lnTo>
                <a:lnTo>
                  <a:pt x="229428" y="831437"/>
                </a:lnTo>
                <a:lnTo>
                  <a:pt x="206933" y="870987"/>
                </a:lnTo>
                <a:lnTo>
                  <a:pt x="185489" y="911191"/>
                </a:lnTo>
                <a:lnTo>
                  <a:pt x="165114" y="952031"/>
                </a:lnTo>
                <a:lnTo>
                  <a:pt x="145828" y="993488"/>
                </a:lnTo>
                <a:lnTo>
                  <a:pt x="127649" y="1035542"/>
                </a:lnTo>
                <a:lnTo>
                  <a:pt x="110596" y="1078175"/>
                </a:lnTo>
                <a:lnTo>
                  <a:pt x="94689" y="1121368"/>
                </a:lnTo>
                <a:lnTo>
                  <a:pt x="79946" y="1165103"/>
                </a:lnTo>
                <a:lnTo>
                  <a:pt x="66385" y="1209359"/>
                </a:lnTo>
                <a:lnTo>
                  <a:pt x="54027" y="1254119"/>
                </a:lnTo>
                <a:lnTo>
                  <a:pt x="42889" y="1299364"/>
                </a:lnTo>
                <a:lnTo>
                  <a:pt x="32991" y="1345074"/>
                </a:lnTo>
                <a:lnTo>
                  <a:pt x="24352" y="1391231"/>
                </a:lnTo>
                <a:lnTo>
                  <a:pt x="16989" y="1437816"/>
                </a:lnTo>
                <a:lnTo>
                  <a:pt x="10923" y="1484810"/>
                </a:lnTo>
                <a:lnTo>
                  <a:pt x="6172" y="1532194"/>
                </a:lnTo>
                <a:lnTo>
                  <a:pt x="2756" y="1579949"/>
                </a:lnTo>
                <a:lnTo>
                  <a:pt x="692" y="1628057"/>
                </a:lnTo>
                <a:lnTo>
                  <a:pt x="0" y="1676498"/>
                </a:lnTo>
                <a:lnTo>
                  <a:pt x="692" y="1724938"/>
                </a:lnTo>
                <a:lnTo>
                  <a:pt x="2756" y="1773044"/>
                </a:lnTo>
                <a:lnTo>
                  <a:pt x="6172" y="1820798"/>
                </a:lnTo>
                <a:lnTo>
                  <a:pt x="10923" y="1868181"/>
                </a:lnTo>
                <a:lnTo>
                  <a:pt x="16989" y="1915174"/>
                </a:lnTo>
                <a:lnTo>
                  <a:pt x="24352" y="1961758"/>
                </a:lnTo>
                <a:lnTo>
                  <a:pt x="32991" y="2007915"/>
                </a:lnTo>
                <a:lnTo>
                  <a:pt x="42889" y="2053624"/>
                </a:lnTo>
                <a:lnTo>
                  <a:pt x="54027" y="2098869"/>
                </a:lnTo>
                <a:lnTo>
                  <a:pt x="66385" y="2143628"/>
                </a:lnTo>
                <a:lnTo>
                  <a:pt x="79946" y="2187885"/>
                </a:lnTo>
                <a:lnTo>
                  <a:pt x="94689" y="2231619"/>
                </a:lnTo>
                <a:lnTo>
                  <a:pt x="110596" y="2274813"/>
                </a:lnTo>
                <a:lnTo>
                  <a:pt x="127649" y="2317446"/>
                </a:lnTo>
                <a:lnTo>
                  <a:pt x="145828" y="2359501"/>
                </a:lnTo>
                <a:lnTo>
                  <a:pt x="165114" y="2400958"/>
                </a:lnTo>
                <a:lnTo>
                  <a:pt x="185489" y="2441798"/>
                </a:lnTo>
                <a:lnTo>
                  <a:pt x="206933" y="2482003"/>
                </a:lnTo>
                <a:lnTo>
                  <a:pt x="229428" y="2521553"/>
                </a:lnTo>
                <a:lnTo>
                  <a:pt x="252955" y="2560431"/>
                </a:lnTo>
                <a:lnTo>
                  <a:pt x="277496" y="2598616"/>
                </a:lnTo>
                <a:lnTo>
                  <a:pt x="303030" y="2636090"/>
                </a:lnTo>
                <a:lnTo>
                  <a:pt x="329540" y="2672834"/>
                </a:lnTo>
                <a:lnTo>
                  <a:pt x="357006" y="2708829"/>
                </a:lnTo>
                <a:lnTo>
                  <a:pt x="385409" y="2744057"/>
                </a:lnTo>
                <a:lnTo>
                  <a:pt x="414731" y="2778498"/>
                </a:lnTo>
                <a:lnTo>
                  <a:pt x="444953" y="2812134"/>
                </a:lnTo>
                <a:lnTo>
                  <a:pt x="476056" y="2844946"/>
                </a:lnTo>
                <a:lnTo>
                  <a:pt x="508020" y="2876914"/>
                </a:lnTo>
                <a:lnTo>
                  <a:pt x="540828" y="2908020"/>
                </a:lnTo>
                <a:lnTo>
                  <a:pt x="574460" y="2938246"/>
                </a:lnTo>
                <a:lnTo>
                  <a:pt x="608898" y="2967571"/>
                </a:lnTo>
                <a:lnTo>
                  <a:pt x="644121" y="2995978"/>
                </a:lnTo>
                <a:lnTo>
                  <a:pt x="680113" y="3023447"/>
                </a:lnTo>
                <a:lnTo>
                  <a:pt x="716853" y="3049960"/>
                </a:lnTo>
                <a:lnTo>
                  <a:pt x="754322" y="3075497"/>
                </a:lnTo>
                <a:lnTo>
                  <a:pt x="792503" y="3100040"/>
                </a:lnTo>
                <a:lnTo>
                  <a:pt x="831376" y="3123570"/>
                </a:lnTo>
                <a:lnTo>
                  <a:pt x="870922" y="3146068"/>
                </a:lnTo>
                <a:lnTo>
                  <a:pt x="911122" y="3167515"/>
                </a:lnTo>
                <a:lnTo>
                  <a:pt x="951958" y="3187892"/>
                </a:lnTo>
                <a:lnTo>
                  <a:pt x="993410" y="3207180"/>
                </a:lnTo>
                <a:lnTo>
                  <a:pt x="1035460" y="3225361"/>
                </a:lnTo>
                <a:lnTo>
                  <a:pt x="1078088" y="3242416"/>
                </a:lnTo>
                <a:lnTo>
                  <a:pt x="1121277" y="3258325"/>
                </a:lnTo>
                <a:lnTo>
                  <a:pt x="1165006" y="3273070"/>
                </a:lnTo>
                <a:lnTo>
                  <a:pt x="1209258" y="3286631"/>
                </a:lnTo>
                <a:lnTo>
                  <a:pt x="1254012" y="3298991"/>
                </a:lnTo>
                <a:lnTo>
                  <a:pt x="1299251" y="3310130"/>
                </a:lnTo>
                <a:lnTo>
                  <a:pt x="1344956" y="3320029"/>
                </a:lnTo>
                <a:lnTo>
                  <a:pt x="1391107" y="3328670"/>
                </a:lnTo>
                <a:lnTo>
                  <a:pt x="1437686" y="3336033"/>
                </a:lnTo>
                <a:lnTo>
                  <a:pt x="1484673" y="3342100"/>
                </a:lnTo>
                <a:lnTo>
                  <a:pt x="1532051" y="3346851"/>
                </a:lnTo>
                <a:lnTo>
                  <a:pt x="1579800" y="3350268"/>
                </a:lnTo>
                <a:lnTo>
                  <a:pt x="1627900" y="3352333"/>
                </a:lnTo>
                <a:lnTo>
                  <a:pt x="1676335" y="3353025"/>
                </a:lnTo>
                <a:lnTo>
                  <a:pt x="1724769" y="3352333"/>
                </a:lnTo>
                <a:lnTo>
                  <a:pt x="1772869" y="3350268"/>
                </a:lnTo>
                <a:lnTo>
                  <a:pt x="1820618" y="3346851"/>
                </a:lnTo>
                <a:lnTo>
                  <a:pt x="1867996" y="3342100"/>
                </a:lnTo>
                <a:lnTo>
                  <a:pt x="1914983" y="3336033"/>
                </a:lnTo>
                <a:lnTo>
                  <a:pt x="1961562" y="3328670"/>
                </a:lnTo>
                <a:lnTo>
                  <a:pt x="2007713" y="3320029"/>
                </a:lnTo>
                <a:lnTo>
                  <a:pt x="2053418" y="3310130"/>
                </a:lnTo>
                <a:lnTo>
                  <a:pt x="2098657" y="3298991"/>
                </a:lnTo>
                <a:lnTo>
                  <a:pt x="2143412" y="3286631"/>
                </a:lnTo>
                <a:lnTo>
                  <a:pt x="2187664" y="3273070"/>
                </a:lnTo>
                <a:lnTo>
                  <a:pt x="2231393" y="3258325"/>
                </a:lnTo>
                <a:lnTo>
                  <a:pt x="2274582" y="3242416"/>
                </a:lnTo>
                <a:lnTo>
                  <a:pt x="2317210" y="3225361"/>
                </a:lnTo>
                <a:lnTo>
                  <a:pt x="2359260" y="3207180"/>
                </a:lnTo>
                <a:lnTo>
                  <a:pt x="2400713" y="3187892"/>
                </a:lnTo>
                <a:lnTo>
                  <a:pt x="2441548" y="3167515"/>
                </a:lnTo>
                <a:lnTo>
                  <a:pt x="2481749" y="3146068"/>
                </a:lnTo>
                <a:lnTo>
                  <a:pt x="2521295" y="3123570"/>
                </a:lnTo>
                <a:lnTo>
                  <a:pt x="2560168" y="3100040"/>
                </a:lnTo>
                <a:lnTo>
                  <a:pt x="2598349" y="3075497"/>
                </a:lnTo>
                <a:lnTo>
                  <a:pt x="2635819" y="3049960"/>
                </a:lnTo>
                <a:lnTo>
                  <a:pt x="2672559" y="3023447"/>
                </a:lnTo>
                <a:lnTo>
                  <a:pt x="2708550" y="2995978"/>
                </a:lnTo>
                <a:lnTo>
                  <a:pt x="2743774" y="2967571"/>
                </a:lnTo>
                <a:lnTo>
                  <a:pt x="2778212" y="2938246"/>
                </a:lnTo>
                <a:lnTo>
                  <a:pt x="2811844" y="2908020"/>
                </a:lnTo>
                <a:lnTo>
                  <a:pt x="2844652" y="2876914"/>
                </a:lnTo>
                <a:lnTo>
                  <a:pt x="2876617" y="2844946"/>
                </a:lnTo>
                <a:lnTo>
                  <a:pt x="2907720" y="2812134"/>
                </a:lnTo>
                <a:lnTo>
                  <a:pt x="2937942" y="2778498"/>
                </a:lnTo>
                <a:lnTo>
                  <a:pt x="2967264" y="2744057"/>
                </a:lnTo>
                <a:lnTo>
                  <a:pt x="2995668" y="2708829"/>
                </a:lnTo>
                <a:lnTo>
                  <a:pt x="3023134" y="2672834"/>
                </a:lnTo>
                <a:lnTo>
                  <a:pt x="3049644" y="2636090"/>
                </a:lnTo>
                <a:lnTo>
                  <a:pt x="3075178" y="2598616"/>
                </a:lnTo>
                <a:lnTo>
                  <a:pt x="3099719" y="2560431"/>
                </a:lnTo>
                <a:lnTo>
                  <a:pt x="3123246" y="2521553"/>
                </a:lnTo>
                <a:lnTo>
                  <a:pt x="3145741" y="2482003"/>
                </a:lnTo>
                <a:lnTo>
                  <a:pt x="3167186" y="2441798"/>
                </a:lnTo>
                <a:lnTo>
                  <a:pt x="3187561" y="2400958"/>
                </a:lnTo>
                <a:lnTo>
                  <a:pt x="3206847" y="2359501"/>
                </a:lnTo>
                <a:lnTo>
                  <a:pt x="3225026" y="2317446"/>
                </a:lnTo>
                <a:lnTo>
                  <a:pt x="3242079" y="2274813"/>
                </a:lnTo>
                <a:lnTo>
                  <a:pt x="3257986" y="2231619"/>
                </a:lnTo>
                <a:lnTo>
                  <a:pt x="3272730" y="2187885"/>
                </a:lnTo>
                <a:lnTo>
                  <a:pt x="3286290" y="2143628"/>
                </a:lnTo>
                <a:lnTo>
                  <a:pt x="3298649" y="2098869"/>
                </a:lnTo>
                <a:lnTo>
                  <a:pt x="3309786" y="2053624"/>
                </a:lnTo>
                <a:lnTo>
                  <a:pt x="3319685" y="2007915"/>
                </a:lnTo>
                <a:lnTo>
                  <a:pt x="3328324" y="1961758"/>
                </a:lnTo>
                <a:lnTo>
                  <a:pt x="3335687" y="1915174"/>
                </a:lnTo>
                <a:lnTo>
                  <a:pt x="3341753" y="1868181"/>
                </a:lnTo>
                <a:lnTo>
                  <a:pt x="3346504" y="1820798"/>
                </a:lnTo>
                <a:lnTo>
                  <a:pt x="3349920" y="1773044"/>
                </a:lnTo>
                <a:lnTo>
                  <a:pt x="3351984" y="1724938"/>
                </a:lnTo>
                <a:lnTo>
                  <a:pt x="3352677" y="1676498"/>
                </a:lnTo>
                <a:lnTo>
                  <a:pt x="3351984" y="1628057"/>
                </a:lnTo>
                <a:lnTo>
                  <a:pt x="3349920" y="1579949"/>
                </a:lnTo>
                <a:lnTo>
                  <a:pt x="3346504" y="1532194"/>
                </a:lnTo>
                <a:lnTo>
                  <a:pt x="3341753" y="1484810"/>
                </a:lnTo>
                <a:lnTo>
                  <a:pt x="3335687" y="1437816"/>
                </a:lnTo>
                <a:lnTo>
                  <a:pt x="3328324" y="1391231"/>
                </a:lnTo>
                <a:lnTo>
                  <a:pt x="3319685" y="1345074"/>
                </a:lnTo>
                <a:lnTo>
                  <a:pt x="3309786" y="1299364"/>
                </a:lnTo>
                <a:lnTo>
                  <a:pt x="3298649" y="1254119"/>
                </a:lnTo>
                <a:lnTo>
                  <a:pt x="3286290" y="1209359"/>
                </a:lnTo>
                <a:lnTo>
                  <a:pt x="3272730" y="1165103"/>
                </a:lnTo>
                <a:lnTo>
                  <a:pt x="3257986" y="1121368"/>
                </a:lnTo>
                <a:lnTo>
                  <a:pt x="3242079" y="1078175"/>
                </a:lnTo>
                <a:lnTo>
                  <a:pt x="3225026" y="1035542"/>
                </a:lnTo>
                <a:lnTo>
                  <a:pt x="3206847" y="993488"/>
                </a:lnTo>
                <a:lnTo>
                  <a:pt x="3187561" y="952031"/>
                </a:lnTo>
                <a:lnTo>
                  <a:pt x="3167186" y="911191"/>
                </a:lnTo>
                <a:lnTo>
                  <a:pt x="3145741" y="870987"/>
                </a:lnTo>
                <a:lnTo>
                  <a:pt x="3123246" y="831437"/>
                </a:lnTo>
                <a:lnTo>
                  <a:pt x="3099719" y="792561"/>
                </a:lnTo>
                <a:lnTo>
                  <a:pt x="3075178" y="754376"/>
                </a:lnTo>
                <a:lnTo>
                  <a:pt x="3049644" y="716903"/>
                </a:lnTo>
                <a:lnTo>
                  <a:pt x="3023134" y="680160"/>
                </a:lnTo>
                <a:lnTo>
                  <a:pt x="2995668" y="644165"/>
                </a:lnTo>
                <a:lnTo>
                  <a:pt x="2967264" y="608938"/>
                </a:lnTo>
                <a:lnTo>
                  <a:pt x="2937942" y="574498"/>
                </a:lnTo>
                <a:lnTo>
                  <a:pt x="2907720" y="540863"/>
                </a:lnTo>
                <a:lnTo>
                  <a:pt x="2876617" y="508053"/>
                </a:lnTo>
                <a:lnTo>
                  <a:pt x="2844652" y="476086"/>
                </a:lnTo>
                <a:lnTo>
                  <a:pt x="2811844" y="444981"/>
                </a:lnTo>
                <a:lnTo>
                  <a:pt x="2778212" y="414756"/>
                </a:lnTo>
                <a:lnTo>
                  <a:pt x="2743774" y="385432"/>
                </a:lnTo>
                <a:lnTo>
                  <a:pt x="2708550" y="357027"/>
                </a:lnTo>
                <a:lnTo>
                  <a:pt x="2672559" y="329559"/>
                </a:lnTo>
                <a:lnTo>
                  <a:pt x="2635819" y="303047"/>
                </a:lnTo>
                <a:lnTo>
                  <a:pt x="2598349" y="277511"/>
                </a:lnTo>
                <a:lnTo>
                  <a:pt x="2560168" y="252969"/>
                </a:lnTo>
                <a:lnTo>
                  <a:pt x="2521295" y="229441"/>
                </a:lnTo>
                <a:lnTo>
                  <a:pt x="2481749" y="206944"/>
                </a:lnTo>
                <a:lnTo>
                  <a:pt x="2441548" y="185498"/>
                </a:lnTo>
                <a:lnTo>
                  <a:pt x="2400713" y="165122"/>
                </a:lnTo>
                <a:lnTo>
                  <a:pt x="2359260" y="145835"/>
                </a:lnTo>
                <a:lnTo>
                  <a:pt x="2317210" y="127655"/>
                </a:lnTo>
                <a:lnTo>
                  <a:pt x="2274582" y="110602"/>
                </a:lnTo>
                <a:lnTo>
                  <a:pt x="2231393" y="94693"/>
                </a:lnTo>
                <a:lnTo>
                  <a:pt x="2187664" y="79949"/>
                </a:lnTo>
                <a:lnTo>
                  <a:pt x="2143412" y="66388"/>
                </a:lnTo>
                <a:lnTo>
                  <a:pt x="2098657" y="54029"/>
                </a:lnTo>
                <a:lnTo>
                  <a:pt x="2053418" y="42891"/>
                </a:lnTo>
                <a:lnTo>
                  <a:pt x="2007713" y="32993"/>
                </a:lnTo>
                <a:lnTo>
                  <a:pt x="1961562" y="24353"/>
                </a:lnTo>
                <a:lnTo>
                  <a:pt x="1914983" y="16990"/>
                </a:lnTo>
                <a:lnTo>
                  <a:pt x="1867996" y="10924"/>
                </a:lnTo>
                <a:lnTo>
                  <a:pt x="1820618" y="6173"/>
                </a:lnTo>
                <a:lnTo>
                  <a:pt x="1772869" y="2756"/>
                </a:lnTo>
                <a:lnTo>
                  <a:pt x="1724769" y="692"/>
                </a:lnTo>
                <a:lnTo>
                  <a:pt x="1676335" y="0"/>
                </a:lnTo>
                <a:close/>
              </a:path>
            </a:pathLst>
          </a:custGeom>
          <a:solidFill>
            <a:srgbClr val="FFFC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422412" y="1517407"/>
            <a:ext cx="5145405" cy="4114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985" indent="228600">
              <a:lnSpc>
                <a:spcPct val="111100"/>
              </a:lnSpc>
              <a:spcBef>
                <a:spcPts val="95"/>
              </a:spcBef>
            </a:pP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not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enclosed</a:t>
            </a:r>
            <a:r>
              <a:rPr dirty="0" sz="105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by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any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ovary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wall.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fertilisation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seeds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remain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exposed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therefore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these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plants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naked-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seeded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plants.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produce</a:t>
            </a:r>
            <a:r>
              <a:rPr dirty="0" sz="1050" spc="2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microspores</a:t>
            </a:r>
            <a:r>
              <a:rPr dirty="0" sz="1050" spc="2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and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megaspores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produced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microsporangia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megasporangia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borne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on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sporophylls.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sporophylls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microsporophylls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megasporophylls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are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arranged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spirally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axis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form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cones,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respectively.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pollen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grain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germinates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tube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releases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ovule,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where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it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fuses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archegonia.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Following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fertilisation,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5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develops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embryo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the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seeds.</a:t>
            </a:r>
            <a:endParaRPr sz="1050">
              <a:latin typeface="Calibri"/>
              <a:cs typeface="Calibri"/>
            </a:endParaRPr>
          </a:p>
          <a:p>
            <a:pPr algn="just" marL="12700" marR="5080" indent="228600">
              <a:lnSpc>
                <a:spcPct val="111100"/>
              </a:lnSpc>
              <a:spcBef>
                <a:spcPts val="5"/>
              </a:spcBef>
            </a:pP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angiosperms,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(stamen)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organs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(pistil)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borne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flower. </a:t>
            </a:r>
            <a:r>
              <a:rPr dirty="0" sz="1050" spc="130">
                <a:solidFill>
                  <a:srgbClr val="231F1F"/>
                </a:solidFill>
                <a:latin typeface="Calibri"/>
                <a:cs typeface="Calibri"/>
              </a:rPr>
              <a:t>Each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stamen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consists</a:t>
            </a:r>
            <a:r>
              <a:rPr dirty="0" sz="1050" spc="-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filament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anther.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anther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produces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grains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(male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gametophyte)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after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meiosis.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pistil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consists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an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ovary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enclosing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to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many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ovules.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Within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ovule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female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gametophyte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embryo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sac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which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contains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cell.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pollen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tube</a:t>
            </a:r>
            <a:r>
              <a:rPr dirty="0" sz="105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enters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embryo-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sac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where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gametes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discharged.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male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gamete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fuses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egg</a:t>
            </a:r>
            <a:r>
              <a:rPr dirty="0" sz="1050" spc="2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cell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(syngamy)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other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fuses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secondary</a:t>
            </a:r>
            <a:r>
              <a:rPr dirty="0" sz="105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nucleus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(triple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fusion).</a:t>
            </a:r>
            <a:r>
              <a:rPr dirty="0" sz="105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This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phenomenon</a:t>
            </a:r>
            <a:r>
              <a:rPr dirty="0" sz="1050" spc="3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fusions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called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double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fertilisation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2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unique</a:t>
            </a:r>
            <a:r>
              <a:rPr dirty="0" sz="1050" spc="3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25">
                <a:solidFill>
                  <a:srgbClr val="231F1F"/>
                </a:solidFill>
                <a:latin typeface="Calibri"/>
                <a:cs typeface="Calibri"/>
              </a:rPr>
              <a:t>to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angiosperms.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angiosperms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divided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into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classes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1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1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dicotyledons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monocotyledons.</a:t>
            </a:r>
            <a:endParaRPr sz="1050">
              <a:latin typeface="Calibri"/>
              <a:cs typeface="Calibri"/>
            </a:endParaRPr>
          </a:p>
          <a:p>
            <a:pPr algn="just" marL="12700" marR="6985" indent="228600">
              <a:lnSpc>
                <a:spcPts val="1400"/>
              </a:lnSpc>
              <a:spcBef>
                <a:spcPts val="65"/>
              </a:spcBef>
            </a:pPr>
            <a:r>
              <a:rPr dirty="0" sz="1050" spc="114">
                <a:solidFill>
                  <a:srgbClr val="231F1F"/>
                </a:solidFill>
                <a:latin typeface="Calibri"/>
                <a:cs typeface="Calibri"/>
              </a:rPr>
              <a:t>During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any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sexually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reproducing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plant,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there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0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alternation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31F1F"/>
                </a:solidFill>
                <a:latin typeface="Calibri"/>
                <a:cs typeface="Calibri"/>
              </a:rPr>
              <a:t>of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generations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45">
                <a:solidFill>
                  <a:srgbClr val="231F1F"/>
                </a:solidFill>
                <a:latin typeface="Calibri"/>
                <a:cs typeface="Calibri"/>
              </a:rPr>
              <a:t>between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gamete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producing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haploid</a:t>
            </a:r>
            <a:r>
              <a:rPr dirty="0" sz="105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gametophyte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05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spore</a:t>
            </a:r>
            <a:r>
              <a:rPr dirty="0" sz="105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producing</a:t>
            </a:r>
            <a:endParaRPr sz="1050">
              <a:latin typeface="Calibri"/>
              <a:cs typeface="Calibri"/>
            </a:endParaRPr>
          </a:p>
          <a:p>
            <a:pPr algn="just" marL="12700" marR="7620">
              <a:lnSpc>
                <a:spcPts val="1400"/>
              </a:lnSpc>
              <a:spcBef>
                <a:spcPts val="5"/>
              </a:spcBef>
            </a:pPr>
            <a:r>
              <a:rPr dirty="0" sz="1050" spc="70">
                <a:solidFill>
                  <a:srgbClr val="231F1F"/>
                </a:solidFill>
                <a:latin typeface="Calibri"/>
                <a:cs typeface="Calibri"/>
              </a:rPr>
              <a:t>diploid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sporophyte.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However,</a:t>
            </a:r>
            <a:r>
              <a:rPr dirty="0" sz="1050" spc="1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5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90">
                <a:solidFill>
                  <a:srgbClr val="231F1F"/>
                </a:solidFill>
                <a:latin typeface="Calibri"/>
                <a:cs typeface="Calibri"/>
              </a:rPr>
              <a:t>groups</a:t>
            </a:r>
            <a:r>
              <a:rPr dirty="0" sz="1050" spc="1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well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110">
                <a:solidFill>
                  <a:srgbClr val="231F1F"/>
                </a:solidFill>
                <a:latin typeface="Calibri"/>
                <a:cs typeface="Calibri"/>
              </a:rPr>
              <a:t>as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individuals</a:t>
            </a:r>
            <a:r>
              <a:rPr dirty="0" sz="1050" spc="1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may </a:t>
            </a:r>
            <a:r>
              <a:rPr dirty="0" sz="1050" spc="85">
                <a:solidFill>
                  <a:srgbClr val="231F1F"/>
                </a:solidFill>
                <a:latin typeface="Calibri"/>
                <a:cs typeface="Calibri"/>
              </a:rPr>
              <a:t>show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50">
                <a:solidFill>
                  <a:srgbClr val="231F1F"/>
                </a:solidFill>
                <a:latin typeface="Calibri"/>
                <a:cs typeface="Calibri"/>
              </a:rPr>
              <a:t>different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patterns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cycles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31F1F"/>
                </a:solidFill>
                <a:latin typeface="Calibri"/>
                <a:cs typeface="Calibri"/>
              </a:rPr>
              <a:t>–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231F1F"/>
                </a:solidFill>
                <a:latin typeface="Calibri"/>
                <a:cs typeface="Calibri"/>
              </a:rPr>
              <a:t>haplontic,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75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r>
              <a:rPr dirty="0" sz="105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5">
                <a:solidFill>
                  <a:srgbClr val="231F1F"/>
                </a:solidFill>
                <a:latin typeface="Calibri"/>
                <a:cs typeface="Calibri"/>
              </a:rPr>
              <a:t>or</a:t>
            </a:r>
            <a:r>
              <a:rPr dirty="0" sz="105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50" spc="60">
                <a:solidFill>
                  <a:srgbClr val="231F1F"/>
                </a:solidFill>
                <a:latin typeface="Calibri"/>
                <a:cs typeface="Calibri"/>
              </a:rPr>
              <a:t>intermediate.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422412" y="6049657"/>
            <a:ext cx="5143500" cy="295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27965">
              <a:lnSpc>
                <a:spcPct val="100000"/>
              </a:lnSpc>
              <a:spcBef>
                <a:spcPts val="100"/>
              </a:spcBef>
            </a:pPr>
            <a:r>
              <a:rPr dirty="0" cap="small" sz="1300" spc="114" b="1">
                <a:solidFill>
                  <a:srgbClr val="00ADEF"/>
                </a:solidFill>
                <a:latin typeface="Calibri"/>
                <a:cs typeface="Calibri"/>
              </a:rPr>
              <a:t>Exercises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Calibri"/>
              <a:cs typeface="Calibri"/>
            </a:endParaRPr>
          </a:p>
          <a:p>
            <a:pPr algn="just" marL="252729" indent="-240029">
              <a:lnSpc>
                <a:spcPct val="100000"/>
              </a:lnSpc>
              <a:buAutoNum type="arabicPeriod"/>
              <a:tabLst>
                <a:tab pos="252729" algn="l"/>
              </a:tabLst>
            </a:pP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What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is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basis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classification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algae?</a:t>
            </a:r>
            <a:endParaRPr sz="10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116500"/>
              </a:lnSpc>
              <a:spcBef>
                <a:spcPts val="405"/>
              </a:spcBef>
              <a:buAutoNum type="arabicPeriod"/>
              <a:tabLst>
                <a:tab pos="241300" algn="l"/>
                <a:tab pos="252729" algn="l"/>
              </a:tabLst>
            </a:pP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	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When</a:t>
            </a:r>
            <a:r>
              <a:rPr dirty="0" sz="100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where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does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reduction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division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take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place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cycle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3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40">
                <a:solidFill>
                  <a:srgbClr val="231F1F"/>
                </a:solidFill>
                <a:latin typeface="Calibri"/>
                <a:cs typeface="Calibri"/>
              </a:rPr>
              <a:t>liverwort,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moss,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fern,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gymnosperm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14">
                <a:solidFill>
                  <a:srgbClr val="231F1F"/>
                </a:solidFill>
                <a:latin typeface="Calibri"/>
                <a:cs typeface="Calibri"/>
              </a:rPr>
              <a:t>an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angiosperm?</a:t>
            </a:r>
            <a:endParaRPr sz="10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116700"/>
              </a:lnSpc>
              <a:spcBef>
                <a:spcPts val="400"/>
              </a:spcBef>
              <a:buAutoNum type="arabicPeriod"/>
              <a:tabLst>
                <a:tab pos="241300" algn="l"/>
                <a:tab pos="252729" algn="l"/>
              </a:tabLst>
            </a:pP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	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Name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three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groups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plants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that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bear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archegonia.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Briefly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describe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life</a:t>
            </a:r>
            <a:r>
              <a:rPr dirty="0" sz="1000" spc="1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cycle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any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one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them.</a:t>
            </a:r>
            <a:endParaRPr sz="10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116599"/>
              </a:lnSpc>
              <a:spcBef>
                <a:spcPts val="400"/>
              </a:spcBef>
              <a:buAutoNum type="arabicPeriod"/>
              <a:tabLst>
                <a:tab pos="241300" algn="l"/>
                <a:tab pos="252729" algn="l"/>
              </a:tabLst>
            </a:pP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	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Mention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ploidy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following: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protonemal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moss;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primary</a:t>
            </a:r>
            <a:r>
              <a:rPr dirty="0" sz="1000" spc="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endosperm 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nucleus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in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dicot,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leaf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moss;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prothallus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ferm;</a:t>
            </a:r>
            <a:r>
              <a:rPr dirty="0" sz="1000" spc="2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gemma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00" spc="24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in </a:t>
            </a:r>
            <a:r>
              <a:rPr dirty="0" sz="1000" spc="60" i="1">
                <a:solidFill>
                  <a:srgbClr val="231F1F"/>
                </a:solidFill>
                <a:latin typeface="Calibri"/>
                <a:cs typeface="Calibri"/>
              </a:rPr>
              <a:t>Marchantia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;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meristem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cell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monocot,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ovum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liverwort,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zygote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45">
                <a:solidFill>
                  <a:srgbClr val="231F1F"/>
                </a:solidFill>
                <a:latin typeface="Calibri"/>
                <a:cs typeface="Calibri"/>
              </a:rPr>
              <a:t>fern.</a:t>
            </a:r>
            <a:endParaRPr sz="1000">
              <a:latin typeface="Calibri"/>
              <a:cs typeface="Calibri"/>
            </a:endParaRPr>
          </a:p>
          <a:p>
            <a:pPr algn="just" marL="252729" indent="-240029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52729" algn="l"/>
              </a:tabLst>
            </a:pP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Write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a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note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economic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importance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and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gymnosperms.</a:t>
            </a:r>
            <a:endParaRPr sz="10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116700"/>
              </a:lnSpc>
              <a:spcBef>
                <a:spcPts val="400"/>
              </a:spcBef>
              <a:buAutoNum type="arabicPeriod"/>
              <a:tabLst>
                <a:tab pos="241300" algn="l"/>
                <a:tab pos="252729" algn="l"/>
              </a:tabLst>
            </a:pP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	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Both</a:t>
            </a:r>
            <a:r>
              <a:rPr dirty="0" sz="100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gymnosperms</a:t>
            </a:r>
            <a:r>
              <a:rPr dirty="0" sz="100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angiosperms</a:t>
            </a:r>
            <a:r>
              <a:rPr dirty="0" sz="100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bear</a:t>
            </a:r>
            <a:r>
              <a:rPr dirty="0" sz="100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seeds,</a:t>
            </a:r>
            <a:r>
              <a:rPr dirty="0" sz="100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then</a:t>
            </a:r>
            <a:r>
              <a:rPr dirty="0" sz="100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why</a:t>
            </a:r>
            <a:r>
              <a:rPr dirty="0" sz="100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are</a:t>
            </a:r>
            <a:r>
              <a:rPr dirty="0" sz="1000" spc="17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they</a:t>
            </a:r>
            <a:r>
              <a:rPr dirty="0" sz="1000" spc="1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classified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separately?</a:t>
            </a:r>
            <a:endParaRPr sz="1000">
              <a:latin typeface="Calibri"/>
              <a:cs typeface="Calibri"/>
            </a:endParaRPr>
          </a:p>
          <a:p>
            <a:pPr algn="just" marL="252729" indent="-240029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52729" algn="l"/>
              </a:tabLst>
            </a:pP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What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is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heterospory?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Briefly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comment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on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its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significance.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Give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two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examples.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4100" y="1000899"/>
            <a:ext cx="920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100">
                <a:solidFill>
                  <a:srgbClr val="231F1F"/>
                </a:solidFill>
                <a:latin typeface="Calibri"/>
                <a:cs typeface="Calibri"/>
              </a:rPr>
              <a:t>Plant</a:t>
            </a:r>
            <a:r>
              <a:rPr dirty="0" cap="small" sz="1100" spc="2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cap="small" sz="1100" spc="-10">
                <a:solidFill>
                  <a:srgbClr val="231F1F"/>
                </a:solidFill>
                <a:latin typeface="Calibri"/>
                <a:cs typeface="Calibri"/>
              </a:rPr>
              <a:t>Kingdom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13627" y="1008519"/>
            <a:ext cx="2133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45" b="1">
                <a:solidFill>
                  <a:srgbClr val="231F1F"/>
                </a:solidFill>
                <a:latin typeface="Calibri"/>
                <a:cs typeface="Calibri"/>
              </a:rPr>
              <a:t>45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2" y="9763759"/>
            <a:ext cx="7773034" cy="660400"/>
            <a:chOff x="-2" y="9763759"/>
            <a:chExt cx="7773034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7759849" y="0"/>
                  </a:moveTo>
                  <a:lnTo>
                    <a:pt x="0" y="0"/>
                  </a:lnTo>
                  <a:lnTo>
                    <a:pt x="0" y="647826"/>
                  </a:lnTo>
                  <a:lnTo>
                    <a:pt x="7759849" y="647826"/>
                  </a:lnTo>
                  <a:lnTo>
                    <a:pt x="7759849" y="0"/>
                  </a:lnTo>
                  <a:close/>
                </a:path>
              </a:pathLst>
            </a:custGeom>
            <a:solidFill>
              <a:srgbClr val="D0E2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84" y="9770046"/>
              <a:ext cx="7760334" cy="648335"/>
            </a:xfrm>
            <a:custGeom>
              <a:avLst/>
              <a:gdLst/>
              <a:ahLst/>
              <a:cxnLst/>
              <a:rect l="l" t="t" r="r" b="b"/>
              <a:pathLst>
                <a:path w="7760334" h="648334">
                  <a:moveTo>
                    <a:pt x="0" y="647826"/>
                  </a:moveTo>
                  <a:lnTo>
                    <a:pt x="7759849" y="647826"/>
                  </a:lnTo>
                  <a:lnTo>
                    <a:pt x="7759849" y="0"/>
                  </a:lnTo>
                  <a:lnTo>
                    <a:pt x="0" y="0"/>
                  </a:lnTo>
                  <a:lnTo>
                    <a:pt x="0" y="647826"/>
                  </a:lnTo>
                  <a:close/>
                </a:path>
              </a:pathLst>
            </a:custGeom>
            <a:ln w="12572">
              <a:solidFill>
                <a:srgbClr val="D0E2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89524" y="10190607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45326" y="1023670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8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-777"/>
            <a:ext cx="7773034" cy="234315"/>
            <a:chOff x="0" y="-777"/>
            <a:chExt cx="7773034" cy="234315"/>
          </a:xfrm>
        </p:grpSpPr>
        <p:sp>
          <p:nvSpPr>
            <p:cNvPr id="10" name="object 10" descr=""/>
            <p:cNvSpPr/>
            <p:nvPr/>
          </p:nvSpPr>
          <p:spPr>
            <a:xfrm>
              <a:off x="7589524" y="23165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02" y="0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45326" y="-777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5">
                  <a:moveTo>
                    <a:pt x="0" y="0"/>
                  </a:moveTo>
                  <a:lnTo>
                    <a:pt x="0" y="182901"/>
                  </a:lnTo>
                </a:path>
              </a:pathLst>
            </a:custGeom>
            <a:ln w="3175">
              <a:solidFill>
                <a:srgbClr val="23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0"/>
              <a:ext cx="3175" cy="226060"/>
            </a:xfrm>
            <a:custGeom>
              <a:avLst/>
              <a:gdLst/>
              <a:ahLst/>
              <a:cxnLst/>
              <a:rect l="l" t="t" r="r" b="b"/>
              <a:pathLst>
                <a:path w="3175" h="226060">
                  <a:moveTo>
                    <a:pt x="0" y="225540"/>
                  </a:moveTo>
                  <a:lnTo>
                    <a:pt x="3047" y="225540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225540"/>
                  </a:lnTo>
                  <a:close/>
                </a:path>
              </a:pathLst>
            </a:custGeom>
            <a:solidFill>
              <a:srgbClr val="23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206500" y="1465084"/>
            <a:ext cx="3885565" cy="2819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700"/>
              </a:spcBef>
              <a:buAutoNum type="arabicPeriod" startAt="8"/>
              <a:tabLst>
                <a:tab pos="252729" algn="l"/>
              </a:tabLst>
            </a:pP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Explain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briefly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following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terms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suitable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examples:-</a:t>
            </a:r>
            <a:endParaRPr sz="1000">
              <a:latin typeface="Calibri"/>
              <a:cs typeface="Calibri"/>
            </a:endParaRPr>
          </a:p>
          <a:p>
            <a:pPr lvl="1" marL="456565" indent="-151765">
              <a:lnSpc>
                <a:spcPct val="100000"/>
              </a:lnSpc>
              <a:spcBef>
                <a:spcPts val="600"/>
              </a:spcBef>
              <a:buAutoNum type="romanLcParenBoth"/>
              <a:tabLst>
                <a:tab pos="456565" algn="l"/>
              </a:tabLst>
            </a:pP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protonema</a:t>
            </a:r>
            <a:endParaRPr sz="1000">
              <a:latin typeface="Calibri"/>
              <a:cs typeface="Calibri"/>
            </a:endParaRPr>
          </a:p>
          <a:p>
            <a:pPr lvl="1" marL="456565" indent="-189865">
              <a:lnSpc>
                <a:spcPct val="100000"/>
              </a:lnSpc>
              <a:spcBef>
                <a:spcPts val="195"/>
              </a:spcBef>
              <a:buAutoNum type="romanLcParenBoth"/>
              <a:tabLst>
                <a:tab pos="456565" algn="l"/>
              </a:tabLst>
            </a:pP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antheridium</a:t>
            </a:r>
            <a:endParaRPr sz="1000">
              <a:latin typeface="Calibri"/>
              <a:cs typeface="Calibri"/>
            </a:endParaRPr>
          </a:p>
          <a:p>
            <a:pPr lvl="1" marL="456565" indent="-227965">
              <a:lnSpc>
                <a:spcPct val="100000"/>
              </a:lnSpc>
              <a:spcBef>
                <a:spcPts val="204"/>
              </a:spcBef>
              <a:buAutoNum type="romanLcParenBoth"/>
              <a:tabLst>
                <a:tab pos="456565" algn="l"/>
              </a:tabLst>
            </a:pP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archegonium</a:t>
            </a:r>
            <a:endParaRPr sz="1000">
              <a:latin typeface="Calibri"/>
              <a:cs typeface="Calibri"/>
            </a:endParaRPr>
          </a:p>
          <a:p>
            <a:pPr lvl="1" marL="455930" indent="-217804">
              <a:lnSpc>
                <a:spcPct val="100000"/>
              </a:lnSpc>
              <a:spcBef>
                <a:spcPts val="200"/>
              </a:spcBef>
              <a:buAutoNum type="romanLcParenBoth"/>
              <a:tabLst>
                <a:tab pos="455930" algn="l"/>
              </a:tabLst>
            </a:pP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diplontic</a:t>
            </a:r>
            <a:endParaRPr sz="1000">
              <a:latin typeface="Calibri"/>
              <a:cs typeface="Calibri"/>
            </a:endParaRPr>
          </a:p>
          <a:p>
            <a:pPr lvl="1" marL="455930" indent="-179705">
              <a:lnSpc>
                <a:spcPct val="100000"/>
              </a:lnSpc>
              <a:spcBef>
                <a:spcPts val="195"/>
              </a:spcBef>
              <a:buAutoNum type="romanLcParenBoth"/>
              <a:tabLst>
                <a:tab pos="455930" algn="l"/>
              </a:tabLst>
            </a:pP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sporophyll</a:t>
            </a:r>
            <a:endParaRPr sz="1000">
              <a:latin typeface="Calibri"/>
              <a:cs typeface="Calibri"/>
            </a:endParaRPr>
          </a:p>
          <a:p>
            <a:pPr lvl="1" marL="455930" indent="-217804">
              <a:lnSpc>
                <a:spcPct val="100000"/>
              </a:lnSpc>
              <a:spcBef>
                <a:spcPts val="204"/>
              </a:spcBef>
              <a:buAutoNum type="romanLcParenBoth"/>
              <a:tabLst>
                <a:tab pos="455930" algn="l"/>
              </a:tabLst>
            </a:pP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isogamy</a:t>
            </a:r>
            <a:endParaRPr sz="1000">
              <a:latin typeface="Calibri"/>
              <a:cs typeface="Calibri"/>
            </a:endParaRPr>
          </a:p>
          <a:p>
            <a:pPr marL="252729" indent="-240029">
              <a:lnSpc>
                <a:spcPct val="100000"/>
              </a:lnSpc>
              <a:spcBef>
                <a:spcPts val="600"/>
              </a:spcBef>
              <a:buAutoNum type="arabicPeriod" startAt="8"/>
              <a:tabLst>
                <a:tab pos="252729" algn="l"/>
              </a:tabLst>
            </a:pP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Differentiate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45">
                <a:solidFill>
                  <a:srgbClr val="231F1F"/>
                </a:solidFill>
                <a:latin typeface="Calibri"/>
                <a:cs typeface="Calibri"/>
              </a:rPr>
              <a:t>between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45">
                <a:solidFill>
                  <a:srgbClr val="231F1F"/>
                </a:solidFill>
                <a:latin typeface="Calibri"/>
                <a:cs typeface="Calibri"/>
              </a:rPr>
              <a:t>following:-</a:t>
            </a:r>
            <a:endParaRPr sz="1000">
              <a:latin typeface="Calibri"/>
              <a:cs typeface="Calibri"/>
            </a:endParaRPr>
          </a:p>
          <a:p>
            <a:pPr lvl="1" marL="481965" indent="-164465">
              <a:lnSpc>
                <a:spcPct val="100000"/>
              </a:lnSpc>
              <a:spcBef>
                <a:spcPts val="395"/>
              </a:spcBef>
              <a:buAutoNum type="romanLcParenBoth"/>
              <a:tabLst>
                <a:tab pos="481965" algn="l"/>
              </a:tabLst>
            </a:pP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red</a:t>
            </a: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and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brown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endParaRPr sz="1000">
              <a:latin typeface="Calibri"/>
              <a:cs typeface="Calibri"/>
            </a:endParaRPr>
          </a:p>
          <a:p>
            <a:pPr lvl="1" marL="481965" indent="-202565">
              <a:lnSpc>
                <a:spcPct val="100000"/>
              </a:lnSpc>
              <a:spcBef>
                <a:spcPts val="204"/>
              </a:spcBef>
              <a:buAutoNum type="romanLcParenBoth"/>
              <a:tabLst>
                <a:tab pos="481965" algn="l"/>
              </a:tabLst>
            </a:pP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liverworts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moss</a:t>
            </a:r>
            <a:endParaRPr sz="1000">
              <a:latin typeface="Calibri"/>
              <a:cs typeface="Calibri"/>
            </a:endParaRPr>
          </a:p>
          <a:p>
            <a:pPr lvl="1" marL="481965" indent="-240665">
              <a:lnSpc>
                <a:spcPct val="100000"/>
              </a:lnSpc>
              <a:spcBef>
                <a:spcPts val="200"/>
              </a:spcBef>
              <a:buAutoNum type="romanLcParenBoth"/>
              <a:tabLst>
                <a:tab pos="481965" algn="l"/>
              </a:tabLst>
            </a:pP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homosporous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heterosporous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45">
                <a:solidFill>
                  <a:srgbClr val="231F1F"/>
                </a:solidFill>
                <a:latin typeface="Calibri"/>
                <a:cs typeface="Calibri"/>
              </a:rPr>
              <a:t>pteridophyte</a:t>
            </a:r>
            <a:endParaRPr sz="1000">
              <a:latin typeface="Calibri"/>
              <a:cs typeface="Calibri"/>
            </a:endParaRPr>
          </a:p>
          <a:p>
            <a:pPr lvl="1" marL="481330" indent="-230504">
              <a:lnSpc>
                <a:spcPct val="100000"/>
              </a:lnSpc>
              <a:spcBef>
                <a:spcPts val="195"/>
              </a:spcBef>
              <a:buAutoNum type="romanLcParenBoth"/>
              <a:tabLst>
                <a:tab pos="481330" algn="l"/>
              </a:tabLst>
            </a:pPr>
            <a:r>
              <a:rPr dirty="0" sz="1000" spc="95">
                <a:solidFill>
                  <a:srgbClr val="231F1F"/>
                </a:solidFill>
                <a:latin typeface="Calibri"/>
                <a:cs typeface="Calibri"/>
              </a:rPr>
              <a:t>syngamy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and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triple</a:t>
            </a:r>
            <a:r>
              <a:rPr dirty="0" sz="1000" spc="8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fusion</a:t>
            </a:r>
            <a:endParaRPr sz="1000">
              <a:latin typeface="Calibri"/>
              <a:cs typeface="Calibri"/>
            </a:endParaRPr>
          </a:p>
          <a:p>
            <a:pPr marL="253365" indent="-240665">
              <a:lnSpc>
                <a:spcPct val="100000"/>
              </a:lnSpc>
              <a:spcBef>
                <a:spcPts val="600"/>
              </a:spcBef>
              <a:buAutoNum type="arabicPeriod" startAt="8"/>
              <a:tabLst>
                <a:tab pos="253365" algn="l"/>
              </a:tabLst>
            </a:pP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How</a:t>
            </a:r>
            <a:r>
              <a:rPr dirty="0" sz="100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would</a:t>
            </a:r>
            <a:r>
              <a:rPr dirty="0" sz="100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you</a:t>
            </a:r>
            <a:r>
              <a:rPr dirty="0" sz="100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distinguish</a:t>
            </a:r>
            <a:r>
              <a:rPr dirty="0" sz="100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monocots</a:t>
            </a:r>
            <a:r>
              <a:rPr dirty="0" sz="1000" spc="2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from</a:t>
            </a:r>
            <a:r>
              <a:rPr dirty="0" sz="1000" spc="2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dicots?</a:t>
            </a:r>
            <a:endParaRPr sz="1000">
              <a:latin typeface="Calibri"/>
              <a:cs typeface="Calibri"/>
            </a:endParaRPr>
          </a:p>
          <a:p>
            <a:pPr marL="253365" indent="-240665">
              <a:lnSpc>
                <a:spcPct val="100000"/>
              </a:lnSpc>
              <a:spcBef>
                <a:spcPts val="805"/>
              </a:spcBef>
              <a:buAutoNum type="arabicPeriod" startAt="8"/>
              <a:tabLst>
                <a:tab pos="253365" algn="l"/>
              </a:tabLst>
            </a:pP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Match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 the </a:t>
            </a:r>
            <a:r>
              <a:rPr dirty="0" sz="1000" spc="50">
                <a:solidFill>
                  <a:srgbClr val="231F1F"/>
                </a:solidFill>
                <a:latin typeface="Calibri"/>
                <a:cs typeface="Calibri"/>
              </a:rPr>
              <a:t>following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231F1F"/>
                </a:solidFill>
                <a:latin typeface="Calibri"/>
                <a:cs typeface="Calibri"/>
              </a:rPr>
              <a:t>(column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I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31F1F"/>
                </a:solidFill>
                <a:latin typeface="Calibri"/>
                <a:cs typeface="Calibri"/>
              </a:rPr>
              <a:t>with</a:t>
            </a: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231F1F"/>
                </a:solidFill>
                <a:latin typeface="Calibri"/>
                <a:cs typeface="Calibri"/>
              </a:rPr>
              <a:t>column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31F1F"/>
                </a:solidFill>
                <a:latin typeface="Calibri"/>
                <a:cs typeface="Calibri"/>
              </a:rPr>
              <a:t>II)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10"/>
              <a:t>2020-</a:t>
            </a:r>
            <a:r>
              <a:rPr dirty="0" spc="-25"/>
              <a:t>21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447672" y="4310011"/>
            <a:ext cx="1205230" cy="9652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000" spc="130" b="1">
                <a:solidFill>
                  <a:srgbClr val="231F1F"/>
                </a:solidFill>
                <a:latin typeface="Calibri"/>
                <a:cs typeface="Calibri"/>
              </a:rPr>
              <a:t>Column</a:t>
            </a:r>
            <a:r>
              <a:rPr dirty="0" sz="1000" spc="15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85" b="1">
                <a:solidFill>
                  <a:srgbClr val="231F1F"/>
                </a:solidFill>
                <a:latin typeface="Calibri"/>
                <a:cs typeface="Calibri"/>
              </a:rPr>
              <a:t>I</a:t>
            </a:r>
            <a:endParaRPr sz="10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400"/>
              </a:spcBef>
              <a:buFont typeface="Calibri"/>
              <a:buAutoNum type="alphaLcParenBoth"/>
              <a:tabLst>
                <a:tab pos="186055" algn="l"/>
              </a:tabLst>
            </a:pPr>
            <a:r>
              <a:rPr dirty="0" sz="1000" spc="75" i="1">
                <a:solidFill>
                  <a:srgbClr val="231F1F"/>
                </a:solidFill>
                <a:latin typeface="Calibri"/>
                <a:cs typeface="Calibri"/>
              </a:rPr>
              <a:t>Chlamydomonas</a:t>
            </a:r>
            <a:endParaRPr sz="1000">
              <a:latin typeface="Calibri"/>
              <a:cs typeface="Calibri"/>
            </a:endParaRPr>
          </a:p>
          <a:p>
            <a:pPr marL="193675" indent="-180975">
              <a:lnSpc>
                <a:spcPct val="100000"/>
              </a:lnSpc>
              <a:spcBef>
                <a:spcPts val="200"/>
              </a:spcBef>
              <a:buFont typeface="Calibri"/>
              <a:buAutoNum type="alphaLcParenBoth"/>
              <a:tabLst>
                <a:tab pos="193675" algn="l"/>
              </a:tabLst>
            </a:pPr>
            <a:r>
              <a:rPr dirty="0" sz="1000" spc="105" i="1">
                <a:solidFill>
                  <a:srgbClr val="231F1F"/>
                </a:solidFill>
                <a:latin typeface="Calibri"/>
                <a:cs typeface="Calibri"/>
              </a:rPr>
              <a:t>Cycas</a:t>
            </a:r>
            <a:endParaRPr sz="10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200"/>
              </a:spcBef>
              <a:buFont typeface="Calibri"/>
              <a:buAutoNum type="alphaLcParenBoth"/>
              <a:tabLst>
                <a:tab pos="188595" algn="l"/>
              </a:tabLst>
            </a:pPr>
            <a:r>
              <a:rPr dirty="0" sz="1000" spc="55" i="1">
                <a:solidFill>
                  <a:srgbClr val="231F1F"/>
                </a:solidFill>
                <a:latin typeface="Calibri"/>
                <a:cs typeface="Calibri"/>
              </a:rPr>
              <a:t>Selaginella</a:t>
            </a:r>
            <a:endParaRPr sz="1000">
              <a:latin typeface="Calibri"/>
              <a:cs typeface="Calibri"/>
            </a:endParaRPr>
          </a:p>
          <a:p>
            <a:pPr marL="221615" indent="-208915">
              <a:lnSpc>
                <a:spcPct val="100000"/>
              </a:lnSpc>
              <a:spcBef>
                <a:spcPts val="200"/>
              </a:spcBef>
              <a:buFont typeface="Calibri"/>
              <a:buAutoNum type="alphaLcParenBoth"/>
              <a:tabLst>
                <a:tab pos="221615" algn="l"/>
              </a:tabLst>
            </a:pPr>
            <a:r>
              <a:rPr dirty="0" sz="1000" spc="80" i="1">
                <a:solidFill>
                  <a:srgbClr val="231F1F"/>
                </a:solidFill>
                <a:latin typeface="Calibri"/>
                <a:cs typeface="Calibri"/>
              </a:rPr>
              <a:t>Sphagnum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187700" y="4310011"/>
            <a:ext cx="1074420" cy="9652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95"/>
              </a:spcBef>
            </a:pPr>
            <a:r>
              <a:rPr dirty="0" sz="1000" spc="130" b="1">
                <a:solidFill>
                  <a:srgbClr val="231F1F"/>
                </a:solidFill>
                <a:latin typeface="Calibri"/>
                <a:cs typeface="Calibri"/>
              </a:rPr>
              <a:t>Column</a:t>
            </a:r>
            <a:r>
              <a:rPr dirty="0" sz="1000" spc="10" b="1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100" b="1">
                <a:solidFill>
                  <a:srgbClr val="231F1F"/>
                </a:solidFill>
                <a:latin typeface="Calibri"/>
                <a:cs typeface="Calibri"/>
              </a:rPr>
              <a:t>II</a:t>
            </a:r>
            <a:endParaRPr sz="1000">
              <a:latin typeface="Calibri"/>
              <a:cs typeface="Calibri"/>
            </a:endParaRPr>
          </a:p>
          <a:p>
            <a:pPr marL="253365" indent="-164465">
              <a:lnSpc>
                <a:spcPct val="100000"/>
              </a:lnSpc>
              <a:spcBef>
                <a:spcPts val="400"/>
              </a:spcBef>
              <a:buAutoNum type="romanLcParenBoth"/>
              <a:tabLst>
                <a:tab pos="253365" algn="l"/>
              </a:tabLst>
            </a:pP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Moss</a:t>
            </a:r>
            <a:endParaRPr sz="1000">
              <a:latin typeface="Calibri"/>
              <a:cs typeface="Calibri"/>
            </a:endParaRPr>
          </a:p>
          <a:p>
            <a:pPr marL="253365" indent="-202565">
              <a:lnSpc>
                <a:spcPct val="100000"/>
              </a:lnSpc>
              <a:spcBef>
                <a:spcPts val="200"/>
              </a:spcBef>
              <a:buAutoNum type="romanLcParenBoth"/>
              <a:tabLst>
                <a:tab pos="253365" algn="l"/>
              </a:tabLst>
            </a:pPr>
            <a:r>
              <a:rPr dirty="0" sz="1000" spc="45">
                <a:solidFill>
                  <a:srgbClr val="231F1F"/>
                </a:solidFill>
                <a:latin typeface="Calibri"/>
                <a:cs typeface="Calibri"/>
              </a:rPr>
              <a:t>Pteridophyte</a:t>
            </a:r>
            <a:endParaRPr sz="1000">
              <a:latin typeface="Calibri"/>
              <a:cs typeface="Calibri"/>
            </a:endParaRPr>
          </a:p>
          <a:p>
            <a:pPr marL="253365" indent="-240665">
              <a:lnSpc>
                <a:spcPct val="100000"/>
              </a:lnSpc>
              <a:spcBef>
                <a:spcPts val="200"/>
              </a:spcBef>
              <a:buAutoNum type="romanLcParenBoth"/>
              <a:tabLst>
                <a:tab pos="253365" algn="l"/>
              </a:tabLst>
            </a:pPr>
            <a:r>
              <a:rPr dirty="0" sz="1000" spc="60">
                <a:solidFill>
                  <a:srgbClr val="231F1F"/>
                </a:solidFill>
                <a:latin typeface="Calibri"/>
                <a:cs typeface="Calibri"/>
              </a:rPr>
              <a:t>Algae</a:t>
            </a:r>
            <a:endParaRPr sz="1000">
              <a:latin typeface="Calibri"/>
              <a:cs typeface="Calibri"/>
            </a:endParaRPr>
          </a:p>
          <a:p>
            <a:pPr marL="252729" indent="-230504">
              <a:lnSpc>
                <a:spcPct val="100000"/>
              </a:lnSpc>
              <a:spcBef>
                <a:spcPts val="200"/>
              </a:spcBef>
              <a:buAutoNum type="romanLcParenBoth"/>
              <a:tabLst>
                <a:tab pos="252729" algn="l"/>
              </a:tabLst>
            </a:pP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Gymnosperm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06500" y="5325757"/>
            <a:ext cx="37141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12.</a:t>
            </a:r>
            <a:r>
              <a:rPr dirty="0" sz="1000" spc="19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Describe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31F1F"/>
                </a:solidFill>
                <a:latin typeface="Calibri"/>
                <a:cs typeface="Calibri"/>
              </a:rPr>
              <a:t>the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important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231F1F"/>
                </a:solidFill>
                <a:latin typeface="Calibri"/>
                <a:cs typeface="Calibri"/>
              </a:rPr>
              <a:t>characteristics</a:t>
            </a:r>
            <a:r>
              <a:rPr dirty="0" sz="1000" spc="100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31F1F"/>
                </a:solidFill>
                <a:latin typeface="Calibri"/>
                <a:cs typeface="Calibri"/>
              </a:rPr>
              <a:t>of</a:t>
            </a:r>
            <a:r>
              <a:rPr dirty="0" sz="1000" spc="105">
                <a:solidFill>
                  <a:srgbClr val="231F1F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31F1F"/>
                </a:solidFill>
                <a:latin typeface="Calibri"/>
                <a:cs typeface="Calibri"/>
              </a:rPr>
              <a:t>gymnosperms.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dtpcell15</dc:creator>
  <dc:title>ch-3.pmd</dc:title>
  <dcterms:created xsi:type="dcterms:W3CDTF">2026-05-27T11:22:00Z</dcterms:created>
  <dcterms:modified xsi:type="dcterms:W3CDTF">2026-05-27T11:22:00Z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2018-01-30T00:00:00Z</vt:filetime>
  </property>
  <property fmtid="{D5CDD505-2E9C-101B-9397-08002B2CF9AE}" pid="3" name="Creator">
    <vt:lpwstr>PageMaker 7.0</vt:lpwstr>
  </property>
  <property fmtid="{D5CDD505-2E9C-101B-9397-08002B2CF9AE}" pid="4" name="LastSaved">
    <vt:filetime>2026-05-27T00:00:00Z</vt:filetime>
  </property>
  <property fmtid="{D5CDD505-2E9C-101B-9397-08002B2CF9AE}" pid="5" name="Producer">
    <vt:lpwstr>3-Heights(TM) PDF Optimization Shell 5.9.1.5 (http://www.pdf-tools.com)</vt:lpwstr>
  </property>
</Properties>
</file>