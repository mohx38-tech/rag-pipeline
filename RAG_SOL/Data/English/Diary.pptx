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5943600" cy="8686800"/>
  <p:notesSz cx="5943600" cy="8686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5770" y="2692908"/>
            <a:ext cx="5052060" cy="1824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E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91540" y="4864608"/>
            <a:ext cx="4160520" cy="2171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31F2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E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31F2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E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97180" y="1997964"/>
            <a:ext cx="2585466" cy="5733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060954" y="1997964"/>
            <a:ext cx="2585466" cy="5733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E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677" y="4194169"/>
            <a:ext cx="884430" cy="40779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7644" y="1065263"/>
            <a:ext cx="1306829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E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403" y="2886443"/>
            <a:ext cx="3759835" cy="434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31F2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94787" y="8398174"/>
            <a:ext cx="7543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97180" y="8078724"/>
            <a:ext cx="1367028" cy="43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79392" y="8078724"/>
            <a:ext cx="1367028" cy="43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414" y="2146335"/>
            <a:ext cx="2023995" cy="196872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5908" y="0"/>
            <a:ext cx="5451475" cy="2033905"/>
            <a:chOff x="295908" y="0"/>
            <a:chExt cx="5451475" cy="20339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025" y="0"/>
              <a:ext cx="4404360" cy="20338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908" y="407036"/>
              <a:ext cx="1078857" cy="107886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733291" y="2359507"/>
            <a:ext cx="2004060" cy="25527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20"/>
              </a:spcBef>
            </a:pPr>
            <a:r>
              <a:rPr dirty="0" cap="small" sz="1300">
                <a:solidFill>
                  <a:srgbClr val="00AEEF"/>
                </a:solidFill>
                <a:latin typeface="Tahoma"/>
                <a:cs typeface="Tahoma"/>
              </a:rPr>
              <a:t>Before</a:t>
            </a:r>
            <a:r>
              <a:rPr dirty="0" cap="small" sz="1300" spc="24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cap="small" sz="1300">
                <a:solidFill>
                  <a:srgbClr val="00AEEF"/>
                </a:solidFill>
                <a:latin typeface="Tahoma"/>
                <a:cs typeface="Tahoma"/>
              </a:rPr>
              <a:t>You</a:t>
            </a:r>
            <a:r>
              <a:rPr dirty="0" cap="small" sz="1300" spc="229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cap="small" sz="1300" spc="-20">
                <a:solidFill>
                  <a:srgbClr val="00AEEF"/>
                </a:solidFill>
                <a:latin typeface="Tahoma"/>
                <a:cs typeface="Tahoma"/>
              </a:rPr>
              <a:t>Read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97600"/>
              </a:lnSpc>
              <a:spcBef>
                <a:spcPts val="350"/>
              </a:spcBef>
            </a:pP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Anneliese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Marie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‘Anne’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Frank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(12 </a:t>
            </a:r>
            <a:r>
              <a:rPr dirty="0" sz="1000" spc="150" i="1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000" spc="2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1929</a:t>
            </a:r>
            <a:r>
              <a:rPr dirty="0" sz="1000" spc="2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–</a:t>
            </a:r>
            <a:r>
              <a:rPr dirty="0" sz="1000" spc="2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February/March </a:t>
            </a: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1945)</a:t>
            </a:r>
            <a:r>
              <a:rPr dirty="0" sz="1000" spc="3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7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3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3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German</a:t>
            </a:r>
            <a:r>
              <a:rPr dirty="0" sz="1000" spc="3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–</a:t>
            </a:r>
            <a:r>
              <a:rPr dirty="0" sz="1000" spc="3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born 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Jewish</a:t>
            </a:r>
            <a:r>
              <a:rPr dirty="0" sz="100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girl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wrote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while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hiding</a:t>
            </a:r>
            <a:r>
              <a:rPr dirty="0" sz="10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family</a:t>
            </a:r>
            <a:r>
              <a:rPr dirty="0" sz="10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four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friends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Amsterdam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00" spc="150" i="1">
                <a:solidFill>
                  <a:srgbClr val="231F20"/>
                </a:solidFill>
                <a:latin typeface="Calibri"/>
                <a:cs typeface="Calibri"/>
              </a:rPr>
              <a:t>German</a:t>
            </a:r>
            <a:r>
              <a:rPr dirty="0" sz="1000" spc="254" i="1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occupation</a:t>
            </a:r>
            <a:r>
              <a:rPr dirty="0" sz="1000" spc="260" i="1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260" i="1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Netherlands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World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War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II.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family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moved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Amsterdam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after</a:t>
            </a:r>
            <a:r>
              <a:rPr dirty="0" sz="10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Nazis</a:t>
            </a:r>
            <a:r>
              <a:rPr dirty="0" sz="10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gained</a:t>
            </a:r>
            <a:r>
              <a:rPr dirty="0" sz="100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power</a:t>
            </a:r>
            <a:r>
              <a:rPr dirty="0" sz="1000" spc="18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Germany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trapped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when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Nazi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occupation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extended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into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Netherlands.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persecutions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against</a:t>
            </a:r>
            <a:r>
              <a:rPr dirty="0" sz="1000" spc="28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28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40" i="1">
                <a:solidFill>
                  <a:srgbClr val="231F20"/>
                </a:solidFill>
                <a:latin typeface="Calibri"/>
                <a:cs typeface="Calibri"/>
              </a:rPr>
              <a:t>Jewish</a:t>
            </a:r>
            <a:r>
              <a:rPr dirty="0" sz="1000" spc="2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population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increased,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family</a:t>
            </a:r>
            <a:r>
              <a:rPr dirty="0" sz="1000" spc="2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into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00" y="4880355"/>
            <a:ext cx="3912870" cy="2705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 marR="5080">
              <a:lnSpc>
                <a:spcPct val="97700"/>
              </a:lnSpc>
              <a:spcBef>
                <a:spcPts val="125"/>
              </a:spcBef>
            </a:pP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hiding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July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1942</a:t>
            </a:r>
            <a:r>
              <a:rPr dirty="0" sz="10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hidden</a:t>
            </a:r>
            <a:r>
              <a:rPr dirty="0" sz="10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rooms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father</a:t>
            </a:r>
            <a:r>
              <a:rPr dirty="0" sz="100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Otto</a:t>
            </a:r>
            <a:r>
              <a:rPr dirty="0" sz="10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Frank’s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office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building.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After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years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hiding,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group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betrayed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transported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concentration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camp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system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died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typhus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Bergen-Belsen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within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days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sister,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Margot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Frank.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father,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Otto,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only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survivor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group,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returned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Amsterdam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after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war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ended,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been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saved.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Convinced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unique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record,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took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action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published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English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name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20"/>
                </a:solidFill>
                <a:latin typeface="Calibri"/>
                <a:cs typeface="Calibri"/>
              </a:rPr>
              <a:t>Young</a:t>
            </a:r>
            <a:r>
              <a:rPr dirty="0" sz="10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20"/>
                </a:solidFill>
                <a:latin typeface="Calibri"/>
                <a:cs typeface="Calibri"/>
              </a:rPr>
              <a:t>Girl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algn="just" marL="12700" marR="5080" indent="228600">
              <a:lnSpc>
                <a:spcPts val="1180"/>
              </a:lnSpc>
              <a:spcBef>
                <a:spcPts val="10"/>
              </a:spcBef>
            </a:pP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given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Frank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thirteenth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birthday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chronicles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events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life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12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1942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until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its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final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entry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1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August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1944.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eventually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translated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endParaRPr sz="1000">
              <a:latin typeface="Calibri"/>
              <a:cs typeface="Calibri"/>
            </a:endParaRPr>
          </a:p>
          <a:p>
            <a:pPr algn="just" marL="12700" marR="5080">
              <a:lnSpc>
                <a:spcPts val="1150"/>
              </a:lnSpc>
              <a:spcBef>
                <a:spcPts val="10"/>
              </a:spcBef>
            </a:pP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original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Dutch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into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many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languages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became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world’s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widely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read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books.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1000" spc="2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been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several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films,</a:t>
            </a:r>
            <a:endParaRPr sz="1000">
              <a:latin typeface="Calibri"/>
              <a:cs typeface="Calibri"/>
            </a:endParaRPr>
          </a:p>
          <a:p>
            <a:pPr algn="just" marL="12700" marR="5715">
              <a:lnSpc>
                <a:spcPts val="1180"/>
              </a:lnSpc>
              <a:spcBef>
                <a:spcPts val="5"/>
              </a:spcBef>
            </a:pP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television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theatrical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productions,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even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opera,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based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on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diary.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Described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work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mature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insightful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mind,</a:t>
            </a:r>
            <a:endParaRPr sz="1000">
              <a:latin typeface="Calibri"/>
              <a:cs typeface="Calibri"/>
            </a:endParaRPr>
          </a:p>
          <a:p>
            <a:pPr algn="just" marL="12700" marR="6350">
              <a:lnSpc>
                <a:spcPts val="1150"/>
              </a:lnSpc>
              <a:spcBef>
                <a:spcPts val="15"/>
              </a:spcBef>
            </a:pP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provides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intimate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examination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daily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life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Nazi occupation.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Frank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become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 the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renowned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endParaRPr sz="1000">
              <a:latin typeface="Calibri"/>
              <a:cs typeface="Calibri"/>
            </a:endParaRPr>
          </a:p>
          <a:p>
            <a:pPr algn="just" marL="12700">
              <a:lnSpc>
                <a:spcPts val="1150"/>
              </a:lnSpc>
            </a:pP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discussed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of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Holocaust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victims.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1820" y="4106926"/>
            <a:ext cx="1754505" cy="697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9600"/>
              </a:lnSpc>
              <a:spcBef>
                <a:spcPts val="105"/>
              </a:spcBef>
            </a:pPr>
            <a:r>
              <a:rPr dirty="0" sz="850" spc="110" b="1" i="1">
                <a:solidFill>
                  <a:srgbClr val="231F20"/>
                </a:solidFill>
                <a:latin typeface="Calibri"/>
                <a:cs typeface="Calibri"/>
              </a:rPr>
              <a:t>“This</a:t>
            </a: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05" b="1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25" b="1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850" spc="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5" b="1" i="1">
                <a:solidFill>
                  <a:srgbClr val="231F20"/>
                </a:solidFill>
                <a:latin typeface="Calibri"/>
                <a:cs typeface="Calibri"/>
              </a:rPr>
              <a:t>photo</a:t>
            </a: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10" b="1" i="1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5" b="1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850" spc="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85" b="1" i="1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5" b="1" i="1">
                <a:solidFill>
                  <a:srgbClr val="231F20"/>
                </a:solidFill>
                <a:latin typeface="Calibri"/>
                <a:cs typeface="Calibri"/>
              </a:rPr>
              <a:t>wish myself</a:t>
            </a:r>
            <a:r>
              <a:rPr dirty="0" sz="850" spc="-1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50" b="1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850" spc="-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80" b="1" i="1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850" spc="-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5" b="1" i="1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850" spc="-1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5" b="1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850" spc="-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60" b="1" i="1">
                <a:solidFill>
                  <a:srgbClr val="231F20"/>
                </a:solidFill>
                <a:latin typeface="Calibri"/>
                <a:cs typeface="Calibri"/>
              </a:rPr>
              <a:t>time.</a:t>
            </a:r>
            <a:r>
              <a:rPr dirty="0" sz="850" spc="-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80" b="1" i="1">
                <a:solidFill>
                  <a:srgbClr val="231F20"/>
                </a:solidFill>
                <a:latin typeface="Calibri"/>
                <a:cs typeface="Calibri"/>
              </a:rPr>
              <a:t>Then </a:t>
            </a:r>
            <a:r>
              <a:rPr dirty="0" sz="850" spc="95" b="1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850" spc="5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5" b="1" i="1">
                <a:solidFill>
                  <a:srgbClr val="231F20"/>
                </a:solidFill>
                <a:latin typeface="Calibri"/>
                <a:cs typeface="Calibri"/>
              </a:rPr>
              <a:t>would,</a:t>
            </a:r>
            <a:r>
              <a:rPr dirty="0" sz="850" spc="6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0" b="1" i="1">
                <a:solidFill>
                  <a:srgbClr val="231F20"/>
                </a:solidFill>
                <a:latin typeface="Calibri"/>
                <a:cs typeface="Calibri"/>
              </a:rPr>
              <a:t>maybe,</a:t>
            </a:r>
            <a:r>
              <a:rPr dirty="0" sz="850" spc="5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5" b="1" i="1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850" spc="6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25" b="1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850" spc="5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05" b="1" i="1">
                <a:solidFill>
                  <a:srgbClr val="231F20"/>
                </a:solidFill>
                <a:latin typeface="Calibri"/>
                <a:cs typeface="Calibri"/>
              </a:rPr>
              <a:t>chance </a:t>
            </a:r>
            <a:r>
              <a:rPr dirty="0" sz="850" spc="60" b="1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850" spc="8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0" b="1" i="1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850" spc="8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60" b="1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850" spc="8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5" b="1" i="1">
                <a:solidFill>
                  <a:srgbClr val="231F20"/>
                </a:solidFill>
                <a:latin typeface="Calibri"/>
                <a:cs typeface="Calibri"/>
              </a:rPr>
              <a:t>Hollywood.”</a:t>
            </a:r>
            <a:endParaRPr sz="850">
              <a:latin typeface="Calibri"/>
              <a:cs typeface="Calibri"/>
            </a:endParaRPr>
          </a:p>
          <a:p>
            <a:pPr algn="just" marL="43180">
              <a:lnSpc>
                <a:spcPct val="100000"/>
              </a:lnSpc>
              <a:spcBef>
                <a:spcPts val="200"/>
              </a:spcBef>
            </a:pPr>
            <a:r>
              <a:rPr dirty="0" sz="850" b="1" i="1">
                <a:solidFill>
                  <a:srgbClr val="231F20"/>
                </a:solidFill>
                <a:latin typeface="Calibri"/>
                <a:cs typeface="Calibri"/>
              </a:rPr>
              <a:t>–</a:t>
            </a:r>
            <a:r>
              <a:rPr dirty="0" sz="850" spc="-4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90" b="1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850" spc="1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25" b="1" i="1">
                <a:solidFill>
                  <a:srgbClr val="231F20"/>
                </a:solidFill>
                <a:latin typeface="Calibri"/>
                <a:cs typeface="Calibri"/>
              </a:rPr>
              <a:t>Frank,</a:t>
            </a:r>
            <a:r>
              <a:rPr dirty="0" sz="850" spc="1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45" b="1" i="1">
                <a:solidFill>
                  <a:srgbClr val="231F20"/>
                </a:solidFill>
                <a:latin typeface="Calibri"/>
                <a:cs typeface="Calibri"/>
              </a:rPr>
              <a:t>10</a:t>
            </a:r>
            <a:r>
              <a:rPr dirty="0" sz="850" spc="1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0" b="1" i="1">
                <a:solidFill>
                  <a:srgbClr val="231F20"/>
                </a:solidFill>
                <a:latin typeface="Calibri"/>
                <a:cs typeface="Calibri"/>
              </a:rPr>
              <a:t>October</a:t>
            </a:r>
            <a:r>
              <a:rPr dirty="0" sz="850" spc="1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120" b="1" i="1">
                <a:solidFill>
                  <a:srgbClr val="231F20"/>
                </a:solidFill>
                <a:latin typeface="Calibri"/>
                <a:cs typeface="Calibri"/>
              </a:rPr>
              <a:t>1942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0260" y="1624334"/>
            <a:ext cx="2948940" cy="86360"/>
          </a:xfrm>
          <a:custGeom>
            <a:avLst/>
            <a:gdLst/>
            <a:ahLst/>
            <a:cxnLst/>
            <a:rect l="l" t="t" r="r" b="b"/>
            <a:pathLst>
              <a:path w="2948940" h="86360">
                <a:moveTo>
                  <a:pt x="2948939" y="0"/>
                </a:moveTo>
                <a:lnTo>
                  <a:pt x="0" y="0"/>
                </a:lnTo>
                <a:lnTo>
                  <a:pt x="0" y="86355"/>
                </a:lnTo>
                <a:lnTo>
                  <a:pt x="2948939" y="86355"/>
                </a:lnTo>
                <a:lnTo>
                  <a:pt x="2948939" y="0"/>
                </a:lnTo>
                <a:close/>
              </a:path>
            </a:pathLst>
          </a:custGeom>
          <a:solidFill>
            <a:srgbClr val="C7E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3950" y="1622426"/>
            <a:ext cx="905510" cy="88900"/>
          </a:xfrm>
          <a:custGeom>
            <a:avLst/>
            <a:gdLst/>
            <a:ahLst/>
            <a:cxnLst/>
            <a:rect l="l" t="t" r="r" b="b"/>
            <a:pathLst>
              <a:path w="905510" h="88900">
                <a:moveTo>
                  <a:pt x="905505" y="0"/>
                </a:moveTo>
                <a:lnTo>
                  <a:pt x="0" y="0"/>
                </a:lnTo>
                <a:lnTo>
                  <a:pt x="0" y="88904"/>
                </a:lnTo>
                <a:lnTo>
                  <a:pt x="905505" y="88904"/>
                </a:lnTo>
                <a:lnTo>
                  <a:pt x="905505" y="0"/>
                </a:lnTo>
                <a:close/>
              </a:path>
            </a:pathLst>
          </a:custGeom>
          <a:solidFill>
            <a:srgbClr val="C7E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300" y="3377691"/>
            <a:ext cx="3912235" cy="1156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0029" marR="5080" indent="-227329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1300" algn="l"/>
              </a:tabLst>
            </a:pP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entries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from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personal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records.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the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definitions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above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decide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 entries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might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be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diary,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journal,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log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memoir.</a:t>
            </a:r>
            <a:endParaRPr sz="1000">
              <a:latin typeface="Calibri"/>
              <a:cs typeface="Calibri"/>
            </a:endParaRPr>
          </a:p>
          <a:p>
            <a:pPr algn="just" lvl="1" marL="467995" marR="5080" indent="-190500">
              <a:lnSpc>
                <a:spcPct val="100000"/>
              </a:lnSpc>
              <a:spcBef>
                <a:spcPts val="215"/>
              </a:spcBef>
              <a:buAutoNum type="romanLcParenBoth"/>
              <a:tabLst>
                <a:tab pos="469900" algn="l"/>
              </a:tabLst>
            </a:pP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woke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very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late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today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promptly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got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scolding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from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Mum!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can’t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help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miss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FIFA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World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Cup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matches?</a:t>
            </a:r>
            <a:endParaRPr sz="10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  <a:spcBef>
                <a:spcPts val="290"/>
              </a:spcBef>
              <a:tabLst>
                <a:tab pos="2385695" algn="l"/>
              </a:tabLst>
            </a:pPr>
            <a:r>
              <a:rPr dirty="0" sz="1000" spc="114" b="1" i="1">
                <a:solidFill>
                  <a:srgbClr val="6D6F71"/>
                </a:solidFill>
                <a:latin typeface="Calibri"/>
                <a:cs typeface="Calibri"/>
              </a:rPr>
              <a:t>Ans:</a:t>
            </a:r>
            <a:r>
              <a:rPr dirty="0" sz="1000" spc="-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u="sng" sz="1000" b="1" i="1">
                <a:solidFill>
                  <a:srgbClr val="6D6F71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4584699"/>
            <a:ext cx="890269" cy="68707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(ii)</a:t>
            </a:r>
            <a:r>
              <a:rPr dirty="0" sz="1000" spc="4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10:30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a.m.</a:t>
            </a:r>
            <a:endParaRPr sz="1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01:00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p.m.</a:t>
            </a:r>
            <a:endParaRPr sz="1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05:45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p.m.</a:t>
            </a:r>
            <a:endParaRPr sz="1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"/>
              </a:spcBef>
            </a:pP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09:30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p.m.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1900" y="4584699"/>
            <a:ext cx="1871980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office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Director </a:t>
            </a: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lunch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Chairman Received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Rahul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airport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Dinner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home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9275" y="5194299"/>
            <a:ext cx="3723004" cy="149796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just" marL="280670">
              <a:lnSpc>
                <a:spcPct val="100000"/>
              </a:lnSpc>
              <a:spcBef>
                <a:spcPts val="795"/>
              </a:spcBef>
              <a:tabLst>
                <a:tab pos="2197100" algn="l"/>
              </a:tabLst>
            </a:pPr>
            <a:r>
              <a:rPr dirty="0" sz="1000" spc="114" b="1" i="1">
                <a:solidFill>
                  <a:srgbClr val="6D6F71"/>
                </a:solidFill>
                <a:latin typeface="Calibri"/>
                <a:cs typeface="Calibri"/>
              </a:rPr>
              <a:t>Ans:</a:t>
            </a:r>
            <a:r>
              <a:rPr dirty="0" sz="1000" spc="-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u="sng" sz="1000" b="1" i="1">
                <a:solidFill>
                  <a:srgbClr val="6D6F71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1000">
              <a:latin typeface="Calibri"/>
              <a:cs typeface="Calibri"/>
            </a:endParaRPr>
          </a:p>
          <a:p>
            <a:pPr algn="just" marL="280670" marR="5080" indent="-268605">
              <a:lnSpc>
                <a:spcPct val="100000"/>
              </a:lnSpc>
              <a:spcBef>
                <a:spcPts val="695"/>
              </a:spcBef>
            </a:pP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(iii)</a:t>
            </a:r>
            <a:r>
              <a:rPr dirty="0" sz="1000" spc="215" i="1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ride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Ooty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uneventful.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rested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while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every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50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km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so,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used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capture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magnificent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landscape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HandyCam.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Ooty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Bangalore.</a:t>
            </a:r>
            <a:endParaRPr sz="1000">
              <a:latin typeface="Calibri"/>
              <a:cs typeface="Calibri"/>
            </a:endParaRPr>
          </a:p>
          <a:p>
            <a:pPr algn="just" marL="280670" marR="8890">
              <a:lnSpc>
                <a:spcPct val="100000"/>
              </a:lnSpc>
              <a:spcBef>
                <a:spcPts val="315"/>
              </a:spcBef>
            </a:pP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What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contrast!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noise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pollution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once-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beautiful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city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really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broke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4" i="1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heart.</a:t>
            </a:r>
            <a:endParaRPr sz="1000">
              <a:latin typeface="Calibri"/>
              <a:cs typeface="Calibri"/>
            </a:endParaRPr>
          </a:p>
          <a:p>
            <a:pPr algn="just" marL="280670">
              <a:lnSpc>
                <a:spcPct val="100000"/>
              </a:lnSpc>
              <a:spcBef>
                <a:spcPts val="285"/>
              </a:spcBef>
              <a:tabLst>
                <a:tab pos="2197100" algn="l"/>
              </a:tabLst>
            </a:pPr>
            <a:r>
              <a:rPr dirty="0" sz="1000" spc="114" b="1" i="1">
                <a:solidFill>
                  <a:srgbClr val="6D6F71"/>
                </a:solidFill>
                <a:latin typeface="Calibri"/>
                <a:cs typeface="Calibri"/>
              </a:rPr>
              <a:t>Ans:</a:t>
            </a:r>
            <a:r>
              <a:rPr dirty="0" sz="1000" spc="-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u="sng" sz="1000" b="1" i="1">
                <a:solidFill>
                  <a:srgbClr val="6D6F71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1467" y="6754876"/>
            <a:ext cx="3710940" cy="82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(iv)</a:t>
            </a:r>
            <a:r>
              <a:rPr dirty="0" sz="1000" spc="4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Raj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Kapoor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found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wet</a:t>
            </a:r>
            <a:r>
              <a:rPr dirty="0" sz="1000" spc="1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ragged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outside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R.K.Studios.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looking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just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someone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small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role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20"/>
                </a:solidFill>
                <a:latin typeface="Calibri"/>
                <a:cs typeface="Calibri"/>
              </a:rPr>
              <a:t>Mera</a:t>
            </a:r>
            <a:r>
              <a:rPr dirty="0" sz="1000" spc="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Naam</a:t>
            </a:r>
            <a:r>
              <a:rPr dirty="0" sz="1000" spc="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Joker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0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cast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spot.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rest,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say,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history!</a:t>
            </a:r>
            <a:endParaRPr sz="1000">
              <a:latin typeface="Calibri"/>
              <a:cs typeface="Calibri"/>
            </a:endParaRPr>
          </a:p>
          <a:p>
            <a:pPr algn="just" marL="268605">
              <a:lnSpc>
                <a:spcPct val="100000"/>
              </a:lnSpc>
              <a:spcBef>
                <a:spcPts val="310"/>
              </a:spcBef>
              <a:tabLst>
                <a:tab pos="2185035" algn="l"/>
              </a:tabLst>
            </a:pPr>
            <a:r>
              <a:rPr dirty="0" sz="1000" spc="114" b="1" i="1">
                <a:solidFill>
                  <a:srgbClr val="6D6F71"/>
                </a:solidFill>
                <a:latin typeface="Calibri"/>
                <a:cs typeface="Calibri"/>
              </a:rPr>
              <a:t>Ans:</a:t>
            </a:r>
            <a:r>
              <a:rPr dirty="0" sz="1000" spc="-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u="sng" sz="1000" b="1" i="1">
                <a:solidFill>
                  <a:srgbClr val="6D6F71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21300" y="4036059"/>
            <a:ext cx="1593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4ç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6986" y="1710440"/>
            <a:ext cx="2936240" cy="1544955"/>
          </a:xfrm>
          <a:prstGeom prst="rect">
            <a:avLst/>
          </a:prstGeom>
          <a:ln w="12191">
            <a:solidFill>
              <a:srgbClr val="00AEEF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algn="just" marL="201930" marR="81280" indent="-152400">
              <a:lnSpc>
                <a:spcPct val="97000"/>
              </a:lnSpc>
              <a:spcBef>
                <a:spcPts val="350"/>
              </a:spcBef>
              <a:buChar char="–"/>
              <a:tabLst>
                <a:tab pos="201930" algn="l"/>
              </a:tabLst>
            </a:pP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book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separate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space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page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each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day,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thoughts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-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feelings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happened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day</a:t>
            </a:r>
            <a:endParaRPr sz="1000">
              <a:latin typeface="Calibri"/>
              <a:cs typeface="Calibri"/>
            </a:endParaRPr>
          </a:p>
          <a:p>
            <a:pPr marL="201930" marR="80010" indent="-152400">
              <a:lnSpc>
                <a:spcPts val="1150"/>
              </a:lnSpc>
              <a:spcBef>
                <a:spcPts val="370"/>
              </a:spcBef>
              <a:buChar char="–"/>
              <a:tabLst>
                <a:tab pos="201930" algn="l"/>
              </a:tabLst>
            </a:pP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full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record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journey,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period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time,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 an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event,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every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day</a:t>
            </a:r>
            <a:endParaRPr sz="1000">
              <a:latin typeface="Calibri"/>
              <a:cs typeface="Calibri"/>
            </a:endParaRPr>
          </a:p>
          <a:p>
            <a:pPr marL="201930" marR="83820" indent="-152400">
              <a:lnSpc>
                <a:spcPts val="1150"/>
              </a:lnSpc>
              <a:spcBef>
                <a:spcPts val="340"/>
              </a:spcBef>
              <a:buChar char="–"/>
              <a:tabLst>
                <a:tab pos="201930" algn="l"/>
              </a:tabLst>
            </a:pP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record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person’s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own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life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-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experiences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(usually,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famous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person)</a:t>
            </a:r>
            <a:endParaRPr sz="1000">
              <a:latin typeface="Calibri"/>
              <a:cs typeface="Calibri"/>
            </a:endParaRPr>
          </a:p>
          <a:p>
            <a:pPr marL="201930" marR="80010" indent="-152400">
              <a:lnSpc>
                <a:spcPts val="1150"/>
              </a:lnSpc>
              <a:spcBef>
                <a:spcPts val="340"/>
              </a:spcBef>
              <a:buChar char="–"/>
              <a:tabLst>
                <a:tab pos="201930" algn="l"/>
              </a:tabLst>
            </a:pP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record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events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times</a:t>
            </a:r>
            <a:r>
              <a:rPr dirty="0" sz="1000" spc="2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dates,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usually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official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00" y="607047"/>
            <a:ext cx="3912235" cy="108521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 spc="105" b="1">
                <a:solidFill>
                  <a:srgbClr val="00AEEF"/>
                </a:solidFill>
                <a:latin typeface="Calibri"/>
                <a:cs typeface="Calibri"/>
              </a:rPr>
              <a:t>Activity</a:t>
            </a:r>
            <a:endParaRPr sz="10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00000"/>
              </a:lnSpc>
              <a:spcBef>
                <a:spcPts val="310"/>
              </a:spcBef>
            </a:pP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1.</a:t>
            </a:r>
            <a:r>
              <a:rPr dirty="0" sz="1000" spc="245" i="1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diary?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Given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below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‘A’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00" spc="-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terms</a:t>
            </a:r>
            <a:r>
              <a:rPr dirty="0" sz="1000" spc="-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we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use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describe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record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personal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experience.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Can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match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them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their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descriptions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‘B’?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(You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may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terms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dictionary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wish.)</a:t>
            </a:r>
            <a:endParaRPr sz="1000">
              <a:latin typeface="Calibri"/>
              <a:cs typeface="Calibri"/>
            </a:endParaRPr>
          </a:p>
          <a:p>
            <a:pPr marL="375285">
              <a:lnSpc>
                <a:spcPct val="100000"/>
              </a:lnSpc>
              <a:spcBef>
                <a:spcPts val="580"/>
              </a:spcBef>
              <a:tabLst>
                <a:tab pos="2258695" algn="l"/>
              </a:tabLst>
            </a:pPr>
            <a:r>
              <a:rPr dirty="0" sz="950" spc="50" b="1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b="1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95" b="1" i="1">
                <a:solidFill>
                  <a:srgbClr val="231F20"/>
                </a:solidFill>
                <a:latin typeface="Calibri"/>
                <a:cs typeface="Calibri"/>
              </a:rPr>
              <a:t>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0045" y="1710452"/>
            <a:ext cx="893444" cy="1547495"/>
          </a:xfrm>
          <a:prstGeom prst="rect">
            <a:avLst/>
          </a:prstGeom>
          <a:ln w="12191">
            <a:solidFill>
              <a:srgbClr val="00AEEF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252095" indent="-151130">
              <a:lnSpc>
                <a:spcPct val="100000"/>
              </a:lnSpc>
              <a:spcBef>
                <a:spcPts val="340"/>
              </a:spcBef>
              <a:buAutoNum type="romanLcParenBoth"/>
              <a:tabLst>
                <a:tab pos="252095" algn="l"/>
              </a:tabLst>
            </a:pP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Journal</a:t>
            </a:r>
            <a:endParaRPr sz="1000">
              <a:latin typeface="Calibri"/>
              <a:cs typeface="Calibri"/>
            </a:endParaRPr>
          </a:p>
          <a:p>
            <a:pPr marL="252729" indent="-187960">
              <a:lnSpc>
                <a:spcPct val="100000"/>
              </a:lnSpc>
              <a:spcBef>
                <a:spcPts val="1200"/>
              </a:spcBef>
              <a:buAutoNum type="romanLcParenBoth"/>
              <a:tabLst>
                <a:tab pos="252729" algn="l"/>
              </a:tabLst>
            </a:pP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endParaRPr sz="1000">
              <a:latin typeface="Calibri"/>
              <a:cs typeface="Calibri"/>
            </a:endParaRPr>
          </a:p>
          <a:p>
            <a:pPr marL="252095" indent="-227329">
              <a:lnSpc>
                <a:spcPct val="100000"/>
              </a:lnSpc>
              <a:spcBef>
                <a:spcPts val="1200"/>
              </a:spcBef>
              <a:buAutoNum type="romanLcParenBoth"/>
              <a:tabLst>
                <a:tab pos="252095" algn="l"/>
              </a:tabLst>
            </a:pP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Log</a:t>
            </a:r>
            <a:endParaRPr sz="1000">
              <a:latin typeface="Calibri"/>
              <a:cs typeface="Calibri"/>
            </a:endParaRPr>
          </a:p>
          <a:p>
            <a:pPr marL="252729" indent="-218440">
              <a:lnSpc>
                <a:spcPct val="100000"/>
              </a:lnSpc>
              <a:spcBef>
                <a:spcPts val="1200"/>
              </a:spcBef>
              <a:buAutoNum type="romanLcParenBoth"/>
              <a:tabLst>
                <a:tab pos="252729" algn="l"/>
              </a:tabLst>
            </a:pP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Memoir(s)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1180" y="646169"/>
            <a:ext cx="3968750" cy="6898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63220" marR="8890">
              <a:lnSpc>
                <a:spcPct val="100000"/>
              </a:lnSpc>
              <a:spcBef>
                <a:spcPts val="100"/>
              </a:spcBef>
            </a:pP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</a:t>
            </a:r>
            <a:r>
              <a:rPr dirty="0" sz="750" spc="95">
                <a:solidFill>
                  <a:srgbClr val="231F20"/>
                </a:solidFill>
                <a:latin typeface="Calibri"/>
                <a:cs typeface="Calibri"/>
              </a:rPr>
              <a:t>RITING</a:t>
            </a:r>
            <a:r>
              <a:rPr dirty="0" sz="75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really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strange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experience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Calibri"/>
                <a:cs typeface="Calibri"/>
              </a:rPr>
              <a:t>for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someone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me.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only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I’ve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never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written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anything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before,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seems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me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later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neither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nor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anyone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else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will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be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interested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musings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thirteen-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year-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old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schoolgirl.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Oh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well,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doesn’t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matter.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feel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like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writing,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even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greater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need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all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kinds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things</a:t>
            </a:r>
            <a:r>
              <a:rPr dirty="0" sz="110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off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chest.</a:t>
            </a:r>
            <a:endParaRPr sz="1100">
              <a:latin typeface="Calibri"/>
              <a:cs typeface="Calibri"/>
            </a:endParaRPr>
          </a:p>
          <a:p>
            <a:pPr algn="just" marL="363220" marR="12700" indent="228600">
              <a:lnSpc>
                <a:spcPct val="100000"/>
              </a:lnSpc>
            </a:pP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‘Paper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patience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than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people.’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thought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saying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those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days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feeling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little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depressed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sitting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home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my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chin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hands,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bored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listless,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wondering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whether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stay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go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out.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finally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stayed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I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was,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brooding: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Yes,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paper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 i="1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1100" spc="1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patience,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since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planning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let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anyone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else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read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stiff-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backed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notebook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grandly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referred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‘diary’,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unless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should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ever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real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friend,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probably</a:t>
            </a:r>
            <a:r>
              <a:rPr dirty="0" sz="110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won’t</a:t>
            </a:r>
            <a:r>
              <a:rPr dirty="0" sz="110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110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bit</a:t>
            </a:r>
            <a:r>
              <a:rPr dirty="0" sz="110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difference.</a:t>
            </a:r>
            <a:endParaRPr sz="1100">
              <a:latin typeface="Calibri"/>
              <a:cs typeface="Calibri"/>
            </a:endParaRPr>
          </a:p>
          <a:p>
            <a:pPr algn="just" marL="363220" marR="11430" indent="228600">
              <a:lnSpc>
                <a:spcPct val="100000"/>
              </a:lnSpc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Now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back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point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prompted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me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place: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friend.</a:t>
            </a:r>
            <a:endParaRPr sz="1100">
              <a:latin typeface="Calibri"/>
              <a:cs typeface="Calibri"/>
            </a:endParaRPr>
          </a:p>
          <a:p>
            <a:pPr algn="just" marL="591820">
              <a:lnSpc>
                <a:spcPct val="100000"/>
              </a:lnSpc>
            </a:pP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Let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put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clearly,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since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no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will</a:t>
            </a:r>
            <a:endParaRPr sz="1100">
              <a:latin typeface="Calibri"/>
              <a:cs typeface="Calibri"/>
            </a:endParaRPr>
          </a:p>
          <a:p>
            <a:pPr algn="just" marL="363220" marR="5080" indent="-350520">
              <a:lnSpc>
                <a:spcPct val="99900"/>
              </a:lnSpc>
              <a:spcBef>
                <a:spcPts val="25"/>
              </a:spcBef>
            </a:pPr>
            <a:r>
              <a:rPr dirty="0" sz="1000">
                <a:solidFill>
                  <a:srgbClr val="231F20"/>
                </a:solidFill>
                <a:latin typeface="Times New Roman"/>
                <a:cs typeface="Times New Roman"/>
              </a:rPr>
              <a:t>50</a:t>
            </a:r>
            <a:r>
              <a:rPr dirty="0" sz="1000" spc="345">
                <a:solidFill>
                  <a:srgbClr val="231F20"/>
                </a:solidFill>
                <a:latin typeface="Times New Roman"/>
                <a:cs typeface="Times New Roman"/>
              </a:rPr>
              <a:t>  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believe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thirteen-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year-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girl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completely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alone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world.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not.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have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loving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parents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sixteen-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year-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sister,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about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thirty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people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call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friends.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family,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loving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aunts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home.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No,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surface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I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seem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everything,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except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true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friend.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friends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having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a good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time.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can’t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bring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myself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talk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anything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ordinary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everyday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things.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seem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231F20"/>
                </a:solidFill>
                <a:latin typeface="Calibri"/>
                <a:cs typeface="Calibri"/>
              </a:rPr>
              <a:t>be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able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closer,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that’s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problem.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Maybe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it’s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fault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confide</a:t>
            </a:r>
            <a:r>
              <a:rPr dirty="0" sz="110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other.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case,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that’s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just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things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are,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unfortunately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they’re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liable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change.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is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I’ve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started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diary.</a:t>
            </a:r>
            <a:endParaRPr sz="1100">
              <a:latin typeface="Calibri"/>
              <a:cs typeface="Calibri"/>
            </a:endParaRPr>
          </a:p>
          <a:p>
            <a:pPr algn="just" marL="363220" marR="12065" indent="228600">
              <a:lnSpc>
                <a:spcPct val="100000"/>
              </a:lnSpc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enhance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image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long-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awaited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friend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imagination,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jot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facts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people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do,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friend,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going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call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friend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‘Kitty’.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8925" y="2512561"/>
            <a:ext cx="99821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5">
                <a:solidFill>
                  <a:srgbClr val="00AEEF"/>
                </a:solidFill>
                <a:latin typeface="Tahoma"/>
                <a:cs typeface="Tahoma"/>
              </a:rPr>
              <a:t>listless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no</a:t>
            </a:r>
            <a:r>
              <a:rPr dirty="0" sz="900" spc="4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energy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or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interest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8925" y="6036049"/>
            <a:ext cx="107442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5">
                <a:solidFill>
                  <a:srgbClr val="00AEEF"/>
                </a:solidFill>
                <a:latin typeface="Tahoma"/>
                <a:cs typeface="Tahoma"/>
              </a:rPr>
              <a:t>confide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tell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personal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things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privately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person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one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trusts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36540" y="4036059"/>
            <a:ext cx="1339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231F20"/>
                </a:solidFill>
                <a:latin typeface="Times New Roman"/>
                <a:cs typeface="Times New Roman"/>
              </a:rPr>
              <a:t>51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607047"/>
            <a:ext cx="4367530" cy="76644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 spc="114">
                <a:solidFill>
                  <a:srgbClr val="00AEEF"/>
                </a:solidFill>
                <a:latin typeface="Tahoma"/>
                <a:cs typeface="Tahoma"/>
              </a:rPr>
              <a:t>Oral</a:t>
            </a:r>
            <a:r>
              <a:rPr dirty="0" sz="1000" spc="20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85">
                <a:solidFill>
                  <a:srgbClr val="00AEEF"/>
                </a:solidFill>
                <a:latin typeface="Tahoma"/>
                <a:cs typeface="Tahoma"/>
              </a:rPr>
              <a:t>Comprehension</a:t>
            </a:r>
            <a:r>
              <a:rPr dirty="0" sz="1000" spc="204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Tahoma"/>
                <a:cs typeface="Tahoma"/>
              </a:rPr>
              <a:t>Check</a:t>
            </a:r>
            <a:endParaRPr sz="10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240029" algn="l"/>
              </a:tabLst>
            </a:pP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makes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writing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strange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experience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Frank?</a:t>
            </a:r>
            <a:endParaRPr sz="1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40029" algn="l"/>
              </a:tabLst>
            </a:pP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diary?</a:t>
            </a:r>
            <a:endParaRPr sz="1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0029" algn="l"/>
              </a:tabLst>
            </a:pP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did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could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confide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than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people?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900" y="1493507"/>
            <a:ext cx="3613150" cy="61010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8890" indent="228600">
              <a:lnSpc>
                <a:spcPct val="98800"/>
              </a:lnSpc>
              <a:spcBef>
                <a:spcPts val="114"/>
              </a:spcBef>
            </a:pP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Since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no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understand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word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my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stories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Kitty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plunge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right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in,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I’d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31F20"/>
                </a:solidFill>
                <a:latin typeface="Calibri"/>
                <a:cs typeface="Calibri"/>
              </a:rPr>
              <a:t>better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provide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brief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sketch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life,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much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dislike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doing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so.</a:t>
            </a:r>
            <a:endParaRPr sz="1100">
              <a:latin typeface="Calibri"/>
              <a:cs typeface="Calibri"/>
            </a:endParaRPr>
          </a:p>
          <a:p>
            <a:pPr algn="just" marL="12700" marR="10160" indent="228600">
              <a:lnSpc>
                <a:spcPts val="1300"/>
              </a:lnSpc>
              <a:spcBef>
                <a:spcPts val="35"/>
              </a:spcBef>
            </a:pP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father,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adorable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father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I’ve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ever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seen, didn’t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marry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mother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until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thirty-six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twenty-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five.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sister,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Margot,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born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Frankfurt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Germany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1926.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born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ts val="1300"/>
              </a:lnSpc>
              <a:spcBef>
                <a:spcPts val="10"/>
              </a:spcBef>
            </a:pP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1929.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lived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Frankfurt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until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four.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My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father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emigrated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Holland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1933.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mother,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Edith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Hollander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Frank,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him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Holland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September,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while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Margot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sent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Aachen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stay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grandmother.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Margot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went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Holland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December,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followed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February,</a:t>
            </a:r>
            <a:endParaRPr sz="1100">
              <a:latin typeface="Calibri"/>
              <a:cs typeface="Calibri"/>
            </a:endParaRPr>
          </a:p>
          <a:p>
            <a:pPr algn="just" marL="12700" marR="10795">
              <a:lnSpc>
                <a:spcPts val="1300"/>
              </a:lnSpc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plunked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table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a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birthday present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Margot.</a:t>
            </a:r>
            <a:endParaRPr sz="1100">
              <a:latin typeface="Calibri"/>
              <a:cs typeface="Calibri"/>
            </a:endParaRPr>
          </a:p>
          <a:p>
            <a:pPr algn="just" marL="241300">
              <a:lnSpc>
                <a:spcPts val="1240"/>
              </a:lnSpc>
            </a:pP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started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right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away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Montessori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nursery</a:t>
            </a:r>
            <a:endParaRPr sz="1100">
              <a:latin typeface="Calibri"/>
              <a:cs typeface="Calibri"/>
            </a:endParaRPr>
          </a:p>
          <a:p>
            <a:pPr algn="just" marL="12700" marR="6985">
              <a:lnSpc>
                <a:spcPct val="98600"/>
              </a:lnSpc>
              <a:spcBef>
                <a:spcPts val="5"/>
              </a:spcBef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school.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stayed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until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six,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time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started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form.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sixth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form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teacher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Mrs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Kuperus,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headmistress.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end</a:t>
            </a:r>
            <a:r>
              <a:rPr dirty="0" sz="110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year</a:t>
            </a:r>
            <a:r>
              <a:rPr dirty="0" sz="110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both</a:t>
            </a:r>
            <a:r>
              <a:rPr dirty="0" sz="110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tears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said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heartbreaking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farewell.</a:t>
            </a:r>
            <a:endParaRPr sz="1100">
              <a:latin typeface="Calibri"/>
              <a:cs typeface="Calibri"/>
            </a:endParaRPr>
          </a:p>
          <a:p>
            <a:pPr algn="just" marL="12700" marR="10160" indent="228600">
              <a:lnSpc>
                <a:spcPts val="1300"/>
              </a:lnSpc>
              <a:spcBef>
                <a:spcPts val="35"/>
              </a:spcBef>
            </a:pP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summer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1941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Grandma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fell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ill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had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operation,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birthday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passed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with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little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celebration.</a:t>
            </a:r>
            <a:endParaRPr sz="1100">
              <a:latin typeface="Calibri"/>
              <a:cs typeface="Calibri"/>
            </a:endParaRPr>
          </a:p>
          <a:p>
            <a:pPr algn="just" marL="241300">
              <a:lnSpc>
                <a:spcPts val="1250"/>
              </a:lnSpc>
            </a:pP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Grandma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died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January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1942.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No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knows</a:t>
            </a:r>
            <a:endParaRPr sz="1100">
              <a:latin typeface="Calibri"/>
              <a:cs typeface="Calibri"/>
            </a:endParaRPr>
          </a:p>
          <a:p>
            <a:pPr algn="just" marL="12700" marR="6985">
              <a:lnSpc>
                <a:spcPts val="1300"/>
              </a:lnSpc>
              <a:spcBef>
                <a:spcPts val="60"/>
              </a:spcBef>
            </a:pP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often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still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love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her.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This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birthday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celebration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1942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intended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make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other,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Grandma’s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candle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was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lit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along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rest.</a:t>
            </a:r>
            <a:endParaRPr sz="1100">
              <a:latin typeface="Calibri"/>
              <a:cs typeface="Calibri"/>
            </a:endParaRPr>
          </a:p>
          <a:p>
            <a:pPr algn="just" marL="241300">
              <a:lnSpc>
                <a:spcPts val="1230"/>
              </a:lnSpc>
            </a:pP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four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us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still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doing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well,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brings</a:t>
            </a:r>
            <a:endParaRPr sz="1100">
              <a:latin typeface="Calibri"/>
              <a:cs typeface="Calibri"/>
            </a:endParaRPr>
          </a:p>
          <a:p>
            <a:pPr algn="just" marL="12700" marR="9525">
              <a:lnSpc>
                <a:spcPts val="1320"/>
              </a:lnSpc>
              <a:spcBef>
                <a:spcPts val="35"/>
              </a:spcBef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present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date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20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1942,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solemn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dedication</a:t>
            </a:r>
            <a:r>
              <a:rPr dirty="0" sz="110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diary.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50"/>
              </a:spcBef>
            </a:pPr>
            <a:r>
              <a:rPr dirty="0" sz="1000" spc="114">
                <a:solidFill>
                  <a:srgbClr val="00AEEF"/>
                </a:solidFill>
                <a:latin typeface="Tahoma"/>
                <a:cs typeface="Tahoma"/>
              </a:rPr>
              <a:t>Oral</a:t>
            </a:r>
            <a:r>
              <a:rPr dirty="0" sz="1000" spc="20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85">
                <a:solidFill>
                  <a:srgbClr val="00AEEF"/>
                </a:solidFill>
                <a:latin typeface="Tahoma"/>
                <a:cs typeface="Tahoma"/>
              </a:rPr>
              <a:t>Comprehension</a:t>
            </a:r>
            <a:r>
              <a:rPr dirty="0" sz="1000" spc="204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Tahoma"/>
                <a:cs typeface="Tahoma"/>
              </a:rPr>
              <a:t>Check</a:t>
            </a:r>
            <a:endParaRPr sz="1000">
              <a:latin typeface="Tahoma"/>
              <a:cs typeface="Tahoma"/>
            </a:endParaRPr>
          </a:p>
          <a:p>
            <a:pPr marL="697230" indent="-227329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697230" algn="l"/>
              </a:tabLst>
            </a:pP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provide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brief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sketch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life?</a:t>
            </a:r>
            <a:endParaRPr sz="10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697230" algn="l"/>
              </a:tabLst>
            </a:pP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tells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loved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grandmother?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076" y="3835387"/>
            <a:ext cx="11201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050">
              <a:lnSpc>
                <a:spcPct val="100000"/>
              </a:lnSpc>
              <a:spcBef>
                <a:spcPts val="100"/>
              </a:spcBef>
            </a:pPr>
            <a:r>
              <a:rPr dirty="0" sz="900" spc="90">
                <a:solidFill>
                  <a:srgbClr val="00AEEF"/>
                </a:solidFill>
                <a:latin typeface="Tahoma"/>
                <a:cs typeface="Tahoma"/>
              </a:rPr>
              <a:t>plunked</a:t>
            </a:r>
            <a:r>
              <a:rPr dirty="0" sz="900" spc="175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75">
                <a:solidFill>
                  <a:srgbClr val="00AEEF"/>
                </a:solidFill>
                <a:latin typeface="Tahoma"/>
                <a:cs typeface="Tahoma"/>
              </a:rPr>
              <a:t>down</a:t>
            </a:r>
            <a:r>
              <a:rPr dirty="0" sz="900" spc="19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(an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informal</a:t>
            </a:r>
            <a:r>
              <a:rPr dirty="0" sz="900" spc="1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word)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put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down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casual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way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180" y="4350003"/>
            <a:ext cx="1511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2630" y="646677"/>
            <a:ext cx="15227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Saturday,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20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45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20"/>
                </a:solidFill>
                <a:latin typeface="Calibri"/>
                <a:cs typeface="Calibri"/>
              </a:rPr>
              <a:t>1942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2" y="761994"/>
            <a:ext cx="3624579" cy="6804659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385"/>
              </a:spcBef>
            </a:pP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Dearest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Kitty,</a:t>
            </a:r>
            <a:endParaRPr sz="1100">
              <a:latin typeface="Calibri"/>
              <a:cs typeface="Calibri"/>
            </a:endParaRPr>
          </a:p>
          <a:p>
            <a:pPr algn="just" marL="12700" marR="5080" indent="228600">
              <a:lnSpc>
                <a:spcPct val="100000"/>
              </a:lnSpc>
              <a:spcBef>
                <a:spcPts val="290"/>
              </a:spcBef>
            </a:pP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entire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quaking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boots.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The reason,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course,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forthcoming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meeting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teachers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decide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who’ll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move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next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form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who’ll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kept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back.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Half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is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making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bets.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G.N.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laugh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ourselves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silly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boys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behind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us,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C.N.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Jacques,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have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staked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their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entire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holiday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savings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their</a:t>
            </a:r>
            <a:r>
              <a:rPr dirty="0" sz="1100" spc="3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bet.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morning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night,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it’s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“You’re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going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pass”,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“No,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not”,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“Yes,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are”,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“No,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not”.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Even</a:t>
            </a:r>
            <a:r>
              <a:rPr dirty="0" sz="11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G.’s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pleading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glances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angry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outbursts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can’t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calm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them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down.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110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ask</a:t>
            </a:r>
            <a:r>
              <a:rPr dirty="0" sz="110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me,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110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110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many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dummies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quarter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should be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kept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back,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teachers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most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unpredictable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creatures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earth.</a:t>
            </a:r>
            <a:endParaRPr sz="1100">
              <a:latin typeface="Calibri"/>
              <a:cs typeface="Calibri"/>
            </a:endParaRPr>
          </a:p>
          <a:p>
            <a:pPr algn="just" marL="12700" marR="10160" indent="228600">
              <a:lnSpc>
                <a:spcPct val="100000"/>
              </a:lnSpc>
            </a:pP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worried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girlfriends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myself.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We’ll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it.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only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subject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I’m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sure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maths.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Anyway,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wait.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Until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then,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telling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110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lose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heart.</a:t>
            </a:r>
            <a:endParaRPr sz="1100">
              <a:latin typeface="Calibri"/>
              <a:cs typeface="Calibri"/>
            </a:endParaRPr>
          </a:p>
          <a:p>
            <a:pPr algn="just" marL="12700" marR="6350" indent="228600">
              <a:lnSpc>
                <a:spcPct val="100000"/>
              </a:lnSpc>
            </a:pP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along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pretty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well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teachers.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There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nine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them,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seven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men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women.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Mr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Keesing,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fogey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teaches</a:t>
            </a:r>
            <a:r>
              <a:rPr dirty="0" sz="1100" spc="3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maths,</a:t>
            </a:r>
            <a:r>
              <a:rPr dirty="0" sz="110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was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annoyed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ages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talked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much.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After</a:t>
            </a:r>
            <a:r>
              <a:rPr dirty="0" sz="110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several</a:t>
            </a:r>
            <a:r>
              <a:rPr dirty="0" sz="110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warnings,</a:t>
            </a:r>
            <a:r>
              <a:rPr dirty="0" sz="110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10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assigned</a:t>
            </a:r>
            <a:r>
              <a:rPr dirty="0" sz="1100" spc="43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4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extra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homework.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essay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subject,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‘A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Chatterbox’.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chatterbox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that?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31F20"/>
                </a:solidFill>
                <a:latin typeface="Calibri"/>
                <a:cs typeface="Calibri"/>
              </a:rPr>
              <a:t>I’d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worry</a:t>
            </a:r>
            <a:r>
              <a:rPr dirty="0" sz="110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later,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decided.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jotted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title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notebook,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tucked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bag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tried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quiet.</a:t>
            </a:r>
            <a:endParaRPr sz="1100">
              <a:latin typeface="Calibri"/>
              <a:cs typeface="Calibri"/>
            </a:endParaRPr>
          </a:p>
          <a:p>
            <a:pPr algn="just" marL="12700" marR="6350" indent="228600">
              <a:lnSpc>
                <a:spcPct val="100000"/>
              </a:lnSpc>
            </a:pP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evening,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after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I’d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finished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rest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my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homework,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note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essay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Calibri"/>
                <a:cs typeface="Calibri"/>
              </a:rPr>
              <a:t>eye.</a:t>
            </a:r>
            <a:r>
              <a:rPr dirty="0" sz="1100" spc="5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began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thinking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subject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while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chewing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tip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fountain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pen.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Anyone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could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ramble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on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leave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big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spaces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words,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trick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convincing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arguments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prove</a:t>
            </a:r>
            <a:r>
              <a:rPr dirty="0" sz="1100" spc="4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4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necessity</a:t>
            </a:r>
            <a:r>
              <a:rPr dirty="0" sz="1100" spc="4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4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talking.</a:t>
            </a:r>
            <a:r>
              <a:rPr dirty="0" sz="1100" spc="4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4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thought</a:t>
            </a:r>
            <a:r>
              <a:rPr dirty="0" sz="1100" spc="4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thought,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suddenly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idea.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wrote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three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pages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assigned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was satisfied.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argued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talking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student’s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trait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I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best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under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control,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8926" y="4371841"/>
            <a:ext cx="92201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95">
                <a:solidFill>
                  <a:srgbClr val="00AEEF"/>
                </a:solidFill>
                <a:latin typeface="Tahoma"/>
                <a:cs typeface="Tahoma"/>
              </a:rPr>
              <a:t>old</a:t>
            </a:r>
            <a:r>
              <a:rPr dirty="0" sz="900" spc="20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70">
                <a:solidFill>
                  <a:srgbClr val="00AEEF"/>
                </a:solidFill>
                <a:latin typeface="Tahoma"/>
                <a:cs typeface="Tahoma"/>
              </a:rPr>
              <a:t>fogey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dirty="0" sz="900" spc="1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old-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fashioned person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8926" y="6231121"/>
            <a:ext cx="1131570" cy="118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95">
                <a:solidFill>
                  <a:srgbClr val="00AEEF"/>
                </a:solidFill>
                <a:latin typeface="Tahoma"/>
                <a:cs typeface="Tahoma"/>
              </a:rPr>
              <a:t>ramble</a:t>
            </a:r>
            <a:r>
              <a:rPr dirty="0" sz="900" spc="19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60">
                <a:solidFill>
                  <a:srgbClr val="00AEEF"/>
                </a:solidFill>
                <a:latin typeface="Tahoma"/>
                <a:cs typeface="Tahoma"/>
              </a:rPr>
              <a:t>on</a:t>
            </a:r>
            <a:endParaRPr sz="900">
              <a:latin typeface="Tahoma"/>
              <a:cs typeface="Tahoma"/>
            </a:endParaRPr>
          </a:p>
          <a:p>
            <a:pPr marL="12700" marR="18669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talk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or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write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aimlessly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long</a:t>
            </a:r>
            <a:endParaRPr sz="900">
              <a:latin typeface="Tahoma"/>
              <a:cs typeface="Tahoma"/>
            </a:endParaRPr>
          </a:p>
          <a:p>
            <a:pPr marL="12700" marR="470534">
              <a:lnSpc>
                <a:spcPct val="100000"/>
              </a:lnSpc>
              <a:spcBef>
                <a:spcPts val="505"/>
              </a:spcBef>
            </a:pPr>
            <a:r>
              <a:rPr dirty="0" sz="900" spc="70">
                <a:solidFill>
                  <a:srgbClr val="00AEEF"/>
                </a:solidFill>
                <a:latin typeface="Tahoma"/>
                <a:cs typeface="Tahoma"/>
              </a:rPr>
              <a:t>convincing </a:t>
            </a:r>
            <a:r>
              <a:rPr dirty="0" sz="900" spc="90">
                <a:solidFill>
                  <a:srgbClr val="00AEEF"/>
                </a:solidFill>
                <a:latin typeface="Tahoma"/>
                <a:cs typeface="Tahoma"/>
              </a:rPr>
              <a:t>argument</a:t>
            </a:r>
            <a:endParaRPr sz="9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10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statement</a:t>
            </a:r>
            <a:r>
              <a:rPr dirty="0" sz="900" spc="1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made</a:t>
            </a:r>
            <a:r>
              <a:rPr dirty="0" sz="900" spc="1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in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such</a:t>
            </a:r>
            <a:r>
              <a:rPr dirty="0" sz="900" spc="27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2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manner</a:t>
            </a:r>
            <a:r>
              <a:rPr dirty="0" sz="900" spc="2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that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people</a:t>
            </a:r>
            <a:r>
              <a:rPr dirty="0" sz="900" spc="229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believe</a:t>
            </a:r>
            <a:r>
              <a:rPr dirty="0" sz="900" spc="2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8926" y="1025137"/>
            <a:ext cx="11277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85">
                <a:solidFill>
                  <a:srgbClr val="00AEEF"/>
                </a:solidFill>
                <a:latin typeface="Tahoma"/>
                <a:cs typeface="Tahoma"/>
              </a:rPr>
              <a:t>quaking</a:t>
            </a:r>
            <a:r>
              <a:rPr dirty="0" sz="900" spc="-35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75">
                <a:solidFill>
                  <a:srgbClr val="00AEEF"/>
                </a:solidFill>
                <a:latin typeface="Tahoma"/>
                <a:cs typeface="Tahoma"/>
              </a:rPr>
              <a:t>in</a:t>
            </a:r>
            <a:r>
              <a:rPr dirty="0" sz="900" spc="-3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00AEEF"/>
                </a:solidFill>
                <a:latin typeface="Tahoma"/>
                <a:cs typeface="Tahoma"/>
              </a:rPr>
              <a:t>its</a:t>
            </a:r>
            <a:r>
              <a:rPr dirty="0" sz="900" spc="-3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00AEEF"/>
                </a:solidFill>
                <a:latin typeface="Tahoma"/>
                <a:cs typeface="Tahoma"/>
              </a:rPr>
              <a:t>boots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shaking</a:t>
            </a:r>
            <a:r>
              <a:rPr dirty="0" sz="900" spc="1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1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fear</a:t>
            </a:r>
            <a:r>
              <a:rPr dirty="0" sz="900" spc="50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nervousness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7396" y="4036059"/>
            <a:ext cx="1492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98" y="2802990"/>
            <a:ext cx="4099374" cy="25818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5900" y="646176"/>
            <a:ext cx="3616325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2065">
              <a:lnSpc>
                <a:spcPct val="100000"/>
              </a:lnSpc>
              <a:spcBef>
                <a:spcPts val="100"/>
              </a:spcBef>
            </a:pP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never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able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cure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myself</a:t>
            </a:r>
            <a:r>
              <a:rPr dirty="0" sz="110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habit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since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mother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talked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much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did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31F20"/>
                </a:solidFill>
                <a:latin typeface="Calibri"/>
                <a:cs typeface="Calibri"/>
              </a:rPr>
              <a:t>if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more,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there’s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much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do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inherited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traits.</a:t>
            </a:r>
            <a:endParaRPr sz="1100">
              <a:latin typeface="Calibri"/>
              <a:cs typeface="Calibri"/>
            </a:endParaRPr>
          </a:p>
          <a:p>
            <a:pPr algn="just" marL="12700" marR="5080" indent="228600">
              <a:lnSpc>
                <a:spcPct val="100000"/>
              </a:lnSpc>
            </a:pP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laugh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arguments,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proceeded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talk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through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next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lesson,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assigned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second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essay.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This time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supposed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‘An</a:t>
            </a:r>
            <a:r>
              <a:rPr dirty="0" sz="1100" spc="3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Incorrigible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Chatterbox’.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handed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in,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100" spc="3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had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nothing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complain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whole</a:t>
            </a:r>
            <a:r>
              <a:rPr dirty="0" sz="110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lessons.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However,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during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third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lesson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he’d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finally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had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enough.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“Anne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Frank,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punishment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talking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class,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essay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entitled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1100" spc="3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‘Quack,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Quack,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Quack,</a:t>
            </a:r>
            <a:r>
              <a:rPr dirty="0" sz="1100" spc="3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Said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Mistress</a:t>
            </a:r>
            <a:r>
              <a:rPr dirty="0" sz="1100" spc="3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Chatterbox’.”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0076" y="1851152"/>
            <a:ext cx="10648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75">
                <a:solidFill>
                  <a:srgbClr val="00AEEF"/>
                </a:solidFill>
                <a:latin typeface="Tahoma"/>
                <a:cs typeface="Tahoma"/>
              </a:rPr>
              <a:t>incorrigible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something</a:t>
            </a:r>
            <a:r>
              <a:rPr dirty="0" sz="900" spc="27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that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cannot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corrected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(usually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bad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quality)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0076" y="1159256"/>
            <a:ext cx="1129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85">
                <a:solidFill>
                  <a:srgbClr val="00AEEF"/>
                </a:solidFill>
                <a:latin typeface="Tahoma"/>
                <a:cs typeface="Tahoma"/>
              </a:rPr>
              <a:t>inherited</a:t>
            </a:r>
            <a:r>
              <a:rPr dirty="0" sz="900" spc="195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900" spc="60">
                <a:solidFill>
                  <a:srgbClr val="00AEEF"/>
                </a:solidFill>
                <a:latin typeface="Tahoma"/>
                <a:cs typeface="Tahoma"/>
              </a:rPr>
              <a:t>traits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qualities</a:t>
            </a:r>
            <a:r>
              <a:rPr dirty="0" sz="900" spc="2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(physical</a:t>
            </a:r>
            <a:r>
              <a:rPr dirty="0" sz="900" spc="2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or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mental)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gets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from</a:t>
            </a:r>
            <a:r>
              <a:rPr dirty="0" sz="900" spc="1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one’s</a:t>
            </a:r>
            <a:r>
              <a:rPr dirty="0" sz="900" spc="1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parents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900" y="5218176"/>
            <a:ext cx="3618229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roared.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laugh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too,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though</a:t>
            </a:r>
            <a:r>
              <a:rPr dirty="0" sz="110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31F20"/>
                </a:solidFill>
                <a:latin typeface="Calibri"/>
                <a:cs typeface="Calibri"/>
              </a:rPr>
              <a:t>I’d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nearly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exhausted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ingenuity</a:t>
            </a:r>
            <a:r>
              <a:rPr dirty="0" sz="1100" spc="4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topic</a:t>
            </a:r>
            <a:r>
              <a:rPr dirty="0" sz="1100" spc="4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of </a:t>
            </a:r>
            <a:r>
              <a:rPr dirty="0" sz="1100" spc="160">
                <a:solidFill>
                  <a:srgbClr val="231F20"/>
                </a:solidFill>
                <a:latin typeface="Calibri"/>
                <a:cs typeface="Calibri"/>
              </a:rPr>
              <a:t>chatterboxes.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6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 up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1100" spc="150">
                <a:solidFill>
                  <a:srgbClr val="231F20"/>
                </a:solidFill>
                <a:latin typeface="Calibri"/>
                <a:cs typeface="Calibri"/>
              </a:rPr>
              <a:t>with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something</a:t>
            </a:r>
            <a:r>
              <a:rPr dirty="0" sz="1100" spc="4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else,</a:t>
            </a:r>
            <a:r>
              <a:rPr dirty="0" sz="1100" spc="40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something</a:t>
            </a:r>
            <a:r>
              <a:rPr dirty="0" sz="1100" spc="40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original.</a:t>
            </a:r>
            <a:r>
              <a:rPr dirty="0" sz="1100" spc="40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40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friend,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Sanne,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who’s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poetry,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offered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help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write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essay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10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beginning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end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3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verse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3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I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jumped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joy.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trying</a:t>
            </a:r>
            <a:r>
              <a:rPr dirty="0" sz="110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play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joke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ridiculous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subject,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I’d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 make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sure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joke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him.</a:t>
            </a:r>
            <a:endParaRPr sz="1100">
              <a:latin typeface="Calibri"/>
              <a:cs typeface="Calibri"/>
            </a:endParaRPr>
          </a:p>
          <a:p>
            <a:pPr algn="just" marL="12700" marR="12065" indent="228600">
              <a:lnSpc>
                <a:spcPct val="100000"/>
              </a:lnSpc>
            </a:pP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finished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poem,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10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beautiful!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was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mother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231F20"/>
                </a:solidFill>
                <a:latin typeface="Calibri"/>
                <a:cs typeface="Calibri"/>
              </a:rPr>
              <a:t>duck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father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swan</a:t>
            </a:r>
            <a:r>
              <a:rPr dirty="0" sz="110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three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baby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40">
                <a:solidFill>
                  <a:srgbClr val="231F20"/>
                </a:solidFill>
                <a:latin typeface="Calibri"/>
                <a:cs typeface="Calibri"/>
              </a:rPr>
              <a:t>ducklings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bitten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death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110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father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quacked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too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much.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Luckily,</a:t>
            </a:r>
            <a:r>
              <a:rPr dirty="0" sz="110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Mr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took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joke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right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way.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read</a:t>
            </a:r>
            <a:r>
              <a:rPr dirty="0" sz="110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0076" y="5405120"/>
            <a:ext cx="7785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85">
                <a:solidFill>
                  <a:srgbClr val="00AEEF"/>
                </a:solidFill>
                <a:latin typeface="Tahoma"/>
                <a:cs typeface="Tahoma"/>
              </a:rPr>
              <a:t>ingenuity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originality</a:t>
            </a:r>
            <a:r>
              <a:rPr dirty="0" sz="900" spc="2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inventiveness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31" y="4350003"/>
            <a:ext cx="1574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1" y="646169"/>
            <a:ext cx="4826000" cy="2689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221105">
              <a:lnSpc>
                <a:spcPct val="100000"/>
              </a:lnSpc>
              <a:spcBef>
                <a:spcPts val="100"/>
              </a:spcBef>
            </a:pP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poem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class,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adding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110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own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comments,</a:t>
            </a:r>
            <a:r>
              <a:rPr dirty="0" sz="110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several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classes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well.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Since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I’ve</a:t>
            </a:r>
            <a:r>
              <a:rPr dirty="0" sz="110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31F20"/>
                </a:solidFill>
                <a:latin typeface="Calibri"/>
                <a:cs typeface="Calibri"/>
              </a:rPr>
              <a:t>been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allowed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talk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haven’t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31F20"/>
                </a:solidFill>
                <a:latin typeface="Calibri"/>
                <a:cs typeface="Calibri"/>
              </a:rPr>
              <a:t>been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assigned</a:t>
            </a:r>
            <a:r>
              <a:rPr dirty="0" sz="11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r>
              <a:rPr dirty="0" sz="11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31F20"/>
                </a:solidFill>
                <a:latin typeface="Calibri"/>
                <a:cs typeface="Calibri"/>
              </a:rPr>
              <a:t>extra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homework.</a:t>
            </a:r>
            <a:r>
              <a:rPr dirty="0" sz="110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5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contrary,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Keesing’s</a:t>
            </a:r>
            <a:r>
              <a:rPr dirty="0" sz="1100" spc="3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always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making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jokes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231F20"/>
                </a:solidFill>
                <a:latin typeface="Calibri"/>
                <a:cs typeface="Calibri"/>
              </a:rPr>
              <a:t>days.</a:t>
            </a:r>
            <a:endParaRPr sz="1100">
              <a:latin typeface="Calibri"/>
              <a:cs typeface="Calibri"/>
            </a:endParaRPr>
          </a:p>
          <a:p>
            <a:pPr marL="3230880" indent="-85725">
              <a:lnSpc>
                <a:spcPct val="100000"/>
              </a:lnSpc>
              <a:spcBef>
                <a:spcPts val="285"/>
              </a:spcBef>
            </a:pP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Yours,</a:t>
            </a:r>
            <a:endParaRPr sz="1100">
              <a:latin typeface="Calibri"/>
              <a:cs typeface="Calibri"/>
            </a:endParaRPr>
          </a:p>
          <a:p>
            <a:pPr marL="3230880">
              <a:lnSpc>
                <a:spcPct val="100000"/>
              </a:lnSpc>
              <a:spcBef>
                <a:spcPts val="315"/>
              </a:spcBef>
            </a:pP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endParaRPr sz="1100">
              <a:latin typeface="Calibri"/>
              <a:cs typeface="Calibri"/>
            </a:endParaRPr>
          </a:p>
          <a:p>
            <a:pPr algn="r" marR="1221740">
              <a:lnSpc>
                <a:spcPct val="100000"/>
              </a:lnSpc>
              <a:spcBef>
                <a:spcPts val="915"/>
              </a:spcBef>
            </a:pP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[Extracted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100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20"/>
                </a:solidFill>
                <a:latin typeface="Calibri"/>
                <a:cs typeface="Calibri"/>
              </a:rPr>
              <a:t>Young</a:t>
            </a:r>
            <a:r>
              <a:rPr dirty="0" sz="100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20"/>
                </a:solidFill>
                <a:latin typeface="Calibri"/>
                <a:cs typeface="Calibri"/>
              </a:rPr>
              <a:t>Girl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endParaRPr sz="1000">
              <a:latin typeface="Calibri"/>
              <a:cs typeface="Calibri"/>
            </a:endParaRPr>
          </a:p>
          <a:p>
            <a:pPr algn="r" marR="1224915">
              <a:lnSpc>
                <a:spcPct val="100000"/>
              </a:lnSpc>
              <a:spcBef>
                <a:spcPts val="70"/>
              </a:spcBef>
            </a:pP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spc="-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slight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 adaptation]</a:t>
            </a:r>
            <a:endParaRPr sz="1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40"/>
              </a:spcBef>
            </a:pPr>
            <a:r>
              <a:rPr dirty="0" sz="1000" spc="114">
                <a:solidFill>
                  <a:srgbClr val="00AEEF"/>
                </a:solidFill>
                <a:latin typeface="Tahoma"/>
                <a:cs typeface="Tahoma"/>
              </a:rPr>
              <a:t>Oral</a:t>
            </a:r>
            <a:r>
              <a:rPr dirty="0" sz="1000" spc="200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85">
                <a:solidFill>
                  <a:srgbClr val="00AEEF"/>
                </a:solidFill>
                <a:latin typeface="Tahoma"/>
                <a:cs typeface="Tahoma"/>
              </a:rPr>
              <a:t>Comprehension</a:t>
            </a:r>
            <a:r>
              <a:rPr dirty="0" sz="1000" spc="204">
                <a:solidFill>
                  <a:srgbClr val="00AEE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00AEEF"/>
                </a:solidFill>
                <a:latin typeface="Tahoma"/>
                <a:cs typeface="Tahoma"/>
              </a:rPr>
              <a:t>Check</a:t>
            </a:r>
            <a:endParaRPr sz="1000">
              <a:latin typeface="Tahoma"/>
              <a:cs typeface="Tahoma"/>
            </a:endParaRPr>
          </a:p>
          <a:p>
            <a:pPr marL="697230" indent="-22732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697230" algn="l"/>
              </a:tabLst>
            </a:pP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Mr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annoyed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Anne?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did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0" i="1">
                <a:solidFill>
                  <a:srgbClr val="231F20"/>
                </a:solidFill>
                <a:latin typeface="Calibri"/>
                <a:cs typeface="Calibri"/>
              </a:rPr>
              <a:t>ask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to</a:t>
            </a:r>
            <a:r>
              <a:rPr dirty="0" sz="1000" spc="-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231F20"/>
                </a:solidFill>
                <a:latin typeface="Calibri"/>
                <a:cs typeface="Calibri"/>
              </a:rPr>
              <a:t>do?</a:t>
            </a:r>
            <a:endParaRPr sz="10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97230" algn="l"/>
              </a:tabLst>
            </a:pPr>
            <a:r>
              <a:rPr dirty="0" sz="1000" spc="120" i="1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did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justify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being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chatterbox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essay?</a:t>
            </a:r>
            <a:endParaRPr sz="10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697230" algn="l"/>
              </a:tabLst>
            </a:pP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35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strict</a:t>
            </a:r>
            <a:r>
              <a:rPr dirty="0" sz="1000" spc="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teacher?</a:t>
            </a:r>
            <a:endParaRPr sz="10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697230" algn="l"/>
              </a:tabLst>
            </a:pP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made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allow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talk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class?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146" y="3651900"/>
            <a:ext cx="1667508" cy="3079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1700" y="3975353"/>
            <a:ext cx="4828540" cy="35934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239395" marR="6985" indent="-226695">
              <a:lnSpc>
                <a:spcPct val="101099"/>
              </a:lnSpc>
              <a:spcBef>
                <a:spcPts val="85"/>
              </a:spcBef>
              <a:buAutoNum type="arabicPeriod"/>
              <a:tabLst>
                <a:tab pos="241300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right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said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world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interested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musings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thirteen-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year-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girl?</a:t>
            </a:r>
            <a:endParaRPr sz="950">
              <a:latin typeface="Calibri"/>
              <a:cs typeface="Calibri"/>
            </a:endParaRPr>
          </a:p>
          <a:p>
            <a:pPr algn="just" marL="239395" marR="6350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41300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examples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journal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entries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‘Before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Read’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section.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Compare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writes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diary.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language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originally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in?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Anne’s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different?</a:t>
            </a:r>
            <a:endParaRPr sz="950">
              <a:latin typeface="Calibri"/>
              <a:cs typeface="Calibri"/>
            </a:endParaRPr>
          </a:p>
          <a:p>
            <a:pPr algn="just" marL="239395" marR="6350" indent="-226695">
              <a:lnSpc>
                <a:spcPts val="1130"/>
              </a:lnSpc>
              <a:spcBef>
                <a:spcPts val="345"/>
              </a:spcBef>
              <a:buAutoNum type="arabicPeriod"/>
              <a:tabLst>
                <a:tab pos="24130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need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give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brief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sketch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family?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treat 	‘Kitty’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insider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outsider?</a:t>
            </a:r>
            <a:endParaRPr sz="950">
              <a:latin typeface="Calibri"/>
              <a:cs typeface="Calibri"/>
            </a:endParaRPr>
          </a:p>
          <a:p>
            <a:pPr algn="just" marL="239395" marR="6350" indent="-226695">
              <a:lnSpc>
                <a:spcPct val="101099"/>
              </a:lnSpc>
              <a:spcBef>
                <a:spcPts val="250"/>
              </a:spcBef>
              <a:buAutoNum type="arabicPeriod"/>
              <a:tabLst>
                <a:tab pos="24130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feel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father,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grandmother,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Mrs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Kuperus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Keesing?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tell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her?</a:t>
            </a:r>
            <a:endParaRPr sz="950">
              <a:latin typeface="Calibri"/>
              <a:cs typeface="Calibri"/>
            </a:endParaRPr>
          </a:p>
          <a:p>
            <a:pPr algn="just"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her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essay?</a:t>
            </a:r>
            <a:endParaRPr sz="950">
              <a:latin typeface="Calibri"/>
              <a:cs typeface="Calibri"/>
            </a:endParaRPr>
          </a:p>
          <a:p>
            <a:pPr algn="just" marL="239395" marR="5715" indent="-226695">
              <a:lnSpc>
                <a:spcPts val="1130"/>
              </a:lnSpc>
              <a:spcBef>
                <a:spcPts val="345"/>
              </a:spcBef>
              <a:buAutoNum type="arabicPeriod"/>
              <a:tabLst>
                <a:tab pos="241300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says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teachers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unpredictable.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unpredictable?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How?</a:t>
            </a:r>
            <a:endParaRPr sz="950">
              <a:latin typeface="Calibri"/>
              <a:cs typeface="Calibri"/>
            </a:endParaRPr>
          </a:p>
          <a:p>
            <a:pPr algn="just" marL="239395" indent="-22669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2393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statements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tell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Anne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Frank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person?</a:t>
            </a:r>
            <a:endParaRPr sz="950">
              <a:latin typeface="Calibri"/>
              <a:cs typeface="Calibri"/>
            </a:endParaRPr>
          </a:p>
          <a:p>
            <a:pPr algn="just" lvl="1" marL="506730" marR="6985" indent="-189865">
              <a:lnSpc>
                <a:spcPct val="101099"/>
              </a:lnSpc>
              <a:spcBef>
                <a:spcPts val="285"/>
              </a:spcBef>
              <a:buAutoNum type="romanLcParenBoth"/>
              <a:tabLst>
                <a:tab pos="509270" algn="l"/>
              </a:tabLst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seem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able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closer,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that’s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problem.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Maybe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it’s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fault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confide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0">
                <a:solidFill>
                  <a:srgbClr val="231F20"/>
                </a:solidFill>
                <a:latin typeface="Calibri"/>
                <a:cs typeface="Calibri"/>
              </a:rPr>
              <a:t>other.</a:t>
            </a:r>
            <a:endParaRPr sz="950">
              <a:latin typeface="Calibri"/>
              <a:cs typeface="Calibri"/>
            </a:endParaRPr>
          </a:p>
          <a:p>
            <a:pPr algn="just" lvl="1" marL="508000" marR="5080" indent="-227329">
              <a:lnSpc>
                <a:spcPts val="1130"/>
              </a:lnSpc>
              <a:spcBef>
                <a:spcPts val="350"/>
              </a:spcBef>
              <a:buAutoNum type="romanLcParenBoth"/>
              <a:tabLst>
                <a:tab pos="50927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don’t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jot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facts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people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would,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friend.</a:t>
            </a:r>
            <a:endParaRPr sz="950">
              <a:latin typeface="Calibri"/>
              <a:cs typeface="Calibri"/>
            </a:endParaRPr>
          </a:p>
          <a:p>
            <a:pPr algn="just" lvl="1" marL="506730" marR="6985" indent="-266065">
              <a:lnSpc>
                <a:spcPct val="101099"/>
              </a:lnSpc>
              <a:spcBef>
                <a:spcPts val="245"/>
              </a:spcBef>
              <a:buAutoNum type="romanLcParenBoth"/>
              <a:tabLst>
                <a:tab pos="509270" algn="l"/>
              </a:tabLst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Margot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Holland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December,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followed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February,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5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plunked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table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birthday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present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Margot.</a:t>
            </a:r>
            <a:endParaRPr sz="950">
              <a:latin typeface="Calibri"/>
              <a:cs typeface="Calibri"/>
            </a:endParaRPr>
          </a:p>
          <a:p>
            <a:pPr algn="just" lvl="1" marL="506730" marR="5080" indent="-256540">
              <a:lnSpc>
                <a:spcPct val="100000"/>
              </a:lnSpc>
              <a:spcBef>
                <a:spcPts val="300"/>
              </a:spcBef>
              <a:buAutoNum type="romanLcParenBoth"/>
              <a:tabLst>
                <a:tab pos="509270" algn="l"/>
              </a:tabLst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ask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me,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there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many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dummies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quarter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should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kept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back,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teachers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most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unpredictable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creatures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earth.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7396" y="4036059"/>
            <a:ext cx="1466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45" y="1229380"/>
            <a:ext cx="1715765" cy="445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9735" y="3604266"/>
            <a:ext cx="4570095" cy="88900"/>
          </a:xfrm>
          <a:custGeom>
            <a:avLst/>
            <a:gdLst/>
            <a:ahLst/>
            <a:cxnLst/>
            <a:rect l="l" t="t" r="r" b="b"/>
            <a:pathLst>
              <a:path w="4570095" h="88900">
                <a:moveTo>
                  <a:pt x="4569470" y="0"/>
                </a:moveTo>
                <a:lnTo>
                  <a:pt x="0" y="0"/>
                </a:lnTo>
                <a:lnTo>
                  <a:pt x="0" y="88904"/>
                </a:lnTo>
                <a:lnTo>
                  <a:pt x="4569470" y="88904"/>
                </a:lnTo>
                <a:lnTo>
                  <a:pt x="4569470" y="0"/>
                </a:lnTo>
                <a:close/>
              </a:path>
            </a:pathLst>
          </a:custGeom>
          <a:solidFill>
            <a:srgbClr val="C7EAF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81100" y="1758958"/>
          <a:ext cx="3009900" cy="45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022350"/>
                <a:gridCol w="847725"/>
              </a:tblGrid>
              <a:tr h="23431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headmistress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long-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awaited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homework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C7EAFB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50" spc="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notebook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stiff-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backed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50" spc="10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outbursts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C7EAFB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93268" y="649973"/>
            <a:ext cx="454660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28600" marR="5080" indent="-216535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(v)</a:t>
            </a:r>
            <a:r>
              <a:rPr dirty="0" sz="950" spc="3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Anyone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could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ramble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leave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big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spaces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words,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but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trick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convincing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arguments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prove</a:t>
            </a:r>
            <a:r>
              <a:rPr dirty="0" sz="950" spc="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necessity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talking.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675" y="1539988"/>
            <a:ext cx="18364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I.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words.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3545" y="3686805"/>
            <a:ext cx="1244600" cy="1998980"/>
          </a:xfrm>
          <a:custGeom>
            <a:avLst/>
            <a:gdLst/>
            <a:ahLst/>
            <a:cxnLst/>
            <a:rect l="l" t="t" r="r" b="b"/>
            <a:pathLst>
              <a:path w="1244600" h="1998979">
                <a:moveTo>
                  <a:pt x="1244595" y="0"/>
                </a:moveTo>
                <a:lnTo>
                  <a:pt x="0" y="0"/>
                </a:lnTo>
                <a:lnTo>
                  <a:pt x="0" y="1998963"/>
                </a:lnTo>
                <a:lnTo>
                  <a:pt x="1244595" y="1998963"/>
                </a:lnTo>
                <a:lnTo>
                  <a:pt x="1244595" y="0"/>
                </a:lnTo>
                <a:close/>
              </a:path>
            </a:pathLst>
          </a:custGeom>
          <a:solidFill>
            <a:srgbClr val="C7EAF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59735" y="3682996"/>
          <a:ext cx="4646295" cy="199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075"/>
                <a:gridCol w="3322320"/>
              </a:tblGrid>
              <a:tr h="2152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Heartbreaking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obeying</a:t>
                      </a:r>
                      <a:r>
                        <a:rPr dirty="0" sz="950" spc="229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50" spc="22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respecting</a:t>
                      </a:r>
                      <a:r>
                        <a:rPr dirty="0" sz="950" spc="22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50" spc="229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law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Homesick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295275" marR="70485" indent="-228600">
                        <a:lnSpc>
                          <a:spcPts val="1130"/>
                        </a:lnSpc>
                        <a:spcBef>
                          <a:spcPts val="175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1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think</a:t>
                      </a:r>
                      <a:r>
                        <a:rPr dirty="0" sz="950" spc="2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950" spc="25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pleasant</a:t>
                      </a:r>
                      <a:r>
                        <a:rPr dirty="0" sz="950" spc="25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things,</a:t>
                      </a:r>
                      <a:r>
                        <a:rPr dirty="0" sz="950" spc="2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forgetting</a:t>
                      </a:r>
                      <a:r>
                        <a:rPr dirty="0" sz="950" spc="25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950" spc="2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present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106680">
                        <a:lnSpc>
                          <a:spcPts val="1055"/>
                        </a:lnSpc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Blockhead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050"/>
                        </a:lnSpc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1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something</a:t>
                      </a:r>
                      <a:r>
                        <a:rPr dirty="0" sz="950" spc="3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1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produced</a:t>
                      </a:r>
                      <a:r>
                        <a:rPr dirty="0" sz="950" spc="3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1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950" spc="3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3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1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person,</a:t>
                      </a:r>
                      <a:r>
                        <a:rPr dirty="0" sz="950" spc="3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3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machine</a:t>
                      </a:r>
                      <a:r>
                        <a:rPr dirty="0" sz="950" spc="34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or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295275">
                        <a:lnSpc>
                          <a:spcPts val="1135"/>
                        </a:lnSpc>
                      </a:pP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organisation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4.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11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Law-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abiding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1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producing</a:t>
                      </a:r>
                      <a:r>
                        <a:rPr dirty="0" sz="950" spc="2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24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sadness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5.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Overdo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3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950" spc="2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occasion</a:t>
                      </a:r>
                      <a:r>
                        <a:rPr dirty="0" sz="950" spc="229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950" spc="2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vehicles/machines</a:t>
                      </a:r>
                      <a:r>
                        <a:rPr dirty="0" sz="950" spc="23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stop</a:t>
                      </a:r>
                      <a:r>
                        <a:rPr dirty="0" sz="950" spc="229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working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6.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Daydream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3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informal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r>
                        <a:rPr dirty="0" sz="950" spc="10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950" spc="10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dirty="0" sz="950" spc="10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stupid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person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7.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Breakdown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09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missing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family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dirty="0" sz="950" spc="19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much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 spc="8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8.</a:t>
                      </a:r>
                      <a:r>
                        <a:rPr dirty="0" sz="950" spc="18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9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  <a:solidFill>
                      <a:srgbClr val="C7EAFB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950" spc="434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something</a:t>
                      </a: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22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5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excessive</a:t>
                      </a:r>
                      <a:r>
                        <a:rPr dirty="0" sz="950" spc="22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solidFill>
                            <a:srgbClr val="231F20"/>
                          </a:solidFill>
                          <a:latin typeface="Calibri"/>
                          <a:cs typeface="Calibri"/>
                        </a:rPr>
                        <a:t>degree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AEEF"/>
                      </a:solidFill>
                      <a:prstDash val="solid"/>
                    </a:lnL>
                    <a:lnR w="12700">
                      <a:solidFill>
                        <a:srgbClr val="00AEEF"/>
                      </a:solidFill>
                      <a:prstDash val="solid"/>
                    </a:lnR>
                    <a:lnT w="12700">
                      <a:solidFill>
                        <a:srgbClr val="00AEEF"/>
                      </a:solidFill>
                      <a:prstDash val="solid"/>
                    </a:lnT>
                    <a:lnB w="12700">
                      <a:solidFill>
                        <a:srgbClr val="00AEE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44500" y="2280653"/>
            <a:ext cx="4598670" cy="139255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715">
              <a:lnSpc>
                <a:spcPts val="1130"/>
              </a:lnSpc>
              <a:spcBef>
                <a:spcPts val="145"/>
              </a:spcBef>
            </a:pP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These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compound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words.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made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words.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Compound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be:</a:t>
            </a:r>
            <a:endParaRPr sz="950">
              <a:latin typeface="Calibri"/>
              <a:cs typeface="Calibri"/>
            </a:endParaRPr>
          </a:p>
          <a:p>
            <a:pPr marL="163195" indent="-150495">
              <a:lnSpc>
                <a:spcPct val="100000"/>
              </a:lnSpc>
              <a:spcBef>
                <a:spcPts val="260"/>
              </a:spcBef>
              <a:buChar char="•"/>
              <a:tabLst>
                <a:tab pos="163195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nouns: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headmistress,</a:t>
            </a:r>
            <a:r>
              <a:rPr dirty="0" sz="950" spc="1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homework,</a:t>
            </a:r>
            <a:r>
              <a:rPr dirty="0" sz="950" spc="1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notebook,</a:t>
            </a:r>
            <a:r>
              <a:rPr dirty="0" sz="950" spc="1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outbursts</a:t>
            </a:r>
            <a:endParaRPr sz="950">
              <a:latin typeface="Calibri"/>
              <a:cs typeface="Calibri"/>
            </a:endParaRPr>
          </a:p>
          <a:p>
            <a:pPr marL="163195" indent="-150495">
              <a:lnSpc>
                <a:spcPct val="100000"/>
              </a:lnSpc>
              <a:spcBef>
                <a:spcPts val="300"/>
              </a:spcBef>
              <a:buChar char="•"/>
              <a:tabLst>
                <a:tab pos="163195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adjectives: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long-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awaited,</a:t>
            </a:r>
            <a:r>
              <a:rPr dirty="0" sz="950" spc="2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 i="1">
                <a:solidFill>
                  <a:srgbClr val="231F20"/>
                </a:solidFill>
                <a:latin typeface="Calibri"/>
                <a:cs typeface="Calibri"/>
              </a:rPr>
              <a:t>stiff-</a:t>
            </a:r>
            <a:r>
              <a:rPr dirty="0" sz="950" spc="70" i="1">
                <a:solidFill>
                  <a:srgbClr val="231F20"/>
                </a:solidFill>
                <a:latin typeface="Calibri"/>
                <a:cs typeface="Calibri"/>
              </a:rPr>
              <a:t>backed</a:t>
            </a:r>
            <a:endParaRPr sz="950">
              <a:latin typeface="Calibri"/>
              <a:cs typeface="Calibri"/>
            </a:endParaRPr>
          </a:p>
          <a:p>
            <a:pPr marL="163195" indent="-150495">
              <a:lnSpc>
                <a:spcPct val="100000"/>
              </a:lnSpc>
              <a:spcBef>
                <a:spcPts val="300"/>
              </a:spcBef>
              <a:buChar char="•"/>
              <a:tabLst>
                <a:tab pos="16319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verbs: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sleep-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walk,</a:t>
            </a:r>
            <a:r>
              <a:rPr dirty="0" sz="950" spc="25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baby-</a:t>
            </a:r>
            <a:r>
              <a:rPr dirty="0" sz="950" spc="40" i="1">
                <a:solidFill>
                  <a:srgbClr val="231F20"/>
                </a:solidFill>
                <a:latin typeface="Calibri"/>
                <a:cs typeface="Calibri"/>
              </a:rPr>
              <a:t>sit</a:t>
            </a:r>
            <a:endParaRPr sz="950">
              <a:latin typeface="Calibri"/>
              <a:cs typeface="Calibri"/>
            </a:endParaRPr>
          </a:p>
          <a:p>
            <a:pPr marL="12700" marR="5080">
              <a:lnSpc>
                <a:spcPts val="1130"/>
              </a:lnSpc>
              <a:spcBef>
                <a:spcPts val="660"/>
              </a:spcBef>
            </a:pP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Match</a:t>
            </a:r>
            <a:r>
              <a:rPr dirty="0" sz="950" spc="28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compound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words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under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‘A’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with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their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meanings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under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‘B’.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Use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each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sentence.</a:t>
            </a:r>
            <a:endParaRPr sz="950">
              <a:latin typeface="Calibri"/>
              <a:cs typeface="Calibri"/>
            </a:endParaRPr>
          </a:p>
          <a:p>
            <a:pPr marL="591820">
              <a:lnSpc>
                <a:spcPct val="100000"/>
              </a:lnSpc>
              <a:spcBef>
                <a:spcPts val="120"/>
              </a:spcBef>
              <a:tabLst>
                <a:tab pos="2877185" algn="l"/>
              </a:tabLst>
            </a:pPr>
            <a:r>
              <a:rPr dirty="0" sz="950" spc="50" b="1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b="1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95" b="1" i="1">
                <a:solidFill>
                  <a:srgbClr val="231F20"/>
                </a:solidFill>
                <a:latin typeface="Calibri"/>
                <a:cs typeface="Calibri"/>
              </a:rPr>
              <a:t>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100" y="5817870"/>
            <a:ext cx="4750435" cy="82423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00"/>
              </a:spcBef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II.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231F20"/>
                </a:solidFill>
                <a:latin typeface="Calibri"/>
                <a:cs typeface="Calibri"/>
              </a:rPr>
              <a:t>Phrasal</a:t>
            </a:r>
            <a:r>
              <a:rPr dirty="0" sz="950" spc="30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endParaRPr sz="950">
              <a:latin typeface="Calibri"/>
              <a:cs typeface="Calibri"/>
            </a:endParaRPr>
          </a:p>
          <a:p>
            <a:pPr algn="just" marL="164465" marR="5080">
              <a:lnSpc>
                <a:spcPct val="99600"/>
              </a:lnSpc>
              <a:spcBef>
                <a:spcPts val="305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phrasal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verb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verb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31F20"/>
                </a:solidFill>
                <a:latin typeface="Calibri"/>
                <a:cs typeface="Calibri"/>
              </a:rPr>
              <a:t>followed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preposition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adverb.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meaning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often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parts.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Compare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 the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950" spc="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run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away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(a)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(b)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below.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easily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guess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their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(a)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(b)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special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meanings.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655" y="6654545"/>
            <a:ext cx="2933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(a)</a:t>
            </a:r>
            <a:r>
              <a:rPr dirty="0" sz="950" spc="45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70">
                <a:solidFill>
                  <a:srgbClr val="231F20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6655" y="7035545"/>
            <a:ext cx="2933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(b)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-75">
                <a:solidFill>
                  <a:srgbClr val="231F20"/>
                </a:solidFill>
                <a:latin typeface="Calibri"/>
                <a:cs typeface="Calibri"/>
              </a:rPr>
              <a:t>•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6628638"/>
            <a:ext cx="3690620" cy="74485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305"/>
              </a:spcBef>
            </a:pP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got</a:t>
            </a:r>
            <a:r>
              <a:rPr dirty="0" sz="95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0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Agra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bus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stopped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breakfast.</a:t>
            </a:r>
            <a:endParaRPr sz="950">
              <a:latin typeface="Calibri"/>
              <a:cs typeface="Calibri"/>
            </a:endParaRPr>
          </a:p>
          <a:p>
            <a:pPr marL="150495" indent="-150495">
              <a:lnSpc>
                <a:spcPct val="100000"/>
              </a:lnSpc>
              <a:spcBef>
                <a:spcPts val="200"/>
              </a:spcBef>
              <a:buChar char="•"/>
              <a:tabLst>
                <a:tab pos="1504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Dev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Anand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ran</a:t>
            </a:r>
            <a:r>
              <a:rPr dirty="0" sz="95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away</a:t>
            </a:r>
            <a:r>
              <a:rPr dirty="0" sz="950" spc="1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home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teenager.</a:t>
            </a:r>
            <a:endParaRPr sz="95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520"/>
              </a:spcBef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She’s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eager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950" spc="2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life.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(succeed)</a:t>
            </a:r>
            <a:endParaRPr sz="950">
              <a:latin typeface="Calibri"/>
              <a:cs typeface="Calibri"/>
            </a:endParaRPr>
          </a:p>
          <a:p>
            <a:pPr marL="150495" indent="-150495">
              <a:lnSpc>
                <a:spcPct val="100000"/>
              </a:lnSpc>
              <a:spcBef>
                <a:spcPts val="180"/>
              </a:spcBef>
              <a:buChar char="•"/>
              <a:tabLst>
                <a:tab pos="1504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visitors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ran</a:t>
            </a:r>
            <a:r>
              <a:rPr dirty="0" sz="950" spc="17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away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match.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(won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easily)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180" y="4350003"/>
            <a:ext cx="1549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1" y="649979"/>
            <a:ext cx="4601845" cy="133477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8255">
              <a:lnSpc>
                <a:spcPts val="1130"/>
              </a:lnSpc>
              <a:spcBef>
                <a:spcPts val="145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phrasal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three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parts: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verb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followed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adverb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preposition.</a:t>
            </a:r>
            <a:endParaRPr sz="950">
              <a:latin typeface="Calibri"/>
              <a:cs typeface="Calibri"/>
            </a:endParaRPr>
          </a:p>
          <a:p>
            <a:pPr marL="467995" indent="-226695">
              <a:lnSpc>
                <a:spcPct val="100000"/>
              </a:lnSpc>
              <a:spcBef>
                <a:spcPts val="260"/>
              </a:spcBef>
              <a:buAutoNum type="alphaLcParenBoth" startAt="3"/>
              <a:tabLst>
                <a:tab pos="467995" algn="l"/>
              </a:tabLst>
            </a:pP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car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ran</a:t>
            </a:r>
            <a:r>
              <a:rPr dirty="0" sz="950" spc="1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1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petrol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just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outside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city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limits.</a:t>
            </a:r>
            <a:endParaRPr sz="950">
              <a:latin typeface="Calibri"/>
              <a:cs typeface="Calibri"/>
            </a:endParaRPr>
          </a:p>
          <a:p>
            <a:pPr marL="467995" marR="5080" indent="-236220">
              <a:lnSpc>
                <a:spcPct val="101099"/>
              </a:lnSpc>
              <a:spcBef>
                <a:spcPts val="290"/>
              </a:spcBef>
              <a:buAutoNum type="alphaLcParenBoth" startAt="3"/>
              <a:tabLst>
                <a:tab pos="469900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government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wants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reach</a:t>
            </a:r>
            <a:r>
              <a:rPr dirty="0" sz="950" spc="2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2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people</a:t>
            </a:r>
            <a:r>
              <a:rPr dirty="0" sz="9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new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campaign.</a:t>
            </a:r>
            <a:endParaRPr sz="950">
              <a:latin typeface="Calibri"/>
              <a:cs typeface="Calibri"/>
            </a:endParaRPr>
          </a:p>
          <a:p>
            <a:pPr algn="just" marL="241300" marR="5715" indent="-228600">
              <a:lnSpc>
                <a:spcPct val="100000"/>
              </a:lnSpc>
              <a:spcBef>
                <a:spcPts val="585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1.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text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you’ve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just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read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has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number</a:t>
            </a:r>
            <a:r>
              <a:rPr dirty="0" sz="950" spc="2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phrasal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verbs</a:t>
            </a:r>
            <a:r>
              <a:rPr dirty="0" sz="950" spc="2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commonly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used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English.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Look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up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following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dictionary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for</a:t>
            </a:r>
            <a:r>
              <a:rPr dirty="0" sz="950" spc="31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their meanings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(under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entry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for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italicised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50" b="1">
                <a:solidFill>
                  <a:srgbClr val="00AEEF"/>
                </a:solidFill>
                <a:latin typeface="Calibri"/>
                <a:cs typeface="Calibri"/>
              </a:rPr>
              <a:t>word).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101" y="1959096"/>
            <a:ext cx="1226820" cy="3911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39395" indent="-187325">
              <a:lnSpc>
                <a:spcPct val="100000"/>
              </a:lnSpc>
              <a:spcBef>
                <a:spcPts val="400"/>
              </a:spcBef>
              <a:buFont typeface="Calibri"/>
              <a:buAutoNum type="romanLcParenBoth"/>
              <a:tabLst>
                <a:tab pos="239395" algn="l"/>
              </a:tabLst>
            </a:pP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plunge</a:t>
            </a:r>
            <a:r>
              <a:rPr dirty="0" sz="950" spc="2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(right)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endParaRPr sz="95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00"/>
              </a:spcBef>
              <a:buFont typeface="Calibri"/>
              <a:buAutoNum type="romanLcParenBoth"/>
              <a:tabLst>
                <a:tab pos="240029" algn="l"/>
              </a:tabLst>
            </a:pP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kept</a:t>
            </a:r>
            <a:r>
              <a:rPr dirty="0" sz="950" spc="25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back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5925" y="1959096"/>
            <a:ext cx="1138555" cy="3911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400"/>
              </a:spcBef>
              <a:buFont typeface="Calibri"/>
              <a:buAutoNum type="romanLcParenBoth" startAt="3"/>
              <a:tabLst>
                <a:tab pos="276225" algn="l"/>
              </a:tabLst>
            </a:pP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ramble</a:t>
            </a:r>
            <a:r>
              <a:rPr dirty="0" sz="950" spc="2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endParaRPr sz="950">
              <a:latin typeface="Calibri"/>
              <a:cs typeface="Calibri"/>
            </a:endParaRPr>
          </a:p>
          <a:p>
            <a:pPr marL="275590" indent="-254000">
              <a:lnSpc>
                <a:spcPct val="100000"/>
              </a:lnSpc>
              <a:spcBef>
                <a:spcPts val="300"/>
              </a:spcBef>
              <a:buFont typeface="Calibri"/>
              <a:buAutoNum type="romanLcParenBoth" startAt="3"/>
              <a:tabLst>
                <a:tab pos="275590" algn="l"/>
              </a:tabLst>
            </a:pP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95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along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01" y="2402579"/>
            <a:ext cx="4598670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0665" marR="5080" indent="-228600">
              <a:lnSpc>
                <a:spcPct val="100000"/>
              </a:lnSpc>
              <a:spcBef>
                <a:spcPts val="100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2.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Now</a:t>
            </a:r>
            <a:r>
              <a:rPr dirty="0" sz="950" spc="2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find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sentences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8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lesson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have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phrasal</a:t>
            </a:r>
            <a:r>
              <a:rPr dirty="0" sz="950" spc="2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verbs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given</a:t>
            </a:r>
            <a:r>
              <a:rPr dirty="0" sz="950" spc="2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below.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Match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them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with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their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meanings.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(You</a:t>
            </a:r>
            <a:r>
              <a:rPr dirty="0" sz="950" spc="30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have</a:t>
            </a:r>
            <a:r>
              <a:rPr dirty="0" sz="950" spc="2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already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found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out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6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meanings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some</a:t>
            </a:r>
            <a:r>
              <a:rPr dirty="0" sz="950" spc="26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them.)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Are</a:t>
            </a:r>
            <a:r>
              <a:rPr dirty="0" sz="950" spc="26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their</a:t>
            </a:r>
            <a:r>
              <a:rPr dirty="0" sz="950" spc="254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meanings</a:t>
            </a:r>
            <a:r>
              <a:rPr dirty="0" sz="950" spc="26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the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same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as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their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parts?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(Note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two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parts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229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phrasal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verb </a:t>
            </a:r>
            <a:r>
              <a:rPr dirty="0" sz="950" spc="120" b="1">
                <a:solidFill>
                  <a:srgbClr val="00AEEF"/>
                </a:solidFill>
                <a:latin typeface="Calibri"/>
                <a:cs typeface="Calibri"/>
              </a:rPr>
              <a:t>may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occur</a:t>
            </a:r>
            <a:r>
              <a:rPr dirty="0" sz="950" spc="2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separated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3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text.)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525" y="3163055"/>
            <a:ext cx="1147445" cy="8763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76225" indent="-187325">
              <a:lnSpc>
                <a:spcPct val="100000"/>
              </a:lnSpc>
              <a:spcBef>
                <a:spcPts val="305"/>
              </a:spcBef>
              <a:buAutoNum type="romanLcParenBoth"/>
              <a:tabLst>
                <a:tab pos="27622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plunge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endParaRPr sz="950">
              <a:latin typeface="Calibri"/>
              <a:cs typeface="Calibri"/>
            </a:endParaRPr>
          </a:p>
          <a:p>
            <a:pPr marL="276225" indent="-227329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27622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kept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back</a:t>
            </a:r>
            <a:endParaRPr sz="950">
              <a:latin typeface="Calibri"/>
              <a:cs typeface="Calibri"/>
            </a:endParaRPr>
          </a:p>
          <a:p>
            <a:pPr marL="276225" indent="-263525">
              <a:lnSpc>
                <a:spcPct val="100000"/>
              </a:lnSpc>
              <a:spcBef>
                <a:spcPts val="204"/>
              </a:spcBef>
              <a:buAutoNum type="romanLcParenBoth"/>
              <a:tabLst>
                <a:tab pos="276225" algn="l"/>
              </a:tabLst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move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endParaRPr sz="950">
              <a:latin typeface="Calibri"/>
              <a:cs typeface="Calibri"/>
            </a:endParaRPr>
          </a:p>
          <a:p>
            <a:pPr marL="275590" indent="-254000">
              <a:lnSpc>
                <a:spcPct val="100000"/>
              </a:lnSpc>
              <a:spcBef>
                <a:spcPts val="204"/>
              </a:spcBef>
              <a:buAutoNum type="romanLcParenBoth"/>
              <a:tabLst>
                <a:tab pos="275590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ramble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endParaRPr sz="950">
              <a:latin typeface="Calibri"/>
              <a:cs typeface="Calibri"/>
            </a:endParaRPr>
          </a:p>
          <a:p>
            <a:pPr marL="275590" indent="-217804">
              <a:lnSpc>
                <a:spcPct val="100000"/>
              </a:lnSpc>
              <a:spcBef>
                <a:spcPts val="180"/>
              </a:spcBef>
              <a:buAutoNum type="romanLcParenBoth"/>
              <a:tabLst>
                <a:tab pos="275590" algn="l"/>
              </a:tabLst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get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along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1469" y="4162799"/>
            <a:ext cx="1092835" cy="70231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42900" indent="-254000">
              <a:lnSpc>
                <a:spcPct val="100000"/>
              </a:lnSpc>
              <a:spcBef>
                <a:spcPts val="280"/>
              </a:spcBef>
              <a:buAutoNum type="romanLcParenBoth" startAt="6"/>
              <a:tabLst>
                <a:tab pos="342900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calm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endParaRPr sz="950">
              <a:latin typeface="Calibri"/>
              <a:cs typeface="Calibri"/>
            </a:endParaRPr>
          </a:p>
          <a:p>
            <a:pPr marL="341630" indent="-292735">
              <a:lnSpc>
                <a:spcPct val="100000"/>
              </a:lnSpc>
              <a:spcBef>
                <a:spcPts val="180"/>
              </a:spcBef>
              <a:buAutoNum type="romanLcParenBoth" startAt="6"/>
              <a:tabLst>
                <a:tab pos="341630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stay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endParaRPr sz="950">
              <a:latin typeface="Calibri"/>
              <a:cs typeface="Calibri"/>
            </a:endParaRPr>
          </a:p>
          <a:p>
            <a:pPr marL="340995" indent="-328295">
              <a:lnSpc>
                <a:spcPct val="100000"/>
              </a:lnSpc>
              <a:spcBef>
                <a:spcPts val="204"/>
              </a:spcBef>
              <a:buAutoNum type="romanLcParenBoth" startAt="6"/>
              <a:tabLst>
                <a:tab pos="340995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endParaRPr sz="950">
              <a:latin typeface="Calibri"/>
              <a:cs typeface="Calibri"/>
            </a:endParaRPr>
          </a:p>
          <a:p>
            <a:pPr marL="341630" indent="-252729">
              <a:lnSpc>
                <a:spcPct val="100000"/>
              </a:lnSpc>
              <a:spcBef>
                <a:spcPts val="200"/>
              </a:spcBef>
              <a:buAutoNum type="romanLcParenBoth" startAt="6"/>
              <a:tabLst>
                <a:tab pos="341630" algn="l"/>
              </a:tabLst>
            </a:pP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hand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6701" y="3163055"/>
            <a:ext cx="2921635" cy="17018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305"/>
              </a:spcBef>
              <a:buChar char="–"/>
              <a:tabLst>
                <a:tab pos="151130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speak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without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focus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0"/>
              </a:spcBef>
              <a:buChar char="–"/>
              <a:tabLst>
                <a:tab pos="15113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stay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indoors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4"/>
              </a:spcBef>
              <a:buChar char="–"/>
              <a:tabLst>
                <a:tab pos="151130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(them)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remain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quiet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4"/>
              </a:spcBef>
              <a:buChar char="–"/>
              <a:tabLst>
                <a:tab pos="151130" algn="l"/>
              </a:tabLst>
            </a:pP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relationship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endParaRPr sz="950">
              <a:latin typeface="Calibri"/>
              <a:cs typeface="Calibri"/>
            </a:endParaRPr>
          </a:p>
          <a:p>
            <a:pPr marL="150495" marR="5080" indent="-138430">
              <a:lnSpc>
                <a:spcPct val="101099"/>
              </a:lnSpc>
              <a:spcBef>
                <a:spcPts val="165"/>
              </a:spcBef>
              <a:buChar char="–"/>
              <a:tabLst>
                <a:tab pos="152400" algn="l"/>
              </a:tabLst>
            </a:pP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give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assignment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(homework)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person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authority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teacher)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4"/>
              </a:spcBef>
              <a:buChar char="–"/>
              <a:tabLst>
                <a:tab pos="151130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compensate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180"/>
              </a:spcBef>
              <a:buChar char="–"/>
              <a:tabLst>
                <a:tab pos="151130" algn="l"/>
              </a:tabLst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go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straight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topic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4"/>
              </a:spcBef>
              <a:buChar char="–"/>
              <a:tabLst>
                <a:tab pos="151130" algn="l"/>
              </a:tabLst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go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next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grade</a:t>
            </a:r>
            <a:endParaRPr sz="95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204"/>
              </a:spcBef>
              <a:buChar char="–"/>
              <a:tabLst>
                <a:tab pos="151130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promoted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6400" y="7068311"/>
            <a:ext cx="4041775" cy="0"/>
          </a:xfrm>
          <a:custGeom>
            <a:avLst/>
            <a:gdLst/>
            <a:ahLst/>
            <a:cxnLst/>
            <a:rect l="l" t="t" r="r" b="b"/>
            <a:pathLst>
              <a:path w="4041775" h="0">
                <a:moveTo>
                  <a:pt x="0" y="0"/>
                </a:moveTo>
                <a:lnTo>
                  <a:pt x="4041647" y="0"/>
                </a:lnTo>
              </a:path>
            </a:pathLst>
          </a:custGeom>
          <a:ln w="12191">
            <a:solidFill>
              <a:srgbClr val="6D6F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41325" y="4955279"/>
            <a:ext cx="4820920" cy="240601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III.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 b="1">
                <a:solidFill>
                  <a:srgbClr val="231F20"/>
                </a:solidFill>
                <a:latin typeface="Calibri"/>
                <a:cs typeface="Calibri"/>
              </a:rPr>
              <a:t>Idioms</a:t>
            </a:r>
            <a:endParaRPr sz="950">
              <a:latin typeface="Calibri"/>
              <a:cs typeface="Calibri"/>
            </a:endParaRPr>
          </a:p>
          <a:p>
            <a:pPr algn="just" marL="201295" marR="38100">
              <a:lnSpc>
                <a:spcPct val="100000"/>
              </a:lnSpc>
              <a:spcBef>
                <a:spcPts val="300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Idioms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groups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fixed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order,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particular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meaning,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their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put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together.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(Phrasal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idioms;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said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‘idiomatic’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their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meaning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unpredictable.)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means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‘meet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0">
                <a:solidFill>
                  <a:srgbClr val="231F20"/>
                </a:solidFill>
                <a:latin typeface="Calibri"/>
                <a:cs typeface="Calibri"/>
              </a:rPr>
              <a:t>one’s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match’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English?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means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meet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someone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oneself,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or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even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better,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skill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quality.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means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‘let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cat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bag’?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guess?</a:t>
            </a:r>
            <a:endParaRPr sz="950">
              <a:latin typeface="Calibri"/>
              <a:cs typeface="Calibri"/>
            </a:endParaRPr>
          </a:p>
          <a:p>
            <a:pPr algn="just" marL="427990" marR="33655" indent="-226695">
              <a:lnSpc>
                <a:spcPct val="100000"/>
              </a:lnSpc>
              <a:spcBef>
                <a:spcPts val="585"/>
              </a:spcBef>
              <a:buClr>
                <a:srgbClr val="231F20"/>
              </a:buClr>
              <a:buFont typeface="Calibri"/>
              <a:buAutoNum type="arabicPeriod"/>
              <a:tabLst>
                <a:tab pos="429895" algn="l"/>
              </a:tabLst>
            </a:pP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Here</a:t>
            </a:r>
            <a:r>
              <a:rPr dirty="0" sz="950" spc="35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are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few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sentences</a:t>
            </a:r>
            <a:r>
              <a:rPr dirty="0" sz="950" spc="35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from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text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which</a:t>
            </a:r>
            <a:r>
              <a:rPr dirty="0" sz="950" spc="35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have</a:t>
            </a:r>
            <a:r>
              <a:rPr dirty="0" sz="950" spc="35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idiomatic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	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expressions.</a:t>
            </a:r>
            <a:r>
              <a:rPr dirty="0" sz="950" spc="3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Can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you</a:t>
            </a:r>
            <a:r>
              <a:rPr dirty="0" sz="950" spc="3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say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what</a:t>
            </a:r>
            <a:r>
              <a:rPr dirty="0" sz="950" spc="3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each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means?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(You</a:t>
            </a:r>
            <a:r>
              <a:rPr dirty="0" sz="950" spc="3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might</a:t>
            </a:r>
            <a:r>
              <a:rPr dirty="0" sz="950" spc="3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want</a:t>
            </a:r>
            <a:r>
              <a:rPr dirty="0" sz="950" spc="3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to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	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consult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dictionary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first.)</a:t>
            </a:r>
            <a:endParaRPr sz="950">
              <a:latin typeface="Calibri"/>
              <a:cs typeface="Calibri"/>
            </a:endParaRPr>
          </a:p>
          <a:p>
            <a:pPr algn="just" lvl="1" marL="732790" indent="-187325">
              <a:lnSpc>
                <a:spcPct val="100000"/>
              </a:lnSpc>
              <a:spcBef>
                <a:spcPts val="470"/>
              </a:spcBef>
              <a:buAutoNum type="romanLcParenBoth"/>
              <a:tabLst>
                <a:tab pos="732790" algn="l"/>
                <a:tab pos="4807585" algn="l"/>
              </a:tabLst>
            </a:pP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entire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class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quaking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boots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231F20"/>
              </a:buClr>
              <a:buFont typeface="Calibri"/>
              <a:buAutoNum type="romanLcParenBoth"/>
            </a:pPr>
            <a:endParaRPr sz="950">
              <a:latin typeface="Calibri"/>
              <a:cs typeface="Calibri"/>
            </a:endParaRPr>
          </a:p>
          <a:p>
            <a:pPr algn="just" lvl="1" marL="733425" indent="-227329">
              <a:lnSpc>
                <a:spcPct val="100000"/>
              </a:lnSpc>
              <a:spcBef>
                <a:spcPts val="5"/>
              </a:spcBef>
              <a:buAutoNum type="romanLcParenBoth"/>
              <a:tabLst>
                <a:tab pos="733425" algn="l"/>
                <a:tab pos="480758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Until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then,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telling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18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lose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6400" y="7501128"/>
            <a:ext cx="4041775" cy="0"/>
          </a:xfrm>
          <a:custGeom>
            <a:avLst/>
            <a:gdLst/>
            <a:ahLst/>
            <a:cxnLst/>
            <a:rect l="l" t="t" r="r" b="b"/>
            <a:pathLst>
              <a:path w="4041775" h="0">
                <a:moveTo>
                  <a:pt x="0" y="0"/>
                </a:moveTo>
                <a:lnTo>
                  <a:pt x="4041647" y="0"/>
                </a:lnTo>
              </a:path>
            </a:pathLst>
          </a:custGeom>
          <a:ln w="12191">
            <a:solidFill>
              <a:srgbClr val="6D6F71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7396" y="4036059"/>
            <a:ext cx="143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9260" y="4768846"/>
            <a:ext cx="4305300" cy="2406650"/>
          </a:xfrm>
          <a:custGeom>
            <a:avLst/>
            <a:gdLst/>
            <a:ahLst/>
            <a:cxnLst/>
            <a:rect l="l" t="t" r="r" b="b"/>
            <a:pathLst>
              <a:path w="4305300" h="2406650">
                <a:moveTo>
                  <a:pt x="4305299" y="0"/>
                </a:moveTo>
                <a:lnTo>
                  <a:pt x="0" y="0"/>
                </a:lnTo>
                <a:lnTo>
                  <a:pt x="0" y="2406645"/>
                </a:lnTo>
                <a:lnTo>
                  <a:pt x="4305299" y="2406645"/>
                </a:lnTo>
                <a:lnTo>
                  <a:pt x="4305299" y="0"/>
                </a:lnTo>
                <a:close/>
              </a:path>
            </a:pathLst>
          </a:custGeom>
          <a:solidFill>
            <a:srgbClr val="C7E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1659" y="4792472"/>
            <a:ext cx="4046220" cy="225361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dirty="0" sz="900" spc="110" b="1">
                <a:solidFill>
                  <a:srgbClr val="231F20"/>
                </a:solidFill>
                <a:latin typeface="Calibri"/>
                <a:cs typeface="Calibri"/>
              </a:rPr>
              <a:t>Eye</a:t>
            </a:r>
            <a:endParaRPr sz="900">
              <a:latin typeface="Calibri"/>
              <a:cs typeface="Calibri"/>
            </a:endParaRPr>
          </a:p>
          <a:p>
            <a:pPr marL="150495" indent="-137795">
              <a:lnSpc>
                <a:spcPct val="100000"/>
              </a:lnSpc>
              <a:spcBef>
                <a:spcPts val="310"/>
              </a:spcBef>
              <a:buClr>
                <a:srgbClr val="00AEEF"/>
              </a:buClr>
              <a:buChar char="•"/>
              <a:tabLst>
                <a:tab pos="150495" algn="l"/>
              </a:tabLst>
            </a:pP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Noun</a:t>
            </a:r>
            <a:endParaRPr sz="900">
              <a:latin typeface="Calibri"/>
              <a:cs typeface="Calibri"/>
            </a:endParaRPr>
          </a:p>
          <a:p>
            <a:pPr marL="149860" marR="5080" indent="-137795">
              <a:lnSpc>
                <a:spcPct val="100000"/>
              </a:lnSpc>
              <a:spcBef>
                <a:spcPts val="290"/>
              </a:spcBef>
              <a:buClr>
                <a:srgbClr val="00AEEF"/>
              </a:buClr>
              <a:buChar char="•"/>
              <a:tabLst>
                <a:tab pos="152400" algn="l"/>
              </a:tabLst>
            </a:pP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Part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>
                <a:solidFill>
                  <a:srgbClr val="231F20"/>
                </a:solidFill>
                <a:latin typeface="Calibri"/>
                <a:cs typeface="Calibri"/>
              </a:rPr>
              <a:t>Body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>
                <a:solidFill>
                  <a:srgbClr val="231F20"/>
                </a:solidFill>
                <a:latin typeface="Calibri"/>
                <a:cs typeface="Calibri"/>
              </a:rPr>
              <a:t>1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[C]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either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organs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Calibri"/>
                <a:cs typeface="Calibri"/>
              </a:rPr>
              <a:t>face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0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Calibri"/>
                <a:cs typeface="Calibri"/>
              </a:rPr>
              <a:t>see </a:t>
            </a:r>
            <a:r>
              <a:rPr dirty="0" sz="900" spc="2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with:</a:t>
            </a:r>
            <a:r>
              <a:rPr dirty="0" sz="900" spc="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Calibri"/>
                <a:cs typeface="Calibri"/>
              </a:rPr>
              <a:t>suspect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dark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hair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 i="1">
                <a:solidFill>
                  <a:srgbClr val="231F20"/>
                </a:solidFill>
                <a:latin typeface="Calibri"/>
                <a:cs typeface="Calibri"/>
              </a:rPr>
              <a:t>green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Calibri"/>
                <a:cs typeface="Calibri"/>
              </a:rPr>
              <a:t>eyes.</a:t>
            </a:r>
            <a:endParaRPr sz="900">
              <a:latin typeface="Calibri"/>
              <a:cs typeface="Calibri"/>
            </a:endParaRPr>
          </a:p>
          <a:p>
            <a:pPr marL="149860" marR="5080" indent="-137795">
              <a:lnSpc>
                <a:spcPct val="100000"/>
              </a:lnSpc>
              <a:spcBef>
                <a:spcPts val="310"/>
              </a:spcBef>
              <a:buClr>
                <a:srgbClr val="00AEEF"/>
              </a:buClr>
              <a:buChar char="•"/>
              <a:tabLst>
                <a:tab pos="152400" algn="l"/>
              </a:tabLst>
            </a:pP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Ability</a:t>
            </a:r>
            <a:r>
              <a:rPr dirty="0" sz="9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See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>
                <a:solidFill>
                  <a:srgbClr val="231F20"/>
                </a:solidFill>
                <a:latin typeface="Calibri"/>
                <a:cs typeface="Calibri"/>
              </a:rPr>
              <a:t>3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[sing.]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ability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see:</a:t>
            </a:r>
            <a:r>
              <a:rPr dirty="0" sz="90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surgeon</a:t>
            </a:r>
            <a:r>
              <a:rPr dirty="0" sz="9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needs</a:t>
            </a:r>
            <a:r>
              <a:rPr dirty="0" sz="9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good</a:t>
            </a:r>
            <a:r>
              <a:rPr dirty="0" sz="9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eye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00" spc="9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steady</a:t>
            </a:r>
            <a:r>
              <a:rPr dirty="0" sz="9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hand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149860" marR="5715" indent="-137795">
              <a:lnSpc>
                <a:spcPct val="100000"/>
              </a:lnSpc>
              <a:spcBef>
                <a:spcPts val="290"/>
              </a:spcBef>
              <a:buClr>
                <a:srgbClr val="00AEEF"/>
              </a:buClr>
              <a:buChar char="•"/>
              <a:tabLst>
                <a:tab pos="152400" algn="l"/>
              </a:tabLst>
            </a:pP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9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Seeing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>
                <a:solidFill>
                  <a:srgbClr val="231F20"/>
                </a:solidFill>
                <a:latin typeface="Calibri"/>
                <a:cs typeface="Calibri"/>
              </a:rPr>
              <a:t>4</a:t>
            </a:r>
            <a:r>
              <a:rPr dirty="0" sz="9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[C,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usually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sing.]</a:t>
            </a:r>
            <a:r>
              <a:rPr dirty="0" sz="9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particular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way</a:t>
            </a:r>
            <a:r>
              <a:rPr dirty="0" sz="9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seeing</a:t>
            </a:r>
            <a:r>
              <a:rPr dirty="0" sz="90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sth:</a:t>
            </a:r>
            <a:r>
              <a:rPr dirty="0" sz="90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He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00" spc="60" i="1">
                <a:solidFill>
                  <a:srgbClr val="231F20"/>
                </a:solidFill>
                <a:latin typeface="Calibri"/>
                <a:cs typeface="Calibri"/>
              </a:rPr>
              <a:t>looked</a:t>
            </a:r>
            <a:r>
              <a:rPr dirty="0" sz="9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Calibri"/>
                <a:cs typeface="Calibri"/>
              </a:rPr>
              <a:t>design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eye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 i="1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231F20"/>
                </a:solidFill>
                <a:latin typeface="Calibri"/>
                <a:cs typeface="Calibri"/>
              </a:rPr>
              <a:t>engineer.</a:t>
            </a:r>
            <a:endParaRPr sz="900">
              <a:latin typeface="Calibri"/>
              <a:cs typeface="Calibri"/>
            </a:endParaRPr>
          </a:p>
          <a:p>
            <a:pPr marL="149860" marR="5080" indent="-137795">
              <a:lnSpc>
                <a:spcPct val="100000"/>
              </a:lnSpc>
              <a:spcBef>
                <a:spcPts val="310"/>
              </a:spcBef>
              <a:buClr>
                <a:srgbClr val="00AEEF"/>
              </a:buClr>
              <a:buChar char="•"/>
              <a:tabLst>
                <a:tab pos="152400" algn="l"/>
              </a:tabLst>
            </a:pP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Needle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>
                <a:solidFill>
                  <a:srgbClr val="231F20"/>
                </a:solidFill>
                <a:latin typeface="Calibri"/>
                <a:cs typeface="Calibri"/>
              </a:rPr>
              <a:t>5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[C]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Calibri"/>
                <a:cs typeface="Calibri"/>
              </a:rPr>
              <a:t>hole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end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a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Calibri"/>
                <a:cs typeface="Calibri"/>
              </a:rPr>
              <a:t>needle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put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thread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through.</a:t>
            </a:r>
            <a:endParaRPr sz="900">
              <a:latin typeface="Calibri"/>
              <a:cs typeface="Calibri"/>
            </a:endParaRPr>
          </a:p>
          <a:p>
            <a:pPr algn="just" marL="24765" marR="5080">
              <a:lnSpc>
                <a:spcPct val="100000"/>
              </a:lnSpc>
              <a:spcBef>
                <a:spcPts val="600"/>
              </a:spcBef>
            </a:pPr>
            <a:r>
              <a:rPr dirty="0" sz="900" spc="95" b="1">
                <a:solidFill>
                  <a:srgbClr val="6D6F71"/>
                </a:solidFill>
                <a:latin typeface="Calibri"/>
                <a:cs typeface="Calibri"/>
              </a:rPr>
              <a:t>IDM </a:t>
            </a:r>
            <a:r>
              <a:rPr dirty="0" sz="900" spc="60" b="1" i="1">
                <a:solidFill>
                  <a:srgbClr val="6D6F71"/>
                </a:solidFill>
                <a:latin typeface="Calibri"/>
                <a:cs typeface="Calibri"/>
              </a:rPr>
              <a:t>be</a:t>
            </a:r>
            <a:r>
              <a:rPr dirty="0" sz="900" spc="7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20" b="1" i="1">
                <a:solidFill>
                  <a:srgbClr val="6D6F71"/>
                </a:solidFill>
                <a:latin typeface="Calibri"/>
                <a:cs typeface="Calibri"/>
              </a:rPr>
              <a:t>all</a:t>
            </a:r>
            <a:r>
              <a:rPr dirty="0" sz="900" spc="8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Calibri"/>
                <a:cs typeface="Calibri"/>
              </a:rPr>
              <a:t>eyes</a:t>
            </a:r>
            <a:r>
              <a:rPr dirty="0" sz="900" spc="3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231F20"/>
                </a:solidFill>
                <a:latin typeface="Calibri"/>
                <a:cs typeface="Calibri"/>
              </a:rPr>
              <a:t>watching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10">
                <a:solidFill>
                  <a:srgbClr val="231F20"/>
                </a:solidFill>
                <a:latin typeface="Calibri"/>
                <a:cs typeface="Calibri"/>
              </a:rPr>
              <a:t>sb/sth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carefully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 with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lot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Calibri"/>
                <a:cs typeface="Calibri"/>
              </a:rPr>
              <a:t>interest </a:t>
            </a:r>
            <a:r>
              <a:rPr dirty="0" sz="900" spc="65" b="1" i="1">
                <a:solidFill>
                  <a:srgbClr val="6D6F71"/>
                </a:solidFill>
                <a:latin typeface="Calibri"/>
                <a:cs typeface="Calibri"/>
              </a:rPr>
              <a:t>before/in</a:t>
            </a:r>
            <a:r>
              <a:rPr dirty="0" sz="900" spc="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5" b="1" i="1">
                <a:solidFill>
                  <a:srgbClr val="6D6F71"/>
                </a:solidFill>
                <a:latin typeface="Calibri"/>
                <a:cs typeface="Calibri"/>
              </a:rPr>
              <a:t>front</a:t>
            </a:r>
            <a:r>
              <a:rPr dirty="0" sz="900" spc="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of</a:t>
            </a:r>
            <a:r>
              <a:rPr dirty="0" sz="900" spc="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Calibri"/>
                <a:cs typeface="Calibri"/>
              </a:rPr>
              <a:t>sb’s</a:t>
            </a:r>
            <a:r>
              <a:rPr dirty="0" sz="900" spc="4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0" b="1" i="1">
                <a:solidFill>
                  <a:srgbClr val="6D6F71"/>
                </a:solidFill>
                <a:latin typeface="Calibri"/>
                <a:cs typeface="Calibri"/>
              </a:rPr>
              <a:t>(very)</a:t>
            </a:r>
            <a:r>
              <a:rPr dirty="0" sz="900" spc="45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Calibri"/>
                <a:cs typeface="Calibri"/>
              </a:rPr>
              <a:t>eyes</a:t>
            </a:r>
            <a:r>
              <a:rPr dirty="0" sz="900" spc="6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8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sb’s</a:t>
            </a:r>
            <a:r>
              <a:rPr dirty="0" sz="9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presence;</a:t>
            </a:r>
            <a:r>
              <a:rPr dirty="0" sz="90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Calibri"/>
                <a:cs typeface="Calibri"/>
              </a:rPr>
              <a:t>front</a:t>
            </a:r>
            <a:r>
              <a:rPr dirty="0" sz="90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Calibri"/>
                <a:cs typeface="Calibri"/>
              </a:rPr>
              <a:t>sb:</a:t>
            </a:r>
            <a:r>
              <a:rPr dirty="0" sz="90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9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had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seen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20" i="1">
                <a:solidFill>
                  <a:srgbClr val="231F20"/>
                </a:solidFill>
                <a:latin typeface="Calibri"/>
                <a:cs typeface="Calibri"/>
              </a:rPr>
              <a:t>life’s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work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 i="1">
                <a:solidFill>
                  <a:srgbClr val="231F20"/>
                </a:solidFill>
                <a:latin typeface="Calibri"/>
                <a:cs typeface="Calibri"/>
              </a:rPr>
              <a:t>destroyed</a:t>
            </a:r>
            <a:r>
              <a:rPr dirty="0" sz="900" spc="4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20" i="1">
                <a:solidFill>
                  <a:srgbClr val="231F20"/>
                </a:solidFill>
                <a:latin typeface="Calibri"/>
                <a:cs typeface="Calibri"/>
              </a:rPr>
              <a:t>before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5" i="1">
                <a:solidFill>
                  <a:srgbClr val="231F20"/>
                </a:solidFill>
                <a:latin typeface="Calibri"/>
                <a:cs typeface="Calibri"/>
              </a:rPr>
              <a:t>very</a:t>
            </a:r>
            <a:r>
              <a:rPr dirty="0" sz="900" spc="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5" i="1">
                <a:solidFill>
                  <a:srgbClr val="231F20"/>
                </a:solidFill>
                <a:latin typeface="Calibri"/>
                <a:cs typeface="Calibri"/>
              </a:rPr>
              <a:t>eyes</a:t>
            </a:r>
            <a:r>
              <a:rPr dirty="0" sz="900" spc="8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0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100" b="1" i="1">
                <a:solidFill>
                  <a:srgbClr val="6D6F71"/>
                </a:solidFill>
                <a:latin typeface="Calibri"/>
                <a:cs typeface="Calibri"/>
              </a:rPr>
              <a:t>Be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20" b="1" i="1">
                <a:solidFill>
                  <a:srgbClr val="6D6F71"/>
                </a:solidFill>
                <a:latin typeface="Calibri"/>
                <a:cs typeface="Calibri"/>
              </a:rPr>
              <a:t>up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65" b="1" i="1">
                <a:solidFill>
                  <a:srgbClr val="6D6F71"/>
                </a:solidFill>
                <a:latin typeface="Calibri"/>
                <a:cs typeface="Calibri"/>
              </a:rPr>
              <a:t>to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105" b="1" i="1">
                <a:solidFill>
                  <a:srgbClr val="6D6F71"/>
                </a:solidFill>
                <a:latin typeface="Calibri"/>
                <a:cs typeface="Calibri"/>
              </a:rPr>
              <a:t>your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0" b="1" i="1">
                <a:solidFill>
                  <a:srgbClr val="6D6F71"/>
                </a:solidFill>
                <a:latin typeface="Calibri"/>
                <a:cs typeface="Calibri"/>
              </a:rPr>
              <a:t>eyes</a:t>
            </a:r>
            <a:r>
              <a:rPr dirty="0" sz="900" spc="7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 spc="95" b="1" i="1">
                <a:solidFill>
                  <a:srgbClr val="6D6F71"/>
                </a:solidFill>
                <a:latin typeface="Calibri"/>
                <a:cs typeface="Calibri"/>
              </a:rPr>
              <a:t>in </a:t>
            </a:r>
            <a:r>
              <a:rPr dirty="0" sz="900" spc="120" b="1" i="1">
                <a:solidFill>
                  <a:srgbClr val="6D6F71"/>
                </a:solidFill>
                <a:latin typeface="Calibri"/>
                <a:cs typeface="Calibri"/>
              </a:rPr>
              <a:t>sth</a:t>
            </a:r>
            <a:r>
              <a:rPr dirty="0" sz="900" spc="110" b="1" i="1">
                <a:solidFill>
                  <a:srgbClr val="6D6F7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0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lot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0">
                <a:solidFill>
                  <a:srgbClr val="231F20"/>
                </a:solidFill>
                <a:latin typeface="Calibri"/>
                <a:cs typeface="Calibri"/>
              </a:rPr>
              <a:t>sth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deal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231F20"/>
                </a:solidFill>
                <a:latin typeface="Calibri"/>
                <a:cs typeface="Calibri"/>
              </a:rPr>
              <a:t>with:</a:t>
            </a:r>
            <a:r>
              <a:rPr dirty="0" sz="90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We’re</a:t>
            </a:r>
            <a:r>
              <a:rPr dirty="0" sz="9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50" i="1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9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95" i="1">
                <a:solidFill>
                  <a:srgbClr val="231F20"/>
                </a:solidFill>
                <a:latin typeface="Calibri"/>
                <a:cs typeface="Calibri"/>
              </a:rPr>
              <a:t>eyes</a:t>
            </a:r>
            <a:r>
              <a:rPr dirty="0" sz="900" spc="10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0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00" spc="65" i="1">
                <a:solidFill>
                  <a:srgbClr val="231F20"/>
                </a:solidFill>
                <a:latin typeface="Calibri"/>
                <a:cs typeface="Calibri"/>
              </a:rPr>
              <a:t>work.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90600" y="972311"/>
            <a:ext cx="4041775" cy="622300"/>
            <a:chOff x="990600" y="972311"/>
            <a:chExt cx="4041775" cy="622300"/>
          </a:xfrm>
        </p:grpSpPr>
        <p:sp>
          <p:nvSpPr>
            <p:cNvPr id="8" name="object 8"/>
            <p:cNvSpPr/>
            <p:nvPr/>
          </p:nvSpPr>
          <p:spPr>
            <a:xfrm>
              <a:off x="990600" y="978407"/>
              <a:ext cx="4041775" cy="0"/>
            </a:xfrm>
            <a:custGeom>
              <a:avLst/>
              <a:gdLst/>
              <a:ahLst/>
              <a:cxnLst/>
              <a:rect l="l" t="t" r="r" b="b"/>
              <a:pathLst>
                <a:path w="4041775" h="0">
                  <a:moveTo>
                    <a:pt x="0" y="0"/>
                  </a:moveTo>
                  <a:lnTo>
                    <a:pt x="4041647" y="0"/>
                  </a:lnTo>
                </a:path>
              </a:pathLst>
            </a:custGeom>
            <a:ln w="12191">
              <a:solidFill>
                <a:srgbClr val="6D6F7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90600" y="1588007"/>
              <a:ext cx="4041775" cy="0"/>
            </a:xfrm>
            <a:custGeom>
              <a:avLst/>
              <a:gdLst/>
              <a:ahLst/>
              <a:cxnLst/>
              <a:rect l="l" t="t" r="r" b="b"/>
              <a:pathLst>
                <a:path w="4041775" h="0">
                  <a:moveTo>
                    <a:pt x="0" y="0"/>
                  </a:moveTo>
                  <a:lnTo>
                    <a:pt x="4041647" y="0"/>
                  </a:lnTo>
                </a:path>
              </a:pathLst>
            </a:custGeom>
            <a:ln w="12191">
              <a:solidFill>
                <a:srgbClr val="6D6F7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44500" y="671319"/>
            <a:ext cx="4632325" cy="137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3560" indent="-266065">
              <a:lnSpc>
                <a:spcPct val="100000"/>
              </a:lnSpc>
              <a:spcBef>
                <a:spcPts val="100"/>
              </a:spcBef>
              <a:buAutoNum type="romanLcParenBoth" startAt="3"/>
              <a:tabLst>
                <a:tab pos="543560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annoyed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ages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talked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much.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Clr>
                <a:srgbClr val="231F20"/>
              </a:buClr>
              <a:buFont typeface="Calibri"/>
              <a:buAutoNum type="romanLcParenBoth" startAt="3"/>
            </a:pPr>
            <a:endParaRPr sz="950">
              <a:latin typeface="Calibri"/>
              <a:cs typeface="Calibri"/>
            </a:endParaRPr>
          </a:p>
          <a:p>
            <a:pPr marL="543560" marR="5080" indent="-254000">
              <a:lnSpc>
                <a:spcPct val="122100"/>
              </a:lnSpc>
              <a:buAutoNum type="romanLcParenBoth" startAt="3"/>
              <a:tabLst>
                <a:tab pos="546100" algn="l"/>
                <a:tab pos="4618990" algn="l"/>
              </a:tabLst>
            </a:pP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Keesing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trying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play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joke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ridiculous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subject,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I’d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sure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joke</a:t>
            </a:r>
            <a:r>
              <a:rPr dirty="0" sz="95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0" i="1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him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950">
              <a:latin typeface="Calibri"/>
              <a:cs typeface="Calibri"/>
            </a:endParaRPr>
          </a:p>
          <a:p>
            <a:pPr marL="241300" marR="38735" indent="-228600">
              <a:lnSpc>
                <a:spcPts val="1130"/>
              </a:lnSpc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2.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Here</a:t>
            </a:r>
            <a:r>
              <a:rPr dirty="0" sz="950" spc="27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are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00AEEF"/>
                </a:solidFill>
                <a:latin typeface="Calibri"/>
                <a:cs typeface="Calibri"/>
              </a:rPr>
              <a:t>few</a:t>
            </a:r>
            <a:r>
              <a:rPr dirty="0" sz="950" spc="27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more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idiomatic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expressions</a:t>
            </a:r>
            <a:r>
              <a:rPr dirty="0" sz="950" spc="27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occur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7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7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text. </a:t>
            </a:r>
            <a:r>
              <a:rPr dirty="0" sz="950" spc="135" b="1">
                <a:solidFill>
                  <a:srgbClr val="00AEEF"/>
                </a:solidFill>
                <a:latin typeface="Calibri"/>
                <a:cs typeface="Calibri"/>
              </a:rPr>
              <a:t>Try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to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use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20" b="1">
                <a:solidFill>
                  <a:srgbClr val="00AEEF"/>
                </a:solidFill>
                <a:latin typeface="Calibri"/>
                <a:cs typeface="Calibri"/>
              </a:rPr>
              <a:t>them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sentences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your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00AEEF"/>
                </a:solidFill>
                <a:latin typeface="Calibri"/>
                <a:cs typeface="Calibri"/>
              </a:rPr>
              <a:t>own.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300" y="2017014"/>
            <a:ext cx="1282065" cy="3911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38760" indent="-189865">
              <a:lnSpc>
                <a:spcPct val="100000"/>
              </a:lnSpc>
              <a:spcBef>
                <a:spcPts val="400"/>
              </a:spcBef>
              <a:buAutoNum type="romanLcParenBoth"/>
              <a:tabLst>
                <a:tab pos="238760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eye</a:t>
            </a:r>
            <a:endParaRPr sz="95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00"/>
              </a:spcBef>
              <a:buAutoNum type="romanLcParenBoth"/>
              <a:tabLst>
                <a:tab pos="240029" algn="l"/>
              </a:tabLst>
            </a:pP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he’d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enough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7076" y="2017014"/>
            <a:ext cx="1550670" cy="39116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400"/>
              </a:spcBef>
              <a:buAutoNum type="romanLcParenBoth" startAt="3"/>
              <a:tabLst>
                <a:tab pos="278765" algn="l"/>
              </a:tabLst>
            </a:pP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laugh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ourselves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silly</a:t>
            </a:r>
            <a:endParaRPr sz="950">
              <a:latin typeface="Calibri"/>
              <a:cs typeface="Calibri"/>
            </a:endParaRPr>
          </a:p>
          <a:p>
            <a:pPr marL="278765" indent="-254000">
              <a:lnSpc>
                <a:spcPct val="100000"/>
              </a:lnSpc>
              <a:spcBef>
                <a:spcPts val="300"/>
              </a:spcBef>
              <a:buAutoNum type="romanLcParenBoth" startAt="3"/>
              <a:tabLst>
                <a:tab pos="278765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can’t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bring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myself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475" y="2536697"/>
            <a:ext cx="4792345" cy="2166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04470" marR="6985" indent="-192405">
              <a:lnSpc>
                <a:spcPct val="100000"/>
              </a:lnSpc>
              <a:spcBef>
                <a:spcPts val="100"/>
              </a:spcBef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IV.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dictionary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idiomatic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expressions?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Take,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expression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2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 i="1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950" spc="19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eye</a:t>
            </a:r>
            <a:r>
              <a:rPr dirty="0" sz="950" spc="2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story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.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—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dictionary?</a:t>
            </a:r>
            <a:endParaRPr sz="950">
              <a:latin typeface="Calibri"/>
              <a:cs typeface="Calibri"/>
            </a:endParaRPr>
          </a:p>
          <a:p>
            <a:pPr algn="just" marL="204470" marR="5080">
              <a:lnSpc>
                <a:spcPct val="100000"/>
              </a:lnSpc>
              <a:spcBef>
                <a:spcPts val="300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word.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‘grammatical’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word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etc.,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take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next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word.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is,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first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‘meaningful’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expression.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950">
              <a:latin typeface="Calibri"/>
              <a:cs typeface="Calibri"/>
            </a:endParaRPr>
          </a:p>
          <a:p>
            <a:pPr algn="just" marL="204470" marR="6985">
              <a:lnSpc>
                <a:spcPct val="99600"/>
              </a:lnSpc>
              <a:spcBef>
                <a:spcPts val="305"/>
              </a:spcBef>
            </a:pP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But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won’t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229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dictionary,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it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past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tense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catch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You’ll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find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listed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catch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must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look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under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catch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 the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expression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caught</a:t>
            </a:r>
            <a:r>
              <a:rPr dirty="0" sz="950" spc="1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 i="1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950" spc="13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eye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other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expressions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catch</a:t>
            </a:r>
            <a:r>
              <a:rPr dirty="0" sz="950" spc="15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listed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dictionary?</a:t>
            </a:r>
            <a:endParaRPr sz="950">
              <a:latin typeface="Calibri"/>
              <a:cs typeface="Calibri"/>
            </a:endParaRPr>
          </a:p>
          <a:p>
            <a:pPr algn="just" marL="204470" marR="5715">
              <a:lnSpc>
                <a:spcPct val="100400"/>
              </a:lnSpc>
              <a:spcBef>
                <a:spcPts val="295"/>
              </a:spcBef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Note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dictionary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entry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usually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first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gives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meanings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word itself,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gives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list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idiomatic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expressions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using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word.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For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example,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study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partial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entry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noun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‘eye’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 i="1">
                <a:solidFill>
                  <a:srgbClr val="231F20"/>
                </a:solidFill>
                <a:latin typeface="Calibri"/>
                <a:cs typeface="Calibri"/>
              </a:rPr>
              <a:t>Oxford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Advanced Learner’s</a:t>
            </a:r>
            <a:r>
              <a:rPr dirty="0" sz="950" spc="2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 i="1">
                <a:solidFill>
                  <a:srgbClr val="231F20"/>
                </a:solidFill>
                <a:latin typeface="Calibri"/>
                <a:cs typeface="Calibri"/>
              </a:rPr>
              <a:t>Dictionary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2005.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180" y="4350003"/>
            <a:ext cx="1498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14" y="5544830"/>
            <a:ext cx="737865" cy="3079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649973"/>
            <a:ext cx="4753610" cy="364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65100" marR="7620">
              <a:lnSpc>
                <a:spcPct val="100000"/>
              </a:lnSpc>
              <a:spcBef>
                <a:spcPts val="100"/>
              </a:spcBef>
            </a:pP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You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have</a:t>
            </a:r>
            <a:r>
              <a:rPr dirty="0" sz="950" spc="22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read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expression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‘not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to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lose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heart’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this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text.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Now</a:t>
            </a:r>
            <a:r>
              <a:rPr dirty="0" sz="950" spc="2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find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out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meanings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following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expressions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using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word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‘heart’.Use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each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them</a:t>
            </a:r>
            <a:r>
              <a:rPr dirty="0" sz="950" spc="1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sentence</a:t>
            </a:r>
            <a:r>
              <a:rPr dirty="0" sz="950" spc="1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your</a:t>
            </a:r>
            <a:r>
              <a:rPr dirty="0" sz="950" spc="19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50" b="1">
                <a:solidFill>
                  <a:srgbClr val="00AEEF"/>
                </a:solidFill>
                <a:latin typeface="Calibri"/>
                <a:cs typeface="Calibri"/>
              </a:rPr>
              <a:t>own.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break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somebody’s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close/dear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(bottom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your)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stone</a:t>
            </a:r>
            <a:endParaRPr sz="950">
              <a:latin typeface="Calibri"/>
              <a:cs typeface="Calibri"/>
            </a:endParaRPr>
          </a:p>
          <a:p>
            <a:pPr marL="3917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917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heart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goes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somebody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V.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3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0" b="1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endParaRPr sz="950">
              <a:latin typeface="Calibri"/>
              <a:cs typeface="Calibri"/>
            </a:endParaRPr>
          </a:p>
          <a:p>
            <a:pPr algn="just" marL="165100">
              <a:lnSpc>
                <a:spcPct val="100000"/>
              </a:lnSpc>
              <a:spcBef>
                <a:spcPts val="300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When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speak,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‘contracted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forms’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short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such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these:</a:t>
            </a:r>
            <a:endParaRPr sz="950">
              <a:latin typeface="Calibri"/>
              <a:cs typeface="Calibri"/>
            </a:endParaRPr>
          </a:p>
          <a:p>
            <a:pPr marL="165100" indent="228600">
              <a:lnSpc>
                <a:spcPct val="100000"/>
              </a:lnSpc>
              <a:spcBef>
                <a:spcPts val="615"/>
              </a:spcBef>
              <a:tabLst>
                <a:tab pos="2182495" algn="l"/>
                <a:tab pos="3791585" algn="l"/>
              </a:tabLst>
            </a:pP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can’t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(for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0" i="1">
                <a:solidFill>
                  <a:srgbClr val="231F20"/>
                </a:solidFill>
                <a:latin typeface="Calibri"/>
                <a:cs typeface="Calibri"/>
              </a:rPr>
              <a:t>cannot</a:t>
            </a:r>
            <a:r>
              <a:rPr dirty="0" sz="950" spc="40">
                <a:solidFill>
                  <a:srgbClr val="231F20"/>
                </a:solidFill>
                <a:latin typeface="Calibri"/>
                <a:cs typeface="Calibri"/>
              </a:rPr>
              <a:t>)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	I’d</a:t>
            </a:r>
            <a:r>
              <a:rPr dirty="0" sz="950" spc="48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(for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1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)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she’s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(for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)</a:t>
            </a:r>
            <a:endParaRPr sz="950">
              <a:latin typeface="Calibri"/>
              <a:cs typeface="Calibri"/>
            </a:endParaRPr>
          </a:p>
          <a:p>
            <a:pPr algn="just" marL="165100" marR="7620">
              <a:lnSpc>
                <a:spcPct val="101099"/>
              </a:lnSpc>
              <a:spcBef>
                <a:spcPts val="575"/>
              </a:spcBef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Notice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apostrophe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show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shortening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spelling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 i="1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above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example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950">
              <a:latin typeface="Calibri"/>
              <a:cs typeface="Calibri"/>
            </a:endParaRPr>
          </a:p>
          <a:p>
            <a:pPr algn="just" marL="165100" marR="5080">
              <a:lnSpc>
                <a:spcPct val="100000"/>
              </a:lnSpc>
              <a:spcBef>
                <a:spcPts val="300"/>
              </a:spcBef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Writing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speaking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oneself.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Plays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(and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often,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novels)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have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speech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form.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usually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across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diaries,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plays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novels.</a:t>
            </a:r>
            <a:endParaRPr sz="950">
              <a:latin typeface="Calibri"/>
              <a:cs typeface="Calibri"/>
            </a:endParaRPr>
          </a:p>
          <a:p>
            <a:pPr marL="393700" marR="7620" indent="-228600">
              <a:lnSpc>
                <a:spcPct val="101099"/>
              </a:lnSpc>
              <a:spcBef>
                <a:spcPts val="575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1.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Make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a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list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contracted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forms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text.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Rewrite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4" b="1">
                <a:solidFill>
                  <a:srgbClr val="00AEEF"/>
                </a:solidFill>
                <a:latin typeface="Calibri"/>
                <a:cs typeface="Calibri"/>
              </a:rPr>
              <a:t>them</a:t>
            </a:r>
            <a:r>
              <a:rPr dirty="0" sz="950" spc="14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as</a:t>
            </a:r>
            <a:r>
              <a:rPr dirty="0" sz="950" spc="14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55" b="1">
                <a:solidFill>
                  <a:srgbClr val="00AEEF"/>
                </a:solidFill>
                <a:latin typeface="Calibri"/>
                <a:cs typeface="Calibri"/>
              </a:rPr>
              <a:t>full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forms</a:t>
            </a: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5" b="1">
                <a:solidFill>
                  <a:srgbClr val="00AEEF"/>
                </a:solidFill>
                <a:latin typeface="Calibri"/>
                <a:cs typeface="Calibri"/>
              </a:rPr>
              <a:t>of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two</a:t>
            </a:r>
            <a:r>
              <a:rPr dirty="0" sz="950" spc="13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words.</a:t>
            </a:r>
            <a:endParaRPr sz="95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300"/>
              </a:spcBef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example: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301" y="4232903"/>
            <a:ext cx="4598035" cy="115951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I’ve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endParaRPr sz="950">
              <a:latin typeface="Calibri"/>
              <a:cs typeface="Calibri"/>
            </a:endParaRPr>
          </a:p>
          <a:p>
            <a:pPr marL="241300" marR="5080" indent="-228600">
              <a:lnSpc>
                <a:spcPct val="101099"/>
              </a:lnSpc>
              <a:spcBef>
                <a:spcPts val="575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2.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b="1">
                <a:solidFill>
                  <a:srgbClr val="00AEEF"/>
                </a:solidFill>
                <a:latin typeface="Calibri"/>
                <a:cs typeface="Calibri"/>
              </a:rPr>
              <a:t>We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have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seen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some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contracted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forms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can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stand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for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two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5" b="1">
                <a:solidFill>
                  <a:srgbClr val="00AEEF"/>
                </a:solidFill>
                <a:latin typeface="Calibri"/>
                <a:cs typeface="Calibri"/>
              </a:rPr>
              <a:t>different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full</a:t>
            </a:r>
            <a:r>
              <a:rPr dirty="0" sz="950" spc="17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forms:</a:t>
            </a:r>
            <a:endParaRPr sz="95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I’d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endParaRPr sz="950">
              <a:latin typeface="Calibri"/>
              <a:cs typeface="Calibri"/>
            </a:endParaRPr>
          </a:p>
          <a:p>
            <a:pPr marL="240665" marR="5080">
              <a:lnSpc>
                <a:spcPct val="101099"/>
              </a:lnSpc>
              <a:spcBef>
                <a:spcPts val="575"/>
              </a:spcBef>
            </a:pPr>
            <a:r>
              <a:rPr dirty="0" sz="950" spc="125" b="1">
                <a:solidFill>
                  <a:srgbClr val="00AEEF"/>
                </a:solidFill>
                <a:latin typeface="Calibri"/>
                <a:cs typeface="Calibri"/>
              </a:rPr>
              <a:t>Find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10" b="1">
                <a:solidFill>
                  <a:srgbClr val="00AEEF"/>
                </a:solidFill>
                <a:latin typeface="Calibri"/>
                <a:cs typeface="Calibri"/>
              </a:rPr>
              <a:t>in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text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the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contracted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forms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that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stand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for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two</a:t>
            </a:r>
            <a:r>
              <a:rPr dirty="0" sz="950" spc="26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70" b="1">
                <a:solidFill>
                  <a:srgbClr val="00AEEF"/>
                </a:solidFill>
                <a:latin typeface="Calibri"/>
                <a:cs typeface="Calibri"/>
              </a:rPr>
              <a:t>different </a:t>
            </a:r>
            <a:r>
              <a:rPr dirty="0" sz="950" spc="80" b="1">
                <a:solidFill>
                  <a:srgbClr val="00AEEF"/>
                </a:solidFill>
                <a:latin typeface="Calibri"/>
                <a:cs typeface="Calibri"/>
              </a:rPr>
              <a:t>full</a:t>
            </a:r>
            <a:r>
              <a:rPr dirty="0" sz="950" spc="1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forms,</a:t>
            </a:r>
            <a:r>
              <a:rPr dirty="0" sz="950" spc="1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and</a:t>
            </a:r>
            <a:r>
              <a:rPr dirty="0" sz="950" spc="1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00AEEF"/>
                </a:solidFill>
                <a:latin typeface="Calibri"/>
                <a:cs typeface="Calibri"/>
              </a:rPr>
              <a:t>say</a:t>
            </a:r>
            <a:r>
              <a:rPr dirty="0" sz="950" spc="190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0" b="1">
                <a:solidFill>
                  <a:srgbClr val="00AEEF"/>
                </a:solidFill>
                <a:latin typeface="Calibri"/>
                <a:cs typeface="Calibri"/>
              </a:rPr>
              <a:t>what</a:t>
            </a:r>
            <a:r>
              <a:rPr dirty="0" sz="950" spc="1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these</a:t>
            </a:r>
            <a:r>
              <a:rPr dirty="0" sz="950" spc="185" b="1">
                <a:solidFill>
                  <a:srgbClr val="00AEE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00AEEF"/>
                </a:solidFill>
                <a:latin typeface="Calibri"/>
                <a:cs typeface="Calibri"/>
              </a:rPr>
              <a:t>are.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1" y="5822435"/>
            <a:ext cx="4827270" cy="166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Here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extract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adapted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one-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act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play.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extract,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angry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neighbours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Joe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Inventor’s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new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spinning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machine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will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them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lose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their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jobs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come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destroy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Joe’s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model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machine.</a:t>
            </a:r>
            <a:endParaRPr sz="9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You’ve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just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seen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written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text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sound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actual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speech.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Try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extract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sound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like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real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conversation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changing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back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into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forms.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speak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lines.</a:t>
            </a:r>
            <a:endParaRPr sz="950">
              <a:latin typeface="Calibri"/>
              <a:cs typeface="Calibri"/>
            </a:endParaRPr>
          </a:p>
          <a:p>
            <a:pPr algn="just" marL="241300" marR="5080">
              <a:lnSpc>
                <a:spcPct val="101099"/>
              </a:lnSpc>
              <a:spcBef>
                <a:spcPts val="285"/>
              </a:spcBef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[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 i="1">
                <a:solidFill>
                  <a:srgbClr val="231F20"/>
                </a:solidFill>
                <a:latin typeface="Calibri"/>
                <a:cs typeface="Calibri"/>
              </a:rPr>
              <a:t>door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flung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open,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several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men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tramp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in.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They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carry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20"/>
                </a:solidFill>
                <a:latin typeface="Calibri"/>
                <a:cs typeface="Calibri"/>
              </a:rPr>
              <a:t>sticks,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 i="1">
                <a:solidFill>
                  <a:srgbClr val="231F20"/>
                </a:solidFill>
                <a:latin typeface="Calibri"/>
                <a:cs typeface="Calibri"/>
              </a:rPr>
              <a:t>one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them,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H</a:t>
            </a:r>
            <a:r>
              <a:rPr dirty="0" sz="650" spc="100" i="1">
                <a:solidFill>
                  <a:srgbClr val="231F20"/>
                </a:solidFill>
                <a:latin typeface="Calibri"/>
                <a:cs typeface="Calibri"/>
              </a:rPr>
              <a:t>OB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, </a:t>
            </a:r>
            <a:r>
              <a:rPr dirty="0" sz="950" spc="110" i="1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950" spc="95" i="1">
                <a:solidFill>
                  <a:srgbClr val="231F20"/>
                </a:solidFill>
                <a:latin typeface="Calibri"/>
                <a:cs typeface="Calibri"/>
              </a:rPr>
              <a:t> a</a:t>
            </a:r>
            <a:r>
              <a:rPr dirty="0" sz="950" spc="1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hammer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.]</a:t>
            </a:r>
            <a:endParaRPr sz="950">
              <a:latin typeface="Calibri"/>
              <a:cs typeface="Calibri"/>
            </a:endParaRPr>
          </a:p>
          <a:p>
            <a:pPr algn="just" marL="241300">
              <a:lnSpc>
                <a:spcPct val="100000"/>
              </a:lnSpc>
              <a:spcBef>
                <a:spcPts val="590"/>
              </a:spcBef>
              <a:tabLst>
                <a:tab pos="737870" algn="l"/>
              </a:tabLst>
            </a:pPr>
            <a:r>
              <a:rPr dirty="0" cap="small" sz="950" spc="-25" b="1">
                <a:solidFill>
                  <a:srgbClr val="6D6F71"/>
                </a:solidFill>
                <a:latin typeface="Calibri"/>
                <a:cs typeface="Calibri"/>
              </a:rPr>
              <a:t>Mob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Now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husband,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mistress?</a:t>
            </a:r>
            <a:endParaRPr sz="950">
              <a:latin typeface="Calibri"/>
              <a:cs typeface="Calibri"/>
            </a:endParaRPr>
          </a:p>
          <a:p>
            <a:pPr algn="just" marL="241300">
              <a:lnSpc>
                <a:spcPct val="100000"/>
              </a:lnSpc>
              <a:spcBef>
                <a:spcPts val="300"/>
              </a:spcBef>
              <a:tabLst>
                <a:tab pos="737870" algn="l"/>
              </a:tabLst>
            </a:pPr>
            <a:r>
              <a:rPr dirty="0" cap="small" sz="950" spc="35" b="1">
                <a:solidFill>
                  <a:srgbClr val="6D6F71"/>
                </a:solidFill>
                <a:latin typeface="Calibri"/>
                <a:cs typeface="Calibri"/>
              </a:rPr>
              <a:t>Mary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bed.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sick,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weary.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harm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him!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279" y="426080"/>
            <a:ext cx="651509" cy="45466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4347" y="4036059"/>
            <a:ext cx="1492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5ç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221" y="5130263"/>
            <a:ext cx="166370" cy="18364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From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Diary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dirty="0" sz="1100" spc="1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Anne</a:t>
            </a:r>
            <a:r>
              <a:rPr dirty="0" sz="1100" spc="1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Frank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" y="5147310"/>
            <a:ext cx="740401" cy="3079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50" y="2790200"/>
            <a:ext cx="628010" cy="44512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4500" y="649973"/>
            <a:ext cx="55816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dirty="0" cap="small" sz="950" spc="55" b="1">
                <a:solidFill>
                  <a:srgbClr val="6D6F71"/>
                </a:solidFill>
                <a:latin typeface="Calibri"/>
                <a:cs typeface="Calibri"/>
              </a:rPr>
              <a:t>Hob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cap="small" sz="950" spc="80" b="1">
                <a:solidFill>
                  <a:srgbClr val="6D6F71"/>
                </a:solidFill>
                <a:latin typeface="Calibri"/>
                <a:cs typeface="Calibri"/>
              </a:rPr>
              <a:t>Second</a:t>
            </a:r>
            <a:r>
              <a:rPr dirty="0" cap="small" sz="950" spc="165" b="1">
                <a:solidFill>
                  <a:srgbClr val="6D6F71"/>
                </a:solidFill>
                <a:latin typeface="Calibri"/>
                <a:cs typeface="Calibri"/>
              </a:rPr>
              <a:t>  </a:t>
            </a:r>
            <a:r>
              <a:rPr dirty="0" sz="950" spc="-1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cap="small" sz="950" spc="-25" b="1">
                <a:solidFill>
                  <a:srgbClr val="6D6F71"/>
                </a:solidFill>
                <a:latin typeface="Calibri"/>
                <a:cs typeface="Calibri"/>
              </a:rPr>
              <a:t>Man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506095" algn="l"/>
              </a:tabLst>
            </a:pPr>
            <a:r>
              <a:rPr dirty="0" cap="small" sz="950" spc="55" b="1">
                <a:solidFill>
                  <a:srgbClr val="6D6F71"/>
                </a:solidFill>
                <a:latin typeface="Calibri"/>
                <a:cs typeface="Calibri"/>
              </a:rPr>
              <a:t>Hob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675" y="649973"/>
            <a:ext cx="3955415" cy="49657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45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going</a:t>
            </a:r>
            <a:r>
              <a:rPr dirty="0" sz="9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smash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evil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work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3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pieces.</a:t>
            </a:r>
            <a:r>
              <a:rPr dirty="0" sz="950" spc="3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Where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3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machine?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table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yonder.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2180069"/>
            <a:ext cx="25272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950" spc="50" b="1">
                <a:solidFill>
                  <a:srgbClr val="6D6F71"/>
                </a:solidFill>
                <a:latin typeface="Calibri"/>
                <a:cs typeface="Calibri"/>
              </a:rPr>
              <a:t>Hob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8275" y="2180069"/>
            <a:ext cx="641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2509253"/>
            <a:ext cx="55816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dirty="0" cap="small" sz="950" spc="35" b="1">
                <a:solidFill>
                  <a:srgbClr val="6D6F71"/>
                </a:solidFill>
                <a:latin typeface="Calibri"/>
                <a:cs typeface="Calibri"/>
              </a:rPr>
              <a:t>Mary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1267192"/>
            <a:ext cx="4598035" cy="1412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658495">
              <a:lnSpc>
                <a:spcPct val="100000"/>
              </a:lnSpc>
              <a:spcBef>
                <a:spcPts val="400"/>
              </a:spcBef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here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end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31F20"/>
                </a:solidFill>
                <a:latin typeface="Calibri"/>
                <a:cs typeface="Calibri"/>
              </a:rPr>
              <a:t>it!</a:t>
            </a:r>
            <a:endParaRPr sz="95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300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[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H</a:t>
            </a:r>
            <a:r>
              <a:rPr dirty="0" sz="650" spc="90" i="1">
                <a:solidFill>
                  <a:srgbClr val="231F20"/>
                </a:solidFill>
                <a:latin typeface="Calibri"/>
                <a:cs typeface="Calibri"/>
              </a:rPr>
              <a:t>OB</a:t>
            </a:r>
            <a:r>
              <a:rPr dirty="0" sz="65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 i="1">
                <a:solidFill>
                  <a:srgbClr val="231F20"/>
                </a:solidFill>
                <a:latin typeface="Calibri"/>
                <a:cs typeface="Calibri"/>
              </a:rPr>
              <a:t>smashes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14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 i="1">
                <a:solidFill>
                  <a:srgbClr val="231F20"/>
                </a:solidFill>
                <a:latin typeface="Calibri"/>
                <a:cs typeface="Calibri"/>
              </a:rPr>
              <a:t>model.</a:t>
            </a:r>
            <a:r>
              <a:rPr dirty="0" sz="950" spc="1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20"/>
                </a:solidFill>
                <a:latin typeface="Calibri"/>
                <a:cs typeface="Calibri"/>
              </a:rPr>
              <a:t>M</a:t>
            </a:r>
            <a:r>
              <a:rPr dirty="0" sz="650" spc="75" i="1">
                <a:solidFill>
                  <a:srgbClr val="231F20"/>
                </a:solidFill>
                <a:latin typeface="Calibri"/>
                <a:cs typeface="Calibri"/>
              </a:rPr>
              <a:t>ARY</a:t>
            </a:r>
            <a:r>
              <a:rPr dirty="0" sz="650" spc="20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20"/>
                </a:solidFill>
                <a:latin typeface="Calibri"/>
                <a:cs typeface="Calibri"/>
              </a:rPr>
              <a:t>screams.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]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506095" algn="l"/>
              </a:tabLst>
            </a:pPr>
            <a:r>
              <a:rPr dirty="0" cap="small" sz="950" spc="55" b="1">
                <a:solidFill>
                  <a:srgbClr val="6D6F71"/>
                </a:solidFill>
                <a:latin typeface="Calibri"/>
                <a:cs typeface="Calibri"/>
              </a:rPr>
              <a:t>Hob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now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husband!</a:t>
            </a:r>
            <a:endParaRPr sz="950">
              <a:latin typeface="Calibri"/>
              <a:cs typeface="Calibri"/>
            </a:endParaRPr>
          </a:p>
          <a:p>
            <a:pPr marL="658495" marR="5080" indent="-646430">
              <a:lnSpc>
                <a:spcPts val="1130"/>
              </a:lnSpc>
              <a:spcBef>
                <a:spcPts val="345"/>
              </a:spcBef>
              <a:tabLst>
                <a:tab pos="506095" algn="l"/>
              </a:tabLst>
            </a:pPr>
            <a:r>
              <a:rPr dirty="0" cap="small" sz="950" spc="35" b="1">
                <a:solidFill>
                  <a:srgbClr val="6D6F71"/>
                </a:solidFill>
                <a:latin typeface="Calibri"/>
                <a:cs typeface="Calibri"/>
              </a:rPr>
              <a:t>Mary</a:t>
            </a:r>
            <a:r>
              <a:rPr dirty="0" cap="small" sz="950" b="1">
                <a:solidFill>
                  <a:srgbClr val="6D6F71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Neighbours,</a:t>
            </a: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sick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man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almost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cripple.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1F20"/>
                </a:solidFill>
                <a:latin typeface="Calibri"/>
                <a:cs typeface="Calibri"/>
              </a:rPr>
              <a:t>not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hurt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him!</a:t>
            </a:r>
            <a:endParaRPr sz="950">
              <a:latin typeface="Calibri"/>
              <a:cs typeface="Calibri"/>
            </a:endParaRPr>
          </a:p>
          <a:p>
            <a:pPr marL="658495" marR="5080">
              <a:lnSpc>
                <a:spcPct val="101099"/>
              </a:lnSpc>
              <a:spcBef>
                <a:spcPts val="250"/>
              </a:spcBef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He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planning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take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away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our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daily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bread…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will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show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him what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him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ways!</a:t>
            </a:r>
            <a:endParaRPr sz="95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300"/>
              </a:spcBef>
            </a:pP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broken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his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machine…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done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enough…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900" y="3109721"/>
            <a:ext cx="482917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Now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one.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keep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a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recording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events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occur?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may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share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2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2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your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class,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wish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to.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following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hints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diary.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900" y="3544061"/>
            <a:ext cx="4827270" cy="72072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63195" indent="-150495">
              <a:lnSpc>
                <a:spcPct val="100000"/>
              </a:lnSpc>
              <a:spcBef>
                <a:spcPts val="400"/>
              </a:spcBef>
              <a:buChar char="•"/>
              <a:tabLst>
                <a:tab pos="163195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Though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very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private,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writing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someone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else.</a:t>
            </a:r>
            <a:endParaRPr sz="950">
              <a:latin typeface="Calibri"/>
              <a:cs typeface="Calibri"/>
            </a:endParaRPr>
          </a:p>
          <a:p>
            <a:pPr marL="163195" indent="-150495">
              <a:lnSpc>
                <a:spcPct val="100000"/>
              </a:lnSpc>
              <a:spcBef>
                <a:spcPts val="300"/>
              </a:spcBef>
              <a:buChar char="•"/>
              <a:tabLst>
                <a:tab pos="163195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Present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thoughts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convincing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manner.</a:t>
            </a:r>
            <a:endParaRPr sz="950">
              <a:latin typeface="Calibri"/>
              <a:cs typeface="Calibri"/>
            </a:endParaRPr>
          </a:p>
          <a:p>
            <a:pPr marL="163195" marR="5080" indent="-150495">
              <a:lnSpc>
                <a:spcPct val="101099"/>
              </a:lnSpc>
              <a:spcBef>
                <a:spcPts val="285"/>
              </a:spcBef>
              <a:buChar char="•"/>
              <a:tabLst>
                <a:tab pos="165100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convey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feelings,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‘paint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pictures’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95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reader.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brief.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900" y="4277105"/>
            <a:ext cx="4827905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‘Diary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language’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typical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features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such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subjectless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sentences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35">
                <a:solidFill>
                  <a:srgbClr val="231F20"/>
                </a:solidFill>
                <a:latin typeface="Calibri"/>
                <a:cs typeface="Calibri"/>
              </a:rPr>
              <a:t>(Got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up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late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morning),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sentence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fragments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without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subjects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950" spc="2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verbs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(…too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bad,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boring,</a:t>
            </a:r>
            <a:r>
              <a:rPr dirty="0" sz="9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good),</a:t>
            </a:r>
            <a:r>
              <a:rPr dirty="0" sz="9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contracted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9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(they’re,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I’ve,</a:t>
            </a:r>
            <a:r>
              <a:rPr dirty="0" sz="9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can’t,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didn’t,</a:t>
            </a:r>
            <a:r>
              <a:rPr dirty="0" sz="950" spc="3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etc.),</a:t>
            </a:r>
            <a:r>
              <a:rPr dirty="0" sz="950" spc="34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everyday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expressions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which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people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speech.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Remember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use</a:t>
            </a:r>
            <a:r>
              <a:rPr dirty="0" sz="95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such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language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formal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kinds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writing.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900" y="5456682"/>
            <a:ext cx="4827270" cy="1996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teacher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will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read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out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extract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20"/>
                </a:solidFill>
                <a:latin typeface="Calibri"/>
                <a:cs typeface="Calibri"/>
              </a:rPr>
              <a:t>Samuel</a:t>
            </a:r>
            <a:r>
              <a:rPr dirty="0" sz="950" spc="17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 i="1">
                <a:solidFill>
                  <a:srgbClr val="231F20"/>
                </a:solidFill>
                <a:latin typeface="Calibri"/>
                <a:cs typeface="Calibri"/>
              </a:rPr>
              <a:t>Pepys</a:t>
            </a:r>
            <a:r>
              <a:rPr dirty="0" sz="950" spc="19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(given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on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next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page)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 great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fire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London.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listen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complete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summary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happenings.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950" spc="155" b="1" i="1">
                <a:solidFill>
                  <a:srgbClr val="6D6F71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  <a:p>
            <a:pPr algn="just" marL="12700" marR="5080">
              <a:lnSpc>
                <a:spcPct val="141100"/>
              </a:lnSpc>
              <a:spcBef>
                <a:spcPts val="720"/>
              </a:spcBef>
              <a:tabLst>
                <a:tab pos="3105785" algn="l"/>
                <a:tab pos="3216910" algn="l"/>
                <a:tab pos="3562985" algn="l"/>
                <a:tab pos="4069079" algn="l"/>
                <a:tab pos="4688840" algn="l"/>
              </a:tabLst>
            </a:pP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entry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diary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has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been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made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on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person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told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Pepys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fire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was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called</a:t>
            </a:r>
            <a:r>
              <a:rPr dirty="0" sz="950" spc="1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She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called</a:t>
            </a:r>
            <a:r>
              <a:rPr dirty="0" sz="950" spc="1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morning.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Pepys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went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back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sleep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because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	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Pepys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rose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again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endParaRPr sz="950">
              <a:latin typeface="Calibri"/>
              <a:cs typeface="Calibri"/>
            </a:endParaRPr>
          </a:p>
          <a:p>
            <a:pPr algn="just" marL="12700" marR="5080">
              <a:lnSpc>
                <a:spcPts val="1610"/>
              </a:lnSpc>
              <a:spcBef>
                <a:spcPts val="70"/>
              </a:spcBef>
              <a:tabLst>
                <a:tab pos="708025" algn="l"/>
                <a:tab pos="1101725" algn="l"/>
                <a:tab pos="2515870" algn="l"/>
                <a:tab pos="3305175" algn="l"/>
                <a:tab pos="3508375" algn="l"/>
              </a:tabLst>
            </a:pP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r>
              <a:rPr dirty="0" sz="950" spc="-1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morning.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1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r>
              <a:rPr dirty="0" sz="95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houses</a:t>
            </a:r>
            <a:r>
              <a:rPr dirty="0" sz="950" spc="1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been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burned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down.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fire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had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spread</a:t>
            </a:r>
            <a:r>
              <a:rPr dirty="0" sz="950" spc="25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</a:t>
            </a:r>
            <a:r>
              <a:rPr dirty="0" sz="95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by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London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Bridge.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Pepys</a:t>
            </a:r>
            <a:r>
              <a:rPr dirty="0" sz="950" spc="2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then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walked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along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4">
                <a:solidFill>
                  <a:srgbClr val="231F20"/>
                </a:solidFill>
                <a:latin typeface="Calibri"/>
                <a:cs typeface="Calibri"/>
              </a:rPr>
              <a:t>Sir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J.</a:t>
            </a:r>
            <a:r>
              <a:rPr dirty="0" sz="950" spc="1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Robinson’s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u="sng" sz="950">
                <a:solidFill>
                  <a:srgbClr val="231F20"/>
                </a:solidFill>
                <a:uFill>
                  <a:solidFill>
                    <a:srgbClr val="6D6F71"/>
                  </a:solidFill>
                </a:uFill>
                <a:latin typeface="Calibri"/>
                <a:cs typeface="Calibri"/>
              </a:rPr>
              <a:t>		</a:t>
            </a:r>
            <a:r>
              <a:rPr dirty="0" sz="950" spc="15">
                <a:solidFill>
                  <a:srgbClr val="231F20"/>
                </a:solidFill>
                <a:latin typeface="Calibri"/>
                <a:cs typeface="Calibri"/>
              </a:rPr>
              <a:t>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33450"/>
            <a:ext cx="4800599" cy="5587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269" y="685800"/>
            <a:ext cx="899156" cy="1981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4100" y="908799"/>
            <a:ext cx="12915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dirty="0" cap="small" sz="1000" spc="3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We</a:t>
            </a:r>
            <a:r>
              <a:rPr dirty="0" cap="small" sz="1000" spc="3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Have</a:t>
            </a:r>
            <a:r>
              <a:rPr dirty="0" cap="small" sz="1000" spc="3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 spc="-20">
                <a:solidFill>
                  <a:srgbClr val="231F20"/>
                </a:solidFill>
                <a:latin typeface="Tahoma"/>
                <a:cs typeface="Tahoma"/>
              </a:rPr>
              <a:t>Done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1101331"/>
            <a:ext cx="4523740" cy="4121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715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  <a:tab pos="242570" algn="l"/>
              </a:tabLst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	Diary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writing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one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best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ways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practise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writing.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have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think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up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or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imagine</a:t>
            </a:r>
            <a:r>
              <a:rPr dirty="0" sz="900" spc="1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write</a:t>
            </a:r>
            <a:r>
              <a:rPr dirty="0" sz="900" spc="1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about;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they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only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have</a:t>
            </a:r>
            <a:r>
              <a:rPr dirty="0" sz="900" spc="1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find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words</a:t>
            </a:r>
            <a:r>
              <a:rPr dirty="0" sz="900" spc="1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1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write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about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has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happened.</a:t>
            </a:r>
            <a:r>
              <a:rPr dirty="0" sz="900" spc="3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Initiate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your</a:t>
            </a:r>
            <a:r>
              <a:rPr dirty="0" sz="900" spc="4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into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habit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4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keeping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diary.</a:t>
            </a:r>
            <a:endParaRPr sz="900">
              <a:latin typeface="Tahoma"/>
              <a:cs typeface="Tahoma"/>
            </a:endParaRPr>
          </a:p>
          <a:p>
            <a:pPr algn="just" marL="241300" marR="5080" indent="-22860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41300" algn="l"/>
                <a:tab pos="242570" algn="l"/>
              </a:tabLst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	Anne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Frank’s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diary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became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public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document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after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World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War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90">
                <a:solidFill>
                  <a:srgbClr val="231F20"/>
                </a:solidFill>
                <a:latin typeface="Tahoma"/>
                <a:cs typeface="Tahoma"/>
              </a:rPr>
              <a:t>II.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Discuss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your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diaries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which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became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historical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documents,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such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Samuel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Pepys’s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diary.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You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may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draw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students’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attention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different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types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diaries,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e.g.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private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diary,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general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diary.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Army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officers,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businessmen,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doctors,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executives,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lawyers,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motorists,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police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officers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keep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general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diary</a:t>
            </a:r>
            <a:r>
              <a:rPr dirty="0" sz="900" spc="47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record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events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happen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during</a:t>
            </a:r>
            <a:r>
              <a:rPr dirty="0" sz="900" spc="10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9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day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events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scheduled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day,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such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appointments,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meetings,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things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done,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etc.</a:t>
            </a:r>
            <a:endParaRPr sz="900">
              <a:latin typeface="Tahoma"/>
              <a:cs typeface="Tahoma"/>
            </a:endParaRPr>
          </a:p>
          <a:p>
            <a:pPr algn="just" marL="242570" indent="-22987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42570" algn="l"/>
              </a:tabLst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Passage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listening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exercise:</a:t>
            </a: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Great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London</a:t>
            </a:r>
            <a:r>
              <a:rPr dirty="0" sz="900" spc="4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[1666]</a:t>
            </a:r>
            <a:endParaRPr sz="900">
              <a:latin typeface="Tahoma"/>
              <a:cs typeface="Tahoma"/>
            </a:endParaRPr>
          </a:p>
          <a:p>
            <a:pPr algn="just" marL="469900" marR="234315">
              <a:lnSpc>
                <a:spcPct val="100000"/>
              </a:lnSpc>
              <a:spcBef>
                <a:spcPts val="600"/>
              </a:spcBef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September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2nd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(Lord’s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 Day).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Jane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called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us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up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about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three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-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morning,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tell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us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great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they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saw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city.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So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rose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slipped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my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nightgown,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went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her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window,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thought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backside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Marke-Lane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farthest;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but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being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unused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such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followed,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thought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far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enough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off,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so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went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bed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again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sleep.</a:t>
            </a:r>
            <a:endParaRPr sz="900">
              <a:latin typeface="Tahoma"/>
              <a:cs typeface="Tahoma"/>
            </a:endParaRPr>
          </a:p>
          <a:p>
            <a:pPr algn="just" marL="469900" marR="233045">
              <a:lnSpc>
                <a:spcPct val="100000"/>
              </a:lnSpc>
              <a:spcBef>
                <a:spcPts val="315"/>
              </a:spcBef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About</a:t>
            </a:r>
            <a:r>
              <a:rPr dirty="0" sz="900" spc="2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seven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rose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again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dress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myself,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then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looked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out</a:t>
            </a:r>
            <a:r>
              <a:rPr dirty="0" sz="900" spc="2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2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window,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saw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so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much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was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further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off.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By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by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Jane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comes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1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tells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me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1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she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hears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1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above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300</a:t>
            </a:r>
            <a:r>
              <a:rPr dirty="0" sz="900" spc="1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houses</a:t>
            </a:r>
            <a:r>
              <a:rPr dirty="0" sz="900" spc="1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Tahoma"/>
                <a:cs typeface="Tahoma"/>
              </a:rPr>
              <a:t>have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been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burned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down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tonight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by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we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saw,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now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burning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down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Fish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Street,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by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London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Bridge.</a:t>
            </a:r>
            <a:endParaRPr sz="900">
              <a:latin typeface="Tahoma"/>
              <a:cs typeface="Tahoma"/>
            </a:endParaRPr>
          </a:p>
          <a:p>
            <a:pPr algn="just" marL="469265" marR="234950">
              <a:lnSpc>
                <a:spcPct val="101499"/>
              </a:lnSpc>
              <a:spcBef>
                <a:spcPts val="270"/>
              </a:spcBef>
            </a:pP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So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85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made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myself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ready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5">
                <a:solidFill>
                  <a:srgbClr val="231F20"/>
                </a:solidFill>
                <a:latin typeface="Tahoma"/>
                <a:cs typeface="Tahoma"/>
              </a:rPr>
              <a:t>presently,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walked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231F20"/>
                </a:solidFill>
                <a:latin typeface="Tahoma"/>
                <a:cs typeface="Tahoma"/>
              </a:rPr>
              <a:t>Tower,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there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got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up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upon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one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high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places,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Sir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45">
                <a:solidFill>
                  <a:srgbClr val="231F20"/>
                </a:solidFill>
                <a:latin typeface="Tahoma"/>
                <a:cs typeface="Tahoma"/>
              </a:rPr>
              <a:t>J.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Robinson’s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little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son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going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up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me;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there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85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did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see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houses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end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bridge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dirty="0" sz="900" spc="4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fire,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an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infinite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great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fire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on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this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other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31F20"/>
                </a:solidFill>
                <a:latin typeface="Tahoma"/>
                <a:cs typeface="Tahoma"/>
              </a:rPr>
              <a:t>side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15">
                <a:solidFill>
                  <a:srgbClr val="231F20"/>
                </a:solidFill>
                <a:latin typeface="Tahoma"/>
                <a:cs typeface="Tahoma"/>
              </a:rPr>
              <a:t>bridge.</a:t>
            </a:r>
            <a:endParaRPr sz="900">
              <a:latin typeface="Tahoma"/>
              <a:cs typeface="Tahoma"/>
            </a:endParaRPr>
          </a:p>
          <a:p>
            <a:pPr algn="just" marL="2697480">
              <a:lnSpc>
                <a:spcPct val="100000"/>
              </a:lnSpc>
              <a:spcBef>
                <a:spcPts val="409"/>
              </a:spcBef>
            </a:pPr>
            <a:r>
              <a:rPr dirty="0" sz="850" spc="-35">
                <a:solidFill>
                  <a:srgbClr val="231F20"/>
                </a:solidFill>
                <a:latin typeface="Tahoma"/>
                <a:cs typeface="Tahoma"/>
              </a:rPr>
              <a:t>[</a:t>
            </a:r>
            <a:r>
              <a:rPr dirty="0" sz="850" spc="-35" i="1">
                <a:solidFill>
                  <a:srgbClr val="231F20"/>
                </a:solidFill>
                <a:latin typeface="Trebuchet MS"/>
                <a:cs typeface="Trebuchet MS"/>
              </a:rPr>
              <a:t>From</a:t>
            </a:r>
            <a:r>
              <a:rPr dirty="0" sz="850" spc="-65" i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850" spc="-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231F20"/>
                </a:solidFill>
                <a:latin typeface="Tahoma"/>
                <a:cs typeface="Tahoma"/>
              </a:rPr>
              <a:t>Diary</a:t>
            </a:r>
            <a:r>
              <a:rPr dirty="0" sz="850" spc="-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dirty="0" sz="850" spc="-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231F20"/>
                </a:solidFill>
                <a:latin typeface="Tahoma"/>
                <a:cs typeface="Tahoma"/>
              </a:rPr>
              <a:t>Samuel</a:t>
            </a:r>
            <a:r>
              <a:rPr dirty="0" sz="850" spc="-9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850" spc="-15">
                <a:solidFill>
                  <a:srgbClr val="231F20"/>
                </a:solidFill>
                <a:latin typeface="Tahoma"/>
                <a:cs typeface="Tahoma"/>
              </a:rPr>
              <a:t>Pepys</a:t>
            </a:r>
            <a:r>
              <a:rPr dirty="0" sz="850" spc="-11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850" spc="-50">
                <a:solidFill>
                  <a:srgbClr val="231F20"/>
                </a:solidFill>
                <a:latin typeface="Tahoma"/>
                <a:cs typeface="Tahoma"/>
              </a:rPr>
              <a:t>]</a:t>
            </a:r>
            <a:endParaRPr sz="8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4100" y="5268568"/>
            <a:ext cx="4522470" cy="10858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50"/>
              </a:spcBef>
            </a:pP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dirty="0" cap="small" sz="10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You</a:t>
            </a:r>
            <a:r>
              <a:rPr dirty="0" cap="small" sz="10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>
                <a:solidFill>
                  <a:srgbClr val="231F20"/>
                </a:solidFill>
                <a:latin typeface="Tahoma"/>
                <a:cs typeface="Tahoma"/>
              </a:rPr>
              <a:t>Can</a:t>
            </a:r>
            <a:r>
              <a:rPr dirty="0" cap="small" sz="1000" spc="3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cap="small" sz="1000" spc="-25">
                <a:solidFill>
                  <a:srgbClr val="231F20"/>
                </a:solidFill>
                <a:latin typeface="Tahoma"/>
                <a:cs typeface="Tahoma"/>
              </a:rPr>
              <a:t>Do</a:t>
            </a:r>
            <a:endParaRPr sz="10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  <a:spcBef>
                <a:spcPts val="315"/>
              </a:spcBef>
            </a:pP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After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they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have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completed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lesson,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including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writing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exercise,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</a:t>
            </a:r>
            <a:r>
              <a:rPr dirty="0" sz="900" spc="114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can</a:t>
            </a:r>
            <a:r>
              <a:rPr dirty="0" sz="900" spc="1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asked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make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diary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jotting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previous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day.</a:t>
            </a:r>
            <a:r>
              <a:rPr dirty="0" sz="900" spc="3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Perhaps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you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could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also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write</a:t>
            </a:r>
            <a:r>
              <a:rPr dirty="0" sz="900" spc="2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dirty="0" sz="900" spc="2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diary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entry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describing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happened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dirty="0" sz="900" spc="7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school/class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previous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day,</a:t>
            </a:r>
            <a:r>
              <a:rPr dirty="0" sz="900" spc="7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share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class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—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try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make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amusing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interesting!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Collect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students’</a:t>
            </a:r>
            <a:r>
              <a:rPr dirty="0" sz="900" spc="5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pages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(they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may</a:t>
            </a:r>
            <a:r>
              <a:rPr dirty="0" sz="900" spc="5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allowed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sign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their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names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or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make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it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anonymous,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they</a:t>
            </a:r>
            <a:r>
              <a:rPr dirty="0" sz="900" spc="6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wish)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put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them</a:t>
            </a:r>
            <a:r>
              <a:rPr dirty="0" sz="900" spc="7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up</a:t>
            </a:r>
            <a:r>
              <a:rPr dirty="0" sz="900" spc="6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31F20"/>
                </a:solidFill>
                <a:latin typeface="Tahoma"/>
                <a:cs typeface="Tahoma"/>
              </a:rPr>
              <a:t>on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class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notice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board,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together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your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page,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everyone</a:t>
            </a:r>
            <a:r>
              <a:rPr dirty="0" sz="900" spc="85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dirty="0" sz="900" spc="8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Tahoma"/>
                <a:cs typeface="Tahoma"/>
              </a:rPr>
              <a:t>read.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131" y="4349991"/>
            <a:ext cx="1568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60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Amanda!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191" y="1778008"/>
            <a:ext cx="4102735" cy="965200"/>
          </a:xfrm>
          <a:prstGeom prst="rect">
            <a:avLst/>
          </a:prstGeom>
          <a:solidFill>
            <a:srgbClr val="C7EAFB"/>
          </a:solidFill>
        </p:spPr>
        <p:txBody>
          <a:bodyPr wrap="square" lIns="0" tIns="50800" rIns="0" bIns="0" rtlCol="0" vert="horz">
            <a:spAutoFit/>
          </a:bodyPr>
          <a:lstStyle/>
          <a:p>
            <a:pPr algn="just" marL="95250" marR="106045">
              <a:lnSpc>
                <a:spcPct val="108500"/>
              </a:lnSpc>
              <a:spcBef>
                <a:spcPts val="400"/>
              </a:spcBef>
            </a:pP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Every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child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feels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10" i="1">
                <a:solidFill>
                  <a:srgbClr val="231F20"/>
                </a:solidFill>
                <a:latin typeface="Calibri"/>
                <a:cs typeface="Calibri"/>
              </a:rPr>
              <a:t>she/he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5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controlled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000" spc="2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instructed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3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do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one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thing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another.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too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may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feel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231F20"/>
                </a:solidFill>
                <a:latin typeface="Calibri"/>
                <a:cs typeface="Calibri"/>
              </a:rPr>
              <a:t>freedom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31F20"/>
                </a:solidFill>
                <a:latin typeface="Calibri"/>
                <a:cs typeface="Calibri"/>
              </a:rPr>
              <a:t>curtailed.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Write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5" i="1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some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things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 do,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but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parents/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elders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allow</a:t>
            </a:r>
            <a:r>
              <a:rPr dirty="0" sz="10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to.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0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231F20"/>
                </a:solidFill>
                <a:latin typeface="Calibri"/>
                <a:cs typeface="Calibri"/>
              </a:rPr>
              <a:t>read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poem</a:t>
            </a:r>
            <a:r>
              <a:rPr dirty="0" sz="1000" spc="15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aloud,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231F20"/>
                </a:solidFill>
                <a:latin typeface="Calibri"/>
                <a:cs typeface="Calibri"/>
              </a:rPr>
              <a:t>form</a:t>
            </a:r>
            <a:r>
              <a:rPr dirty="0" sz="1000" spc="14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pairs, </a:t>
            </a:r>
            <a:r>
              <a:rPr dirty="0" sz="1000" spc="80" i="1">
                <a:solidFill>
                  <a:srgbClr val="231F20"/>
                </a:solidFill>
                <a:latin typeface="Calibri"/>
                <a:cs typeface="Calibri"/>
              </a:rPr>
              <a:t>each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reading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231F20"/>
                </a:solidFill>
                <a:latin typeface="Calibri"/>
                <a:cs typeface="Calibri"/>
              </a:rPr>
              <a:t>alternate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90" i="1">
                <a:solidFill>
                  <a:srgbClr val="231F20"/>
                </a:solidFill>
                <a:latin typeface="Calibri"/>
                <a:cs typeface="Calibri"/>
              </a:rPr>
              <a:t>stanzas.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1000" spc="2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000" spc="1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000" spc="1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231F20"/>
                </a:solidFill>
                <a:latin typeface="Calibri"/>
                <a:cs typeface="Calibri"/>
              </a:rPr>
              <a:t>surprise!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pc="75"/>
              <a:t>Don’t</a:t>
            </a:r>
            <a:r>
              <a:rPr dirty="0" spc="275"/>
              <a:t> </a:t>
            </a:r>
            <a:r>
              <a:rPr dirty="0" spc="60"/>
              <a:t>bite</a:t>
            </a:r>
            <a:r>
              <a:rPr dirty="0" spc="275"/>
              <a:t> </a:t>
            </a:r>
            <a:r>
              <a:rPr dirty="0" spc="90"/>
              <a:t>your</a:t>
            </a:r>
            <a:r>
              <a:rPr dirty="0" spc="275"/>
              <a:t> </a:t>
            </a:r>
            <a:r>
              <a:rPr dirty="0" spc="100"/>
              <a:t>nails,</a:t>
            </a:r>
            <a:r>
              <a:rPr dirty="0" spc="275"/>
              <a:t> </a:t>
            </a:r>
            <a:r>
              <a:rPr dirty="0" spc="80"/>
              <a:t>Amanda!</a:t>
            </a:r>
          </a:p>
          <a:p>
            <a:pPr marL="12700" marR="918844">
              <a:lnSpc>
                <a:spcPct val="120900"/>
              </a:lnSpc>
              <a:spcBef>
                <a:spcPts val="15"/>
              </a:spcBef>
            </a:pPr>
            <a:r>
              <a:rPr dirty="0" spc="75"/>
              <a:t>Don’t</a:t>
            </a:r>
            <a:r>
              <a:rPr dirty="0" spc="275"/>
              <a:t> </a:t>
            </a:r>
            <a:r>
              <a:rPr dirty="0" spc="135"/>
              <a:t>hunch</a:t>
            </a:r>
            <a:r>
              <a:rPr dirty="0" spc="280"/>
              <a:t> </a:t>
            </a:r>
            <a:r>
              <a:rPr dirty="0" spc="90"/>
              <a:t>your</a:t>
            </a:r>
            <a:r>
              <a:rPr dirty="0" spc="280"/>
              <a:t> </a:t>
            </a:r>
            <a:r>
              <a:rPr dirty="0" spc="95"/>
              <a:t>shoulders,</a:t>
            </a:r>
            <a:r>
              <a:rPr dirty="0" spc="280"/>
              <a:t> </a:t>
            </a:r>
            <a:r>
              <a:rPr dirty="0" spc="80"/>
              <a:t>Amanda! </a:t>
            </a:r>
            <a:r>
              <a:rPr dirty="0" spc="100"/>
              <a:t>Stop</a:t>
            </a:r>
            <a:r>
              <a:rPr dirty="0" spc="260"/>
              <a:t> </a:t>
            </a:r>
            <a:r>
              <a:rPr dirty="0" spc="85"/>
              <a:t>that</a:t>
            </a:r>
            <a:r>
              <a:rPr dirty="0" spc="265"/>
              <a:t> </a:t>
            </a:r>
            <a:r>
              <a:rPr dirty="0" spc="105"/>
              <a:t>slouching</a:t>
            </a:r>
            <a:r>
              <a:rPr dirty="0" spc="265"/>
              <a:t> </a:t>
            </a:r>
            <a:r>
              <a:rPr dirty="0" spc="114"/>
              <a:t>and</a:t>
            </a:r>
            <a:r>
              <a:rPr dirty="0" spc="265"/>
              <a:t> </a:t>
            </a:r>
            <a:r>
              <a:rPr dirty="0" spc="90"/>
              <a:t>sit</a:t>
            </a:r>
            <a:r>
              <a:rPr dirty="0" spc="265"/>
              <a:t> </a:t>
            </a:r>
            <a:r>
              <a:rPr dirty="0" spc="135"/>
              <a:t>up</a:t>
            </a:r>
            <a:r>
              <a:rPr dirty="0" spc="265"/>
              <a:t> </a:t>
            </a:r>
            <a:r>
              <a:rPr dirty="0" spc="75"/>
              <a:t>straight, </a:t>
            </a:r>
            <a:r>
              <a:rPr dirty="0" spc="105"/>
              <a:t>Amanda!</a:t>
            </a:r>
          </a:p>
          <a:p>
            <a:pPr marL="12700" marR="1328420">
              <a:lnSpc>
                <a:spcPct val="120900"/>
              </a:lnSpc>
              <a:spcBef>
                <a:spcPts val="1305"/>
              </a:spcBef>
            </a:pPr>
            <a:r>
              <a:rPr dirty="0" spc="60"/>
              <a:t>(There</a:t>
            </a:r>
            <a:r>
              <a:rPr dirty="0" spc="285"/>
              <a:t> </a:t>
            </a:r>
            <a:r>
              <a:rPr dirty="0" spc="105"/>
              <a:t>is</a:t>
            </a:r>
            <a:r>
              <a:rPr dirty="0" spc="285"/>
              <a:t> </a:t>
            </a:r>
            <a:r>
              <a:rPr dirty="0" spc="110"/>
              <a:t>a</a:t>
            </a:r>
            <a:r>
              <a:rPr dirty="0" spc="285"/>
              <a:t> </a:t>
            </a:r>
            <a:r>
              <a:rPr dirty="0" spc="100"/>
              <a:t>languid,</a:t>
            </a:r>
            <a:r>
              <a:rPr dirty="0" spc="285"/>
              <a:t> </a:t>
            </a:r>
            <a:r>
              <a:rPr dirty="0" spc="80"/>
              <a:t>emerald</a:t>
            </a:r>
            <a:r>
              <a:rPr dirty="0" spc="285"/>
              <a:t> </a:t>
            </a:r>
            <a:r>
              <a:rPr dirty="0" spc="60"/>
              <a:t>sea, where</a:t>
            </a:r>
            <a:r>
              <a:rPr dirty="0" spc="285"/>
              <a:t> </a:t>
            </a:r>
            <a:r>
              <a:rPr dirty="0" spc="70"/>
              <a:t>the</a:t>
            </a:r>
            <a:r>
              <a:rPr dirty="0" spc="285"/>
              <a:t> </a:t>
            </a:r>
            <a:r>
              <a:rPr dirty="0" spc="65"/>
              <a:t>sole</a:t>
            </a:r>
            <a:r>
              <a:rPr dirty="0" spc="285"/>
              <a:t> </a:t>
            </a:r>
            <a:r>
              <a:rPr dirty="0" spc="100"/>
              <a:t>inhabitant</a:t>
            </a:r>
            <a:r>
              <a:rPr dirty="0" spc="285"/>
              <a:t> </a:t>
            </a:r>
            <a:r>
              <a:rPr dirty="0" spc="105"/>
              <a:t>is</a:t>
            </a:r>
            <a:r>
              <a:rPr dirty="0" spc="285"/>
              <a:t> </a:t>
            </a:r>
            <a:r>
              <a:rPr dirty="0" spc="95"/>
              <a:t>me—</a:t>
            </a:r>
            <a:r>
              <a:rPr dirty="0" spc="110"/>
              <a:t>a</a:t>
            </a:r>
            <a:r>
              <a:rPr dirty="0" spc="300"/>
              <a:t> </a:t>
            </a:r>
            <a:r>
              <a:rPr dirty="0" spc="100"/>
              <a:t>mermaid,</a:t>
            </a:r>
            <a:r>
              <a:rPr dirty="0" spc="300"/>
              <a:t> </a:t>
            </a:r>
            <a:r>
              <a:rPr dirty="0" spc="85"/>
              <a:t>drifting</a:t>
            </a:r>
            <a:r>
              <a:rPr dirty="0" spc="300"/>
              <a:t> </a:t>
            </a:r>
            <a:r>
              <a:rPr dirty="0" spc="80"/>
              <a:t>blissfully.)</a:t>
            </a:r>
          </a:p>
          <a:p>
            <a:pPr marL="12700" marR="852169">
              <a:lnSpc>
                <a:spcPct val="121800"/>
              </a:lnSpc>
              <a:spcBef>
                <a:spcPts val="1300"/>
              </a:spcBef>
            </a:pPr>
            <a:r>
              <a:rPr dirty="0" spc="125"/>
              <a:t>Did</a:t>
            </a:r>
            <a:r>
              <a:rPr dirty="0" spc="235"/>
              <a:t> </a:t>
            </a:r>
            <a:r>
              <a:rPr dirty="0" spc="95"/>
              <a:t>you</a:t>
            </a:r>
            <a:r>
              <a:rPr dirty="0" spc="240"/>
              <a:t> </a:t>
            </a:r>
            <a:r>
              <a:rPr dirty="0" spc="95"/>
              <a:t>finish</a:t>
            </a:r>
            <a:r>
              <a:rPr dirty="0" spc="235"/>
              <a:t> </a:t>
            </a:r>
            <a:r>
              <a:rPr dirty="0" spc="90"/>
              <a:t>your</a:t>
            </a:r>
            <a:r>
              <a:rPr dirty="0" spc="240"/>
              <a:t> </a:t>
            </a:r>
            <a:r>
              <a:rPr dirty="0" spc="85"/>
              <a:t>homework,</a:t>
            </a:r>
            <a:r>
              <a:rPr dirty="0" spc="235"/>
              <a:t> </a:t>
            </a:r>
            <a:r>
              <a:rPr dirty="0" spc="95"/>
              <a:t>Amanda? </a:t>
            </a:r>
            <a:r>
              <a:rPr dirty="0" spc="125"/>
              <a:t>Did</a:t>
            </a:r>
            <a:r>
              <a:rPr dirty="0" spc="195"/>
              <a:t> </a:t>
            </a:r>
            <a:r>
              <a:rPr dirty="0" spc="95"/>
              <a:t>you</a:t>
            </a:r>
            <a:r>
              <a:rPr dirty="0" spc="195"/>
              <a:t> </a:t>
            </a:r>
            <a:r>
              <a:rPr dirty="0" spc="75"/>
              <a:t>tidy</a:t>
            </a:r>
            <a:r>
              <a:rPr dirty="0" spc="195"/>
              <a:t> </a:t>
            </a:r>
            <a:r>
              <a:rPr dirty="0" spc="90"/>
              <a:t>your</a:t>
            </a:r>
            <a:r>
              <a:rPr dirty="0" spc="200"/>
              <a:t> </a:t>
            </a:r>
            <a:r>
              <a:rPr dirty="0" spc="75"/>
              <a:t>room,</a:t>
            </a:r>
            <a:r>
              <a:rPr dirty="0" spc="195"/>
              <a:t> </a:t>
            </a:r>
            <a:r>
              <a:rPr dirty="0" spc="95"/>
              <a:t>Amanda?</a:t>
            </a:r>
          </a:p>
          <a:p>
            <a:pPr marL="12700" marR="919480">
              <a:lnSpc>
                <a:spcPts val="1610"/>
              </a:lnSpc>
              <a:spcBef>
                <a:spcPts val="75"/>
              </a:spcBef>
            </a:pPr>
            <a:r>
              <a:rPr dirty="0" spc="95"/>
              <a:t>I</a:t>
            </a:r>
            <a:r>
              <a:rPr dirty="0" spc="200"/>
              <a:t> </a:t>
            </a:r>
            <a:r>
              <a:rPr dirty="0" spc="95"/>
              <a:t>thought</a:t>
            </a:r>
            <a:r>
              <a:rPr dirty="0" spc="200"/>
              <a:t> </a:t>
            </a:r>
            <a:r>
              <a:rPr dirty="0" spc="95"/>
              <a:t>I</a:t>
            </a:r>
            <a:r>
              <a:rPr dirty="0" spc="200"/>
              <a:t> </a:t>
            </a:r>
            <a:r>
              <a:rPr dirty="0" spc="65"/>
              <a:t>told</a:t>
            </a:r>
            <a:r>
              <a:rPr dirty="0" spc="204"/>
              <a:t> </a:t>
            </a:r>
            <a:r>
              <a:rPr dirty="0" spc="95"/>
              <a:t>you</a:t>
            </a:r>
            <a:r>
              <a:rPr dirty="0" spc="200"/>
              <a:t> </a:t>
            </a:r>
            <a:r>
              <a:rPr dirty="0"/>
              <a:t>to</a:t>
            </a:r>
            <a:r>
              <a:rPr dirty="0" spc="200"/>
              <a:t> </a:t>
            </a:r>
            <a:r>
              <a:rPr dirty="0" spc="90"/>
              <a:t>clean</a:t>
            </a:r>
            <a:r>
              <a:rPr dirty="0" spc="204"/>
              <a:t> </a:t>
            </a:r>
            <a:r>
              <a:rPr dirty="0" spc="90"/>
              <a:t>your</a:t>
            </a:r>
            <a:r>
              <a:rPr dirty="0" spc="200"/>
              <a:t> </a:t>
            </a:r>
            <a:r>
              <a:rPr dirty="0" spc="75"/>
              <a:t>shoes, </a:t>
            </a:r>
            <a:r>
              <a:rPr dirty="0" spc="105"/>
              <a:t>Amanda!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(I</a:t>
            </a:r>
            <a:r>
              <a:rPr dirty="0" spc="265"/>
              <a:t> </a:t>
            </a:r>
            <a:r>
              <a:rPr dirty="0" spc="130"/>
              <a:t>am</a:t>
            </a:r>
            <a:r>
              <a:rPr dirty="0" spc="265"/>
              <a:t> </a:t>
            </a:r>
            <a:r>
              <a:rPr dirty="0" spc="125"/>
              <a:t>an</a:t>
            </a:r>
            <a:r>
              <a:rPr dirty="0" spc="270"/>
              <a:t> </a:t>
            </a:r>
            <a:r>
              <a:rPr dirty="0" spc="100"/>
              <a:t>orphan,</a:t>
            </a:r>
            <a:r>
              <a:rPr dirty="0" spc="265"/>
              <a:t> </a:t>
            </a:r>
            <a:r>
              <a:rPr dirty="0" spc="95"/>
              <a:t>roaming</a:t>
            </a:r>
            <a:r>
              <a:rPr dirty="0" spc="270"/>
              <a:t> </a:t>
            </a:r>
            <a:r>
              <a:rPr dirty="0" spc="70"/>
              <a:t>the</a:t>
            </a:r>
            <a:r>
              <a:rPr dirty="0" spc="265"/>
              <a:t> </a:t>
            </a:r>
            <a:r>
              <a:rPr dirty="0" spc="50"/>
              <a:t>street.</a:t>
            </a:r>
          </a:p>
          <a:p>
            <a:pPr marL="12700" marR="501650">
              <a:lnSpc>
                <a:spcPts val="1610"/>
              </a:lnSpc>
              <a:spcBef>
                <a:spcPts val="75"/>
              </a:spcBef>
            </a:pPr>
            <a:r>
              <a:rPr dirty="0" spc="95"/>
              <a:t>I</a:t>
            </a:r>
            <a:r>
              <a:rPr dirty="0" spc="235"/>
              <a:t> </a:t>
            </a:r>
            <a:r>
              <a:rPr dirty="0" spc="75"/>
              <a:t>pattern</a:t>
            </a:r>
            <a:r>
              <a:rPr dirty="0" spc="235"/>
              <a:t> </a:t>
            </a:r>
            <a:r>
              <a:rPr dirty="0" spc="60"/>
              <a:t>soft</a:t>
            </a:r>
            <a:r>
              <a:rPr dirty="0" spc="240"/>
              <a:t> </a:t>
            </a:r>
            <a:r>
              <a:rPr dirty="0" spc="110"/>
              <a:t>dust</a:t>
            </a:r>
            <a:r>
              <a:rPr dirty="0" spc="235"/>
              <a:t> </a:t>
            </a:r>
            <a:r>
              <a:rPr dirty="0" spc="85"/>
              <a:t>with</a:t>
            </a:r>
            <a:r>
              <a:rPr dirty="0" spc="240"/>
              <a:t> </a:t>
            </a:r>
            <a:r>
              <a:rPr dirty="0" spc="120"/>
              <a:t>my</a:t>
            </a:r>
            <a:r>
              <a:rPr dirty="0" spc="235"/>
              <a:t> </a:t>
            </a:r>
            <a:r>
              <a:rPr dirty="0" spc="110"/>
              <a:t>hushed,</a:t>
            </a:r>
            <a:r>
              <a:rPr dirty="0" spc="235"/>
              <a:t> </a:t>
            </a:r>
            <a:r>
              <a:rPr dirty="0" spc="75"/>
              <a:t>bare</a:t>
            </a:r>
            <a:r>
              <a:rPr dirty="0" spc="240"/>
              <a:t> </a:t>
            </a:r>
            <a:r>
              <a:rPr dirty="0" spc="-10"/>
              <a:t>feet. </a:t>
            </a:r>
            <a:r>
              <a:rPr dirty="0" spc="100"/>
              <a:t>The</a:t>
            </a:r>
            <a:r>
              <a:rPr dirty="0" spc="275"/>
              <a:t> </a:t>
            </a:r>
            <a:r>
              <a:rPr dirty="0" spc="75"/>
              <a:t>silence</a:t>
            </a:r>
            <a:r>
              <a:rPr dirty="0" spc="275"/>
              <a:t> </a:t>
            </a:r>
            <a:r>
              <a:rPr dirty="0" spc="105"/>
              <a:t>is</a:t>
            </a:r>
            <a:r>
              <a:rPr dirty="0" spc="275"/>
              <a:t> </a:t>
            </a:r>
            <a:r>
              <a:rPr dirty="0" spc="70"/>
              <a:t>golden,</a:t>
            </a:r>
            <a:r>
              <a:rPr dirty="0" spc="275"/>
              <a:t> </a:t>
            </a:r>
            <a:r>
              <a:rPr dirty="0" spc="70"/>
              <a:t>the</a:t>
            </a:r>
            <a:r>
              <a:rPr dirty="0" spc="275"/>
              <a:t> </a:t>
            </a:r>
            <a:r>
              <a:rPr dirty="0" spc="60"/>
              <a:t>freedom</a:t>
            </a:r>
            <a:r>
              <a:rPr dirty="0" spc="275"/>
              <a:t> </a:t>
            </a:r>
            <a:r>
              <a:rPr dirty="0" spc="105"/>
              <a:t>is</a:t>
            </a:r>
            <a:r>
              <a:rPr dirty="0" spc="275"/>
              <a:t> </a:t>
            </a:r>
            <a:r>
              <a:rPr dirty="0" spc="-10"/>
              <a:t>sweet.)</a:t>
            </a:r>
          </a:p>
          <a:p>
            <a:pPr marL="12700" marR="1318260">
              <a:lnSpc>
                <a:spcPct val="121800"/>
              </a:lnSpc>
              <a:spcBef>
                <a:spcPts val="1195"/>
              </a:spcBef>
            </a:pPr>
            <a:r>
              <a:rPr dirty="0" spc="80"/>
              <a:t>Don’t</a:t>
            </a:r>
            <a:r>
              <a:rPr dirty="0" spc="295"/>
              <a:t> </a:t>
            </a:r>
            <a:r>
              <a:rPr dirty="0" spc="60"/>
              <a:t>eat</a:t>
            </a:r>
            <a:r>
              <a:rPr dirty="0" spc="295"/>
              <a:t> </a:t>
            </a:r>
            <a:r>
              <a:rPr dirty="0" spc="90"/>
              <a:t>that</a:t>
            </a:r>
            <a:r>
              <a:rPr dirty="0" spc="295"/>
              <a:t> </a:t>
            </a:r>
            <a:r>
              <a:rPr dirty="0" spc="75"/>
              <a:t>chocolate,</a:t>
            </a:r>
            <a:r>
              <a:rPr dirty="0" spc="295"/>
              <a:t> </a:t>
            </a:r>
            <a:r>
              <a:rPr dirty="0" spc="85"/>
              <a:t>Amanda! </a:t>
            </a:r>
            <a:r>
              <a:rPr dirty="0" spc="90"/>
              <a:t>Remember</a:t>
            </a:r>
            <a:r>
              <a:rPr dirty="0" spc="290"/>
              <a:t> </a:t>
            </a:r>
            <a:r>
              <a:rPr dirty="0" spc="95"/>
              <a:t>your</a:t>
            </a:r>
            <a:r>
              <a:rPr dirty="0" spc="290"/>
              <a:t> </a:t>
            </a:r>
            <a:r>
              <a:rPr dirty="0" spc="90"/>
              <a:t>acne,</a:t>
            </a:r>
            <a:r>
              <a:rPr dirty="0" spc="295"/>
              <a:t> </a:t>
            </a:r>
            <a:r>
              <a:rPr dirty="0" spc="85"/>
              <a:t>Amanda!</a:t>
            </a:r>
          </a:p>
          <a:p>
            <a:pPr marL="12700" marR="5080">
              <a:lnSpc>
                <a:spcPts val="1610"/>
              </a:lnSpc>
              <a:spcBef>
                <a:spcPts val="70"/>
              </a:spcBef>
            </a:pPr>
            <a:r>
              <a:rPr dirty="0" spc="70"/>
              <a:t>Will</a:t>
            </a:r>
            <a:r>
              <a:rPr dirty="0" spc="210"/>
              <a:t> </a:t>
            </a:r>
            <a:r>
              <a:rPr dirty="0" spc="95"/>
              <a:t>you</a:t>
            </a:r>
            <a:r>
              <a:rPr dirty="0" spc="215"/>
              <a:t> </a:t>
            </a:r>
            <a:r>
              <a:rPr dirty="0" spc="75"/>
              <a:t>please</a:t>
            </a:r>
            <a:r>
              <a:rPr dirty="0" spc="215"/>
              <a:t> </a:t>
            </a:r>
            <a:r>
              <a:rPr dirty="0" spc="80"/>
              <a:t>look</a:t>
            </a:r>
            <a:r>
              <a:rPr dirty="0" spc="215"/>
              <a:t> </a:t>
            </a:r>
            <a:r>
              <a:rPr dirty="0" spc="75"/>
              <a:t>at</a:t>
            </a:r>
            <a:r>
              <a:rPr dirty="0" spc="215"/>
              <a:t> </a:t>
            </a:r>
            <a:r>
              <a:rPr dirty="0" spc="80"/>
              <a:t>me</a:t>
            </a:r>
            <a:r>
              <a:rPr dirty="0" spc="210"/>
              <a:t> </a:t>
            </a:r>
            <a:r>
              <a:rPr dirty="0" spc="85"/>
              <a:t>when</a:t>
            </a:r>
            <a:r>
              <a:rPr dirty="0" spc="215"/>
              <a:t> </a:t>
            </a:r>
            <a:r>
              <a:rPr dirty="0" spc="65"/>
              <a:t>I’m</a:t>
            </a:r>
            <a:r>
              <a:rPr dirty="0" spc="215"/>
              <a:t> </a:t>
            </a:r>
            <a:r>
              <a:rPr dirty="0" spc="100"/>
              <a:t>speaking</a:t>
            </a:r>
            <a:r>
              <a:rPr dirty="0" spc="215"/>
              <a:t> </a:t>
            </a:r>
            <a:r>
              <a:rPr dirty="0"/>
              <a:t>to</a:t>
            </a:r>
            <a:r>
              <a:rPr dirty="0" spc="215"/>
              <a:t> </a:t>
            </a:r>
            <a:r>
              <a:rPr dirty="0" spc="70"/>
              <a:t>you, </a:t>
            </a:r>
            <a:r>
              <a:rPr dirty="0" spc="105"/>
              <a:t>Amanda!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31" y="4350003"/>
            <a:ext cx="1530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231F20"/>
                </a:solidFill>
                <a:latin typeface="Times New Roman"/>
                <a:cs typeface="Times New Roman"/>
              </a:rPr>
              <a:t>62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06" y="3472145"/>
            <a:ext cx="166370" cy="684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z="1100">
                <a:solidFill>
                  <a:srgbClr val="231F20"/>
                </a:solidFill>
                <a:latin typeface="Times New Roman"/>
                <a:cs typeface="Times New Roman"/>
              </a:rPr>
              <a:t>First</a:t>
            </a:r>
            <a:r>
              <a:rPr dirty="0" sz="1100" spc="2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Times New Roman"/>
                <a:cs typeface="Times New Roman"/>
              </a:rPr>
              <a:t>Flight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1301" y="606546"/>
            <a:ext cx="3912235" cy="1896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03350">
              <a:lnSpc>
                <a:spcPct val="121800"/>
              </a:lnSpc>
              <a:spcBef>
                <a:spcPts val="100"/>
              </a:spcBef>
            </a:pP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(I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30">
                <a:solidFill>
                  <a:srgbClr val="231F20"/>
                </a:solidFill>
                <a:latin typeface="Calibri"/>
                <a:cs typeface="Calibri"/>
              </a:rPr>
              <a:t>am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Rapunzel,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11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care;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life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tower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tranquil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rare;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I’ll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certainly</a:t>
            </a:r>
            <a:r>
              <a:rPr dirty="0" sz="1100" spc="2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 i="1">
                <a:solidFill>
                  <a:srgbClr val="231F20"/>
                </a:solidFill>
                <a:latin typeface="Calibri"/>
                <a:cs typeface="Calibri"/>
              </a:rPr>
              <a:t>never</a:t>
            </a:r>
            <a:r>
              <a:rPr dirty="0" sz="1100" spc="260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31F20"/>
                </a:solidFill>
                <a:latin typeface="Calibri"/>
                <a:cs typeface="Calibri"/>
              </a:rPr>
              <a:t>let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down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231F20"/>
                </a:solidFill>
                <a:latin typeface="Calibri"/>
                <a:cs typeface="Calibri"/>
              </a:rPr>
              <a:t>my</a:t>
            </a:r>
            <a:r>
              <a:rPr dirty="0" sz="1100" spc="30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bright</a:t>
            </a:r>
            <a:r>
              <a:rPr dirty="0" sz="1100" spc="2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Calibri"/>
                <a:cs typeface="Calibri"/>
              </a:rPr>
              <a:t>hair!)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00">
              <a:latin typeface="Calibri"/>
              <a:cs typeface="Calibri"/>
            </a:endParaRPr>
          </a:p>
          <a:p>
            <a:pPr marL="12700" marR="1376045">
              <a:lnSpc>
                <a:spcPct val="120000"/>
              </a:lnSpc>
            </a:pPr>
            <a:r>
              <a:rPr dirty="0" sz="1100" spc="100">
                <a:solidFill>
                  <a:srgbClr val="231F20"/>
                </a:solidFill>
                <a:latin typeface="Calibri"/>
                <a:cs typeface="Calibri"/>
              </a:rPr>
              <a:t>Stop</a:t>
            </a:r>
            <a:r>
              <a:rPr dirty="0" sz="110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sulking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once,</a:t>
            </a:r>
            <a:r>
              <a:rPr dirty="0" sz="110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Amanda! </a:t>
            </a:r>
            <a:r>
              <a:rPr dirty="0" sz="1100" spc="60">
                <a:solidFill>
                  <a:srgbClr val="231F20"/>
                </a:solidFill>
                <a:latin typeface="Calibri"/>
                <a:cs typeface="Calibri"/>
              </a:rPr>
              <a:t>You’re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always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so</a:t>
            </a:r>
            <a:r>
              <a:rPr dirty="0" sz="1100" spc="2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moody,</a:t>
            </a:r>
            <a:r>
              <a:rPr dirty="0" sz="1100" spc="2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231F20"/>
                </a:solidFill>
                <a:latin typeface="Calibri"/>
                <a:cs typeface="Calibri"/>
              </a:rPr>
              <a:t>Amanda!</a:t>
            </a:r>
            <a:endParaRPr sz="1100">
              <a:latin typeface="Calibri"/>
              <a:cs typeface="Calibri"/>
            </a:endParaRPr>
          </a:p>
          <a:p>
            <a:pPr marL="12700" marR="967740">
              <a:lnSpc>
                <a:spcPct val="121800"/>
              </a:lnSpc>
            </a:pP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Anyone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would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114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231F20"/>
                </a:solidFill>
                <a:latin typeface="Calibri"/>
                <a:cs typeface="Calibri"/>
              </a:rPr>
              <a:t>I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85">
                <a:solidFill>
                  <a:srgbClr val="231F20"/>
                </a:solidFill>
                <a:latin typeface="Calibri"/>
                <a:cs typeface="Calibri"/>
              </a:rPr>
              <a:t>nagged</a:t>
            </a:r>
            <a:r>
              <a:rPr dirty="0" sz="110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100" spc="2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31F20"/>
                </a:solidFill>
                <a:latin typeface="Calibri"/>
                <a:cs typeface="Calibri"/>
              </a:rPr>
              <a:t>you, </a:t>
            </a:r>
            <a:r>
              <a:rPr dirty="0" sz="1100" spc="105">
                <a:solidFill>
                  <a:srgbClr val="231F20"/>
                </a:solidFill>
                <a:latin typeface="Calibri"/>
                <a:cs typeface="Calibri"/>
              </a:rPr>
              <a:t>Amanda!</a:t>
            </a:r>
            <a:endParaRPr sz="11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0"/>
              </a:spcBef>
            </a:pPr>
            <a:r>
              <a:rPr dirty="0" cap="small" sz="1200" spc="75">
                <a:solidFill>
                  <a:srgbClr val="231F20"/>
                </a:solidFill>
                <a:latin typeface="Calibri"/>
                <a:cs typeface="Calibri"/>
              </a:rPr>
              <a:t>Robin</a:t>
            </a:r>
            <a:r>
              <a:rPr dirty="0" cap="small" sz="1200" spc="229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cap="small" sz="1200" spc="95">
                <a:solidFill>
                  <a:srgbClr val="231F20"/>
                </a:solidFill>
                <a:latin typeface="Calibri"/>
                <a:cs typeface="Calibri"/>
              </a:rPr>
              <a:t>Klein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04" y="2831470"/>
            <a:ext cx="664198" cy="4451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1700" y="3105150"/>
            <a:ext cx="14839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100"/>
              </a:spcBef>
            </a:pP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languid</a:t>
            </a:r>
            <a:r>
              <a:rPr dirty="0" sz="950" spc="100" b="1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relaxed </a:t>
            </a:r>
            <a:r>
              <a:rPr dirty="0" sz="950" spc="85" b="1">
                <a:solidFill>
                  <a:srgbClr val="00AEEF"/>
                </a:solidFill>
                <a:latin typeface="Calibri"/>
                <a:cs typeface="Calibri"/>
              </a:rPr>
              <a:t>drifting</a:t>
            </a:r>
            <a:r>
              <a:rPr dirty="0" sz="950" spc="85" b="1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7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moving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slowly </a:t>
            </a:r>
            <a:r>
              <a:rPr dirty="0" sz="950" spc="95" b="1">
                <a:solidFill>
                  <a:srgbClr val="00AEEF"/>
                </a:solidFill>
                <a:latin typeface="Calibri"/>
                <a:cs typeface="Calibri"/>
              </a:rPr>
              <a:t>pattern</a:t>
            </a:r>
            <a:r>
              <a:rPr dirty="0" sz="950" spc="95" b="1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make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patterns </a:t>
            </a:r>
            <a:r>
              <a:rPr dirty="0" sz="950" spc="100" b="1">
                <a:solidFill>
                  <a:srgbClr val="00AEEF"/>
                </a:solidFill>
                <a:latin typeface="Calibri"/>
                <a:cs typeface="Calibri"/>
              </a:rPr>
              <a:t>tranquil</a:t>
            </a:r>
            <a:r>
              <a:rPr dirty="0" sz="950" spc="100" b="1">
                <a:solidFill>
                  <a:srgbClr val="231F20"/>
                </a:solidFill>
                <a:latin typeface="Calibri"/>
                <a:cs typeface="Calibri"/>
              </a:rPr>
              <a:t>:</a:t>
            </a:r>
            <a:r>
              <a:rPr dirty="0" sz="950" spc="2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calm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4257294"/>
            <a:ext cx="4827905" cy="181483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393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old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Amanda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is?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How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this?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speaking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her?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Stanzas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2,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4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6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given</a:t>
            </a:r>
            <a:r>
              <a:rPr dirty="0" sz="950" spc="2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04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parenthesis?</a:t>
            </a:r>
            <a:endParaRPr sz="950">
              <a:latin typeface="Calibri"/>
              <a:cs typeface="Calibri"/>
            </a:endParaRPr>
          </a:p>
          <a:p>
            <a:pPr marL="239395" marR="5080" indent="-226695">
              <a:lnSpc>
                <a:spcPts val="1130"/>
              </a:lnSpc>
              <a:spcBef>
                <a:spcPts val="345"/>
              </a:spcBef>
              <a:buAutoNum type="arabicPeriod"/>
              <a:tabLst>
                <a:tab pos="241300" algn="l"/>
              </a:tabLst>
            </a:pP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Who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speaker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Stanzas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2,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4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6?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2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speaker</a:t>
            </a:r>
            <a:r>
              <a:rPr dirty="0" sz="950" spc="2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is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listening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speaker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Stanzas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1,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3,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5,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7?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260"/>
              </a:spcBef>
              <a:buAutoNum type="arabicPeriod"/>
              <a:tabLst>
                <a:tab pos="2393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could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Amanda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were</a:t>
            </a:r>
            <a:r>
              <a:rPr dirty="0" sz="950" spc="2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950" spc="2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mermaid?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5">
                <a:solidFill>
                  <a:srgbClr val="231F20"/>
                </a:solidFill>
                <a:latin typeface="Calibri"/>
                <a:cs typeface="Calibri"/>
              </a:rPr>
              <a:t>Amanda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20"/>
                </a:solidFill>
                <a:latin typeface="Calibri"/>
                <a:cs typeface="Calibri"/>
              </a:rPr>
              <a:t>an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orphan?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say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231F20"/>
                </a:solidFill>
                <a:latin typeface="Calibri"/>
                <a:cs typeface="Calibri"/>
              </a:rPr>
              <a:t>so?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know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20"/>
                </a:solidFill>
                <a:latin typeface="Calibri"/>
                <a:cs typeface="Calibri"/>
              </a:rPr>
              <a:t>story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Rapunzel?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Why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she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want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950" spc="1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950" spc="1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Rapunzel?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20"/>
                </a:solidFill>
                <a:latin typeface="Calibri"/>
                <a:cs typeface="Calibri"/>
              </a:rPr>
              <a:t>girl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yearn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for?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What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does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950" spc="18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20"/>
                </a:solidFill>
                <a:latin typeface="Calibri"/>
                <a:cs typeface="Calibri"/>
              </a:rPr>
              <a:t>poem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20"/>
                </a:solidFill>
                <a:latin typeface="Calibri"/>
                <a:cs typeface="Calibri"/>
              </a:rPr>
              <a:t>tell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about</a:t>
            </a:r>
            <a:r>
              <a:rPr dirty="0" sz="950" spc="18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Amanda?</a:t>
            </a:r>
            <a:endParaRPr sz="95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39395" algn="l"/>
              </a:tabLst>
            </a:pPr>
            <a:r>
              <a:rPr dirty="0" sz="950" spc="85">
                <a:solidFill>
                  <a:srgbClr val="231F20"/>
                </a:solidFill>
                <a:latin typeface="Calibri"/>
                <a:cs typeface="Calibri"/>
              </a:rPr>
              <a:t>Read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last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stanza.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Do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20"/>
                </a:solidFill>
                <a:latin typeface="Calibri"/>
                <a:cs typeface="Calibri"/>
              </a:rPr>
              <a:t>you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think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100">
                <a:solidFill>
                  <a:srgbClr val="231F20"/>
                </a:solidFill>
                <a:latin typeface="Calibri"/>
                <a:cs typeface="Calibri"/>
              </a:rPr>
              <a:t>Amanda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sulking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950" spc="1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950" spc="1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20"/>
                </a:solidFill>
                <a:latin typeface="Calibri"/>
                <a:cs typeface="Calibri"/>
              </a:rPr>
              <a:t>moody?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078" y="3970020"/>
            <a:ext cx="1743702" cy="3079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894" y="2205424"/>
            <a:ext cx="4993060" cy="499306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Reprint</a:t>
            </a:r>
            <a:r>
              <a:rPr dirty="0" spc="-25"/>
              <a:t> </a:t>
            </a:r>
            <a:r>
              <a:rPr dirty="0" spc="-10"/>
              <a:t>2026-</a:t>
            </a: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dtpcell5</dc:creator>
  <dc:title>Chapter 4.pmd</dc:title>
  <dcterms:created xsi:type="dcterms:W3CDTF">2026-05-27T11:23:12Z</dcterms:created>
  <dcterms:modified xsi:type="dcterms:W3CDTF">2026-05-27T11:23:12Z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2017-11-18T00:00:00Z</vt:filetime>
  </property>
  <property fmtid="{D5CDD505-2E9C-101B-9397-08002B2CF9AE}" pid="4" name="Creator">
    <vt:lpwstr>PageMaker 7.0</vt:lpwstr>
  </property>
  <property fmtid="{D5CDD505-2E9C-101B-9397-08002B2CF9AE}" pid="5" name="LastSaved">
    <vt:filetime>2026-05-27T00:00:00Z</vt:filetime>
  </property>
  <property fmtid="{D5CDD505-2E9C-101B-9397-08002B2CF9AE}" pid="6" name="Producer">
    <vt:lpwstr>GPL Ghostscript 8.15</vt:lpwstr>
  </property>
</Properties>
</file>