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7315200" cy="9969500"/>
  <p:notesSz cx="7315200" cy="9969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8640" y="3090545"/>
            <a:ext cx="6217920" cy="2093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7280" y="5582920"/>
            <a:ext cx="5120640" cy="2492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65760" y="2292985"/>
            <a:ext cx="3182112" cy="657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767328" y="2292985"/>
            <a:ext cx="3182112" cy="657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1099" y="8174354"/>
            <a:ext cx="981699" cy="1600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760" y="398780"/>
            <a:ext cx="6583680" cy="159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5760" y="2292985"/>
            <a:ext cx="6583680" cy="657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280587" y="9678334"/>
            <a:ext cx="7543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5760" y="9271635"/>
            <a:ext cx="1682496" cy="49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266944" y="9271635"/>
            <a:ext cx="1682496" cy="49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0.jpg"/><Relationship Id="rId4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Relationship Id="rId10" Type="http://schemas.openxmlformats.org/officeDocument/2006/relationships/image" Target="../media/image32.jpg"/><Relationship Id="rId11" Type="http://schemas.openxmlformats.org/officeDocument/2006/relationships/image" Target="../media/image33.jpg"/><Relationship Id="rId1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34.jpg"/><Relationship Id="rId5" Type="http://schemas.openxmlformats.org/officeDocument/2006/relationships/image" Target="../media/image35.png"/><Relationship Id="rId6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png"/><Relationship Id="rId8" Type="http://schemas.openxmlformats.org/officeDocument/2006/relationships/hyperlink" Target="https://farmer/" TargetMode="External"/><Relationship Id="rId9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4140" y="4277992"/>
            <a:ext cx="408300" cy="4603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1900" y="8312148"/>
            <a:ext cx="3009899" cy="5118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32800" y="0"/>
            <a:ext cx="4082415" cy="2272665"/>
            <a:chOff x="3232800" y="0"/>
            <a:chExt cx="4082415" cy="227266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2400" y="0"/>
              <a:ext cx="3472799" cy="22726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2800" y="165728"/>
              <a:ext cx="1078860" cy="10788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49300" y="2347214"/>
            <a:ext cx="2926715" cy="174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>
              <a:lnSpc>
                <a:spcPct val="100200"/>
              </a:lnSpc>
              <a:spcBef>
                <a:spcPts val="95"/>
              </a:spcBef>
            </a:pP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agriculturally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Two-thirds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population</a:t>
            </a:r>
            <a:r>
              <a:rPr dirty="0" sz="105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engaged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activities.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primary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activity,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which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produces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most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food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that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consume.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Besides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food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grains,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produces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raw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material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various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industries.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>
              <a:lnSpc>
                <a:spcPct val="101099"/>
              </a:lnSpc>
              <a:spcBef>
                <a:spcPts val="605"/>
              </a:spcBef>
            </a:pPr>
            <a:r>
              <a:rPr dirty="0" sz="950" spc="190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3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35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3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45" b="1" i="1">
                <a:solidFill>
                  <a:srgbClr val="6D6F71"/>
                </a:solidFill>
                <a:latin typeface="Calibri"/>
                <a:cs typeface="Calibri"/>
              </a:rPr>
              <a:t>name</a:t>
            </a:r>
            <a:r>
              <a:rPr dirty="0" sz="950" spc="3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some</a:t>
            </a:r>
            <a:r>
              <a:rPr dirty="0" sz="950" spc="3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50" b="1" i="1">
                <a:solidFill>
                  <a:srgbClr val="6D6F71"/>
                </a:solidFill>
                <a:latin typeface="Calibri"/>
                <a:cs typeface="Calibri"/>
              </a:rPr>
              <a:t>industries</a:t>
            </a:r>
            <a:r>
              <a:rPr dirty="0" sz="950" spc="3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based</a:t>
            </a:r>
            <a:r>
              <a:rPr dirty="0" sz="950" spc="3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25" b="1" i="1">
                <a:solidFill>
                  <a:srgbClr val="6D6F71"/>
                </a:solidFill>
                <a:latin typeface="Calibri"/>
                <a:cs typeface="Calibri"/>
              </a:rPr>
              <a:t>on</a:t>
            </a:r>
            <a:r>
              <a:rPr dirty="0" sz="9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agricultural</a:t>
            </a:r>
            <a:r>
              <a:rPr dirty="0" sz="950" spc="1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85" b="1" i="1">
                <a:solidFill>
                  <a:srgbClr val="6D6F71"/>
                </a:solidFill>
                <a:latin typeface="Calibri"/>
                <a:cs typeface="Calibri"/>
              </a:rPr>
              <a:t>raw</a:t>
            </a:r>
            <a:r>
              <a:rPr dirty="0" sz="950" spc="1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85" b="1" i="1">
                <a:solidFill>
                  <a:srgbClr val="6D6F71"/>
                </a:solidFill>
                <a:latin typeface="Calibri"/>
                <a:cs typeface="Calibri"/>
              </a:rPr>
              <a:t>material?</a:t>
            </a:r>
            <a:endParaRPr sz="950">
              <a:latin typeface="Calibri"/>
              <a:cs typeface="Calibri"/>
            </a:endParaRPr>
          </a:p>
          <a:p>
            <a:pPr algn="just" marL="12700" marR="10795">
              <a:lnSpc>
                <a:spcPct val="101000"/>
              </a:lnSpc>
              <a:spcBef>
                <a:spcPts val="545"/>
              </a:spcBef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Moreover,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products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like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tea,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coffee,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spices,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etc.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exported.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1" y="4154346"/>
            <a:ext cx="2932430" cy="1767839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cap="small" sz="1200" spc="125" b="1">
                <a:solidFill>
                  <a:srgbClr val="6D6F71"/>
                </a:solidFill>
                <a:latin typeface="Calibri"/>
                <a:cs typeface="Calibri"/>
              </a:rPr>
              <a:t>Types</a:t>
            </a:r>
            <a:r>
              <a:rPr dirty="0" sz="850" spc="1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1200" spc="95" b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850" spc="1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1200" spc="65" b="1">
                <a:solidFill>
                  <a:srgbClr val="6D6F71"/>
                </a:solidFill>
                <a:latin typeface="Calibri"/>
                <a:cs typeface="Calibri"/>
              </a:rPr>
              <a:t>Farming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434"/>
              </a:spcBef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age-old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economic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activity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our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Over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years,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methods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have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changed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significantly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depending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upon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9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40">
                <a:solidFill>
                  <a:srgbClr val="231F20"/>
                </a:solidFill>
                <a:latin typeface="Palatino Linotype"/>
                <a:cs typeface="Palatino Linotype"/>
              </a:rPr>
              <a:t>characteristics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9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physical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environment,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technological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know-how</a:t>
            </a:r>
            <a:r>
              <a:rPr dirty="0" sz="105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socio-cultural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practices.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Farming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varies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subsistence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commercial</a:t>
            </a:r>
            <a:r>
              <a:rPr dirty="0" sz="10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type.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At</a:t>
            </a:r>
            <a:r>
              <a:rPr dirty="0" sz="10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present,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different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parts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India,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following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farming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systems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practised.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301" y="5972804"/>
            <a:ext cx="2932430" cy="28206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00"/>
              </a:spcBef>
            </a:pPr>
            <a:r>
              <a:rPr dirty="0" sz="1050" spc="105" b="1">
                <a:solidFill>
                  <a:srgbClr val="6D6F71"/>
                </a:solidFill>
                <a:latin typeface="Calibri"/>
                <a:cs typeface="Calibri"/>
              </a:rPr>
              <a:t>Primitive</a:t>
            </a:r>
            <a:r>
              <a:rPr dirty="0" sz="1050" spc="2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35" b="1">
                <a:solidFill>
                  <a:srgbClr val="6D6F71"/>
                </a:solidFill>
                <a:latin typeface="Calibri"/>
                <a:cs typeface="Calibri"/>
              </a:rPr>
              <a:t>Subsistence</a:t>
            </a:r>
            <a:r>
              <a:rPr dirty="0" sz="1050" spc="2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35" b="1">
                <a:solidFill>
                  <a:srgbClr val="6D6F71"/>
                </a:solidFill>
                <a:latin typeface="Calibri"/>
                <a:cs typeface="Calibri"/>
              </a:rPr>
              <a:t>Farming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type</a:t>
            </a:r>
            <a:r>
              <a:rPr dirty="0" sz="105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farming</a:t>
            </a:r>
            <a:r>
              <a:rPr dirty="0" sz="105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still</a:t>
            </a:r>
            <a:r>
              <a:rPr dirty="0" sz="105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practised</a:t>
            </a:r>
            <a:r>
              <a:rPr dirty="0" sz="105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few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pockets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India.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Primitive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subsistence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practised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small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patches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with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help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primitive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tools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like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hoe,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dao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digging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sticks,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30">
                <a:solidFill>
                  <a:srgbClr val="231F20"/>
                </a:solidFill>
                <a:latin typeface="Palatino Linotype"/>
                <a:cs typeface="Palatino Linotype"/>
              </a:rPr>
              <a:t>family/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community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labour.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type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farming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depends</a:t>
            </a:r>
            <a:r>
              <a:rPr dirty="0" sz="105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upon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monsoon,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natural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fertility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soil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suitability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environmental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conditions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grown.</a:t>
            </a:r>
            <a:endParaRPr sz="1050">
              <a:latin typeface="Palatino Linotype"/>
              <a:cs typeface="Palatino Linotype"/>
            </a:endParaRPr>
          </a:p>
          <a:p>
            <a:pPr algn="just" marL="12700" indent="228600">
              <a:lnSpc>
                <a:spcPts val="1250"/>
              </a:lnSpc>
            </a:pP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‘slash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burn’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agriculture.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13970">
              <a:lnSpc>
                <a:spcPct val="99800"/>
              </a:lnSpc>
              <a:spcBef>
                <a:spcPts val="15"/>
              </a:spcBef>
            </a:pP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clear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patch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produce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cereals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food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sustain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their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family.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When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soil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fertility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decreases,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shift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clear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fresh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patch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cultivation.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type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shifting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allows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Nature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replenish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fertility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soil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73501" y="2347208"/>
            <a:ext cx="2927985" cy="4065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>
              <a:lnSpc>
                <a:spcPct val="100000"/>
              </a:lnSpc>
              <a:spcBef>
                <a:spcPts val="100"/>
              </a:spcBef>
            </a:pP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through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natural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processes;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productivity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type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low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farmer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does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not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use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fertilisers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or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modern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inputs.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known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different</a:t>
            </a:r>
            <a:r>
              <a:rPr dirty="0" sz="1050" spc="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names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different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parts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endParaRPr sz="1050">
              <a:latin typeface="Palatino Linotype"/>
              <a:cs typeface="Palatino Linotype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</a:pPr>
            <a:r>
              <a:rPr dirty="0" sz="950" spc="165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name</a:t>
            </a:r>
            <a:r>
              <a:rPr dirty="0" sz="950" spc="48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some</a:t>
            </a:r>
            <a:r>
              <a:rPr dirty="0" sz="9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50" b="1" i="1">
                <a:solidFill>
                  <a:srgbClr val="6D6F71"/>
                </a:solidFill>
                <a:latin typeface="Calibri"/>
                <a:cs typeface="Calibri"/>
              </a:rPr>
              <a:t>such</a:t>
            </a:r>
            <a:r>
              <a:rPr dirty="0" sz="9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00" b="1" i="1">
                <a:solidFill>
                  <a:srgbClr val="6D6F71"/>
                </a:solidFill>
                <a:latin typeface="Calibri"/>
                <a:cs typeface="Calibri"/>
              </a:rPr>
              <a:t>types</a:t>
            </a:r>
            <a:r>
              <a:rPr dirty="0" sz="9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50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90" b="1" i="1">
                <a:solidFill>
                  <a:srgbClr val="6D6F71"/>
                </a:solidFill>
                <a:latin typeface="Calibri"/>
                <a:cs typeface="Calibri"/>
              </a:rPr>
              <a:t>farmings?</a:t>
            </a:r>
            <a:endParaRPr sz="950">
              <a:latin typeface="Calibri"/>
              <a:cs typeface="Calibri"/>
            </a:endParaRPr>
          </a:p>
          <a:p>
            <a:pPr algn="just" marL="12700" marR="5080" indent="228600">
              <a:lnSpc>
                <a:spcPct val="100000"/>
              </a:lnSpc>
              <a:spcBef>
                <a:spcPts val="560"/>
              </a:spcBef>
            </a:pP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5" i="1">
                <a:solidFill>
                  <a:srgbClr val="231F20"/>
                </a:solidFill>
                <a:latin typeface="Calibri"/>
                <a:cs typeface="Calibri"/>
              </a:rPr>
              <a:t>jhumming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north-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eastern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like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Assam,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Meghalaya,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Mizoram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Nagaland;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Pamlou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Manipur,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Dipa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Bastar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district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Chhattishgarh,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Andaman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Nicobar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Islands.</a:t>
            </a:r>
            <a:endParaRPr sz="1050">
              <a:latin typeface="Palatino Linotype"/>
              <a:cs typeface="Palatino Linotype"/>
            </a:endParaRPr>
          </a:p>
          <a:p>
            <a:pPr algn="just" marL="165100" marR="162560">
              <a:lnSpc>
                <a:spcPct val="97600"/>
              </a:lnSpc>
              <a:spcBef>
                <a:spcPts val="880"/>
              </a:spcBef>
            </a:pPr>
            <a:r>
              <a:rPr dirty="0" sz="1050" spc="-30" b="1">
                <a:solidFill>
                  <a:srgbClr val="6D6F71"/>
                </a:solidFill>
                <a:latin typeface="Tahoma"/>
                <a:cs typeface="Tahoma"/>
              </a:rPr>
              <a:t>Jhumming:</a:t>
            </a:r>
            <a:r>
              <a:rPr dirty="0" sz="1050" spc="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‘slash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burn’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is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known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‘Milpa’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Mexico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Central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America,</a:t>
            </a:r>
            <a:r>
              <a:rPr dirty="0" sz="1050" spc="2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‘Conuco’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Venzuela,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‘Roca’</a:t>
            </a:r>
            <a:r>
              <a:rPr dirty="0" sz="1050" spc="1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Brazil,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‘Masole’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Central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Africa,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‘Ladang’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Indonesia,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‘Ray’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Vietnam.</a:t>
            </a:r>
            <a:endParaRPr sz="1050">
              <a:latin typeface="Trebuchet MS"/>
              <a:cs typeface="Trebuchet MS"/>
            </a:endParaRPr>
          </a:p>
          <a:p>
            <a:pPr algn="just" marL="165100" marR="161290" indent="228600">
              <a:lnSpc>
                <a:spcPts val="1220"/>
              </a:lnSpc>
              <a:spcBef>
                <a:spcPts val="40"/>
              </a:spcBef>
            </a:pP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India,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this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primitive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form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cultivation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is</a:t>
            </a:r>
            <a:r>
              <a:rPr dirty="0" sz="1050" spc="2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called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‘Bewar’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or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‘Dahiya’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6D6F71"/>
                </a:solidFill>
                <a:latin typeface="Trebuchet MS"/>
                <a:cs typeface="Trebuchet MS"/>
              </a:rPr>
              <a:t>Madhya</a:t>
            </a:r>
            <a:endParaRPr sz="1050">
              <a:latin typeface="Trebuchet MS"/>
              <a:cs typeface="Trebuchet MS"/>
            </a:endParaRPr>
          </a:p>
          <a:p>
            <a:pPr algn="just" marL="165100" marR="160655">
              <a:lnSpc>
                <a:spcPts val="1220"/>
              </a:lnSpc>
              <a:spcBef>
                <a:spcPts val="30"/>
              </a:spcBef>
            </a:pPr>
            <a:r>
              <a:rPr dirty="0" sz="1050" spc="-40">
                <a:solidFill>
                  <a:srgbClr val="6D6F71"/>
                </a:solidFill>
                <a:latin typeface="Trebuchet MS"/>
                <a:cs typeface="Trebuchet MS"/>
              </a:rPr>
              <a:t>Pradesh,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60">
                <a:solidFill>
                  <a:srgbClr val="6D6F71"/>
                </a:solidFill>
                <a:latin typeface="Trebuchet MS"/>
                <a:cs typeface="Trebuchet MS"/>
              </a:rPr>
              <a:t>‘Podu’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6D6F71"/>
                </a:solidFill>
                <a:latin typeface="Trebuchet MS"/>
                <a:cs typeface="Trebuchet MS"/>
              </a:rPr>
              <a:t>or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55">
                <a:solidFill>
                  <a:srgbClr val="6D6F71"/>
                </a:solidFill>
                <a:latin typeface="Trebuchet MS"/>
                <a:cs typeface="Trebuchet MS"/>
              </a:rPr>
              <a:t>‘Penda’</a:t>
            </a:r>
            <a:r>
              <a:rPr dirty="0" sz="10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Andhra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Pradesh,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‘Pama</a:t>
            </a:r>
            <a:r>
              <a:rPr dirty="0" sz="1050" spc="-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Dabi’</a:t>
            </a:r>
            <a:r>
              <a:rPr dirty="0" sz="1050" spc="-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or</a:t>
            </a:r>
            <a:r>
              <a:rPr dirty="0" sz="1050" spc="-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‘Koman’</a:t>
            </a:r>
            <a:r>
              <a:rPr dirty="0" sz="1050" spc="-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or</a:t>
            </a:r>
            <a:r>
              <a:rPr dirty="0" sz="1050" spc="-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Bringa’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Odisha,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0">
                <a:solidFill>
                  <a:srgbClr val="6D6F71"/>
                </a:solidFill>
                <a:latin typeface="Trebuchet MS"/>
                <a:cs typeface="Trebuchet MS"/>
              </a:rPr>
              <a:t>‘Kumari’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Western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Ghats,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6D6F71"/>
                </a:solidFill>
                <a:latin typeface="Trebuchet MS"/>
                <a:cs typeface="Trebuchet MS"/>
              </a:rPr>
              <a:t>‘Valre’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or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‘Waltre’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2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South-eastern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Rajasthan,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‘Khil’</a:t>
            </a:r>
            <a:r>
              <a:rPr dirty="0" sz="1050" spc="2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2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endParaRPr sz="1050">
              <a:latin typeface="Trebuchet MS"/>
              <a:cs typeface="Trebuchet MS"/>
            </a:endParaRPr>
          </a:p>
          <a:p>
            <a:pPr algn="just" marL="165100" marR="163830">
              <a:lnSpc>
                <a:spcPts val="1220"/>
              </a:lnSpc>
              <a:spcBef>
                <a:spcPts val="40"/>
              </a:spcBef>
            </a:pP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Himalayan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65">
                <a:solidFill>
                  <a:srgbClr val="6D6F71"/>
                </a:solidFill>
                <a:latin typeface="Trebuchet MS"/>
                <a:cs typeface="Trebuchet MS"/>
              </a:rPr>
              <a:t>belt,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‘Kuruwa’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Jharkhand,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‘Jhumming’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North-eastern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region.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56709" y="6457950"/>
            <a:ext cx="2389500" cy="21526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98799" y="8618264"/>
            <a:ext cx="473709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100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95" b="1" i="1">
                <a:solidFill>
                  <a:srgbClr val="6D6F71"/>
                </a:solidFill>
                <a:latin typeface="Calibri"/>
                <a:cs typeface="Calibri"/>
              </a:rPr>
              <a:t>4.1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30" y="2313938"/>
            <a:ext cx="2998469" cy="511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6889" y="727073"/>
            <a:ext cx="408300" cy="4603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700" y="3018281"/>
            <a:ext cx="2921635" cy="65214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45"/>
              </a:spcBef>
            </a:pPr>
            <a:r>
              <a:rPr dirty="0" sz="950" spc="150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2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name</a:t>
            </a:r>
            <a:r>
              <a:rPr dirty="0" sz="9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the</a:t>
            </a:r>
            <a:r>
              <a:rPr dirty="0" sz="9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5" b="1" i="1">
                <a:solidFill>
                  <a:srgbClr val="6D6F71"/>
                </a:solidFill>
                <a:latin typeface="Calibri"/>
                <a:cs typeface="Calibri"/>
              </a:rPr>
              <a:t>type</a:t>
            </a:r>
            <a:r>
              <a:rPr dirty="0" sz="950" spc="2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80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5" b="1" i="1">
                <a:solidFill>
                  <a:srgbClr val="6D6F71"/>
                </a:solidFill>
                <a:latin typeface="Calibri"/>
                <a:cs typeface="Calibri"/>
              </a:rPr>
              <a:t>farming</a:t>
            </a:r>
            <a:r>
              <a:rPr dirty="0" sz="9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Rinjha’s 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family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5" b="1" i="1">
                <a:solidFill>
                  <a:srgbClr val="6D6F71"/>
                </a:solidFill>
                <a:latin typeface="Calibri"/>
                <a:cs typeface="Calibri"/>
              </a:rPr>
              <a:t>is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0" b="1" i="1">
                <a:solidFill>
                  <a:srgbClr val="6D6F71"/>
                </a:solidFill>
                <a:latin typeface="Calibri"/>
                <a:cs typeface="Calibri"/>
              </a:rPr>
              <a:t>engaged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in?</a:t>
            </a:r>
            <a:endParaRPr sz="950">
              <a:latin typeface="Calibri"/>
              <a:cs typeface="Calibri"/>
            </a:endParaRPr>
          </a:p>
          <a:p>
            <a:pPr marL="12700" marR="5080">
              <a:lnSpc>
                <a:spcPct val="107400"/>
              </a:lnSpc>
              <a:spcBef>
                <a:spcPts val="175"/>
              </a:spcBef>
            </a:pPr>
            <a:r>
              <a:rPr dirty="0" sz="950" spc="150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2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2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enlist</a:t>
            </a:r>
            <a:r>
              <a:rPr dirty="0" sz="950" spc="2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some</a:t>
            </a:r>
            <a:r>
              <a:rPr dirty="0" sz="950" spc="2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crops</a:t>
            </a:r>
            <a:r>
              <a:rPr dirty="0" sz="950" spc="2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which</a:t>
            </a:r>
            <a:r>
              <a:rPr dirty="0" sz="950" spc="2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are</a:t>
            </a:r>
            <a:r>
              <a:rPr dirty="0" sz="950" spc="2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5" b="1" i="1">
                <a:solidFill>
                  <a:srgbClr val="6D6F71"/>
                </a:solidFill>
                <a:latin typeface="Calibri"/>
                <a:cs typeface="Calibri"/>
              </a:rPr>
              <a:t>grown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in</a:t>
            </a:r>
            <a:r>
              <a:rPr dirty="0" sz="950" spc="13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such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farming?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3723385"/>
            <a:ext cx="2931795" cy="27838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00"/>
              </a:spcBef>
            </a:pPr>
            <a:r>
              <a:rPr dirty="0" sz="1050" spc="120" b="1">
                <a:solidFill>
                  <a:srgbClr val="6D6F71"/>
                </a:solidFill>
                <a:latin typeface="Calibri"/>
                <a:cs typeface="Calibri"/>
              </a:rPr>
              <a:t>Intensive</a:t>
            </a:r>
            <a:r>
              <a:rPr dirty="0" sz="1050" spc="305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20" b="1">
                <a:solidFill>
                  <a:srgbClr val="6D6F71"/>
                </a:solidFill>
                <a:latin typeface="Calibri"/>
                <a:cs typeface="Calibri"/>
              </a:rPr>
              <a:t>Subsistence</a:t>
            </a:r>
            <a:r>
              <a:rPr dirty="0" sz="1050" spc="310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30" b="1">
                <a:solidFill>
                  <a:srgbClr val="6D6F71"/>
                </a:solidFill>
                <a:latin typeface="Calibri"/>
                <a:cs typeface="Calibri"/>
              </a:rPr>
              <a:t>Farming</a:t>
            </a:r>
            <a:endParaRPr sz="1050">
              <a:latin typeface="Calibri"/>
              <a:cs typeface="Calibri"/>
            </a:endParaRPr>
          </a:p>
          <a:p>
            <a:pPr algn="just" marL="12700" marR="7620">
              <a:lnSpc>
                <a:spcPct val="100000"/>
              </a:lnSpc>
              <a:spcBef>
                <a:spcPts val="300"/>
              </a:spcBef>
            </a:pP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type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farming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practised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areas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high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population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pressure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land.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labour-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intensive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farming,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high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doses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biochemical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inputs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irrigation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used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obtaining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higher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production.</a:t>
            </a:r>
            <a:endParaRPr sz="1050">
              <a:latin typeface="Calibri"/>
              <a:cs typeface="Calibri"/>
            </a:endParaRPr>
          </a:p>
          <a:p>
            <a:pPr algn="just" marL="12700" marR="12700">
              <a:lnSpc>
                <a:spcPct val="101099"/>
              </a:lnSpc>
              <a:spcBef>
                <a:spcPts val="600"/>
              </a:spcBef>
            </a:pPr>
            <a:r>
              <a:rPr dirty="0" sz="950" spc="160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3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30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name</a:t>
            </a:r>
            <a:r>
              <a:rPr dirty="0" sz="950" spc="3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some</a:t>
            </a:r>
            <a:r>
              <a:rPr dirty="0" sz="950" spc="30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0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50" spc="3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the</a:t>
            </a:r>
            <a:r>
              <a:rPr dirty="0" sz="950" spc="30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states</a:t>
            </a:r>
            <a:r>
              <a:rPr dirty="0" sz="950" spc="30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0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50" spc="3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35" b="1" i="1">
                <a:solidFill>
                  <a:srgbClr val="6D6F71"/>
                </a:solidFill>
                <a:latin typeface="Calibri"/>
                <a:cs typeface="Calibri"/>
              </a:rPr>
              <a:t>India </a:t>
            </a:r>
            <a:r>
              <a:rPr dirty="0" sz="950" spc="100" b="1" i="1">
                <a:solidFill>
                  <a:srgbClr val="6D6F71"/>
                </a:solidFill>
                <a:latin typeface="Calibri"/>
                <a:cs typeface="Calibri"/>
              </a:rPr>
              <a:t>where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40" b="1" i="1">
                <a:solidFill>
                  <a:srgbClr val="6D6F71"/>
                </a:solidFill>
                <a:latin typeface="Calibri"/>
                <a:cs typeface="Calibri"/>
              </a:rPr>
              <a:t>such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 farming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5" b="1" i="1">
                <a:solidFill>
                  <a:srgbClr val="6D6F71"/>
                </a:solidFill>
                <a:latin typeface="Calibri"/>
                <a:cs typeface="Calibri"/>
              </a:rPr>
              <a:t>is</a:t>
            </a:r>
            <a:r>
              <a:rPr dirty="0" sz="950" spc="12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practised?</a:t>
            </a:r>
            <a:endParaRPr sz="950">
              <a:latin typeface="Calibri"/>
              <a:cs typeface="Calibri"/>
            </a:endParaRPr>
          </a:p>
          <a:p>
            <a:pPr algn="just" marL="12700" marR="5080" indent="228600">
              <a:lnSpc>
                <a:spcPct val="99900"/>
              </a:lnSpc>
              <a:spcBef>
                <a:spcPts val="585"/>
              </a:spcBef>
            </a:pP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Though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‘right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inheritance’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leading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division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land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among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successive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generations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rendered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land-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holding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size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uneconomical,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farmers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continue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take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maximum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output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limited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land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absence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alternative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source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livelihood. 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Thus,</a:t>
            </a:r>
            <a:r>
              <a:rPr dirty="0" sz="1050" spc="4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050" spc="4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4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enormous</a:t>
            </a:r>
            <a:r>
              <a:rPr dirty="0" sz="1050" spc="4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pressure</a:t>
            </a:r>
            <a:r>
              <a:rPr dirty="0" sz="1050" spc="4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on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agricultural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land.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00" y="6558025"/>
            <a:ext cx="2921000" cy="1701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00"/>
              </a:spcBef>
            </a:pPr>
            <a:r>
              <a:rPr dirty="0" sz="1050" spc="135" b="1">
                <a:solidFill>
                  <a:srgbClr val="6D6F71"/>
                </a:solidFill>
                <a:latin typeface="Calibri"/>
                <a:cs typeface="Calibri"/>
              </a:rPr>
              <a:t>Commercial</a:t>
            </a:r>
            <a:r>
              <a:rPr dirty="0" sz="1050" spc="350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35" b="1">
                <a:solidFill>
                  <a:srgbClr val="6D6F71"/>
                </a:solidFill>
                <a:latin typeface="Calibri"/>
                <a:cs typeface="Calibri"/>
              </a:rPr>
              <a:t>Farming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1000"/>
              </a:lnSpc>
              <a:spcBef>
                <a:spcPts val="285"/>
              </a:spcBef>
            </a:pP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main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characteristic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type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farming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higher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doses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modern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inputs,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ts val="1250"/>
              </a:lnSpc>
            </a:pP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e.g.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high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yielding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variety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(HYV)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seeds,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chemical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99800"/>
              </a:lnSpc>
              <a:spcBef>
                <a:spcPts val="15"/>
              </a:spcBef>
            </a:pP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fertilisers,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insecticides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pesticides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order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obtain</a:t>
            </a:r>
            <a:r>
              <a:rPr dirty="0" sz="10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higher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productivity.</a:t>
            </a:r>
            <a:r>
              <a:rPr dirty="0" sz="10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degree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commercialisation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varies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from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region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another.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commercial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Haryana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Punjab,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but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Odisha,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a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subsistence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crop.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700" y="8352281"/>
            <a:ext cx="292227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155" b="1" i="1">
                <a:solidFill>
                  <a:srgbClr val="6D6F71"/>
                </a:solidFill>
                <a:latin typeface="Calibri"/>
                <a:cs typeface="Calibri"/>
              </a:rPr>
              <a:t>Can</a:t>
            </a:r>
            <a:r>
              <a:rPr dirty="0" sz="950" spc="28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you</a:t>
            </a:r>
            <a:r>
              <a:rPr dirty="0" sz="950" spc="28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85" b="1" i="1">
                <a:solidFill>
                  <a:srgbClr val="6D6F71"/>
                </a:solidFill>
                <a:latin typeface="Calibri"/>
                <a:cs typeface="Calibri"/>
              </a:rPr>
              <a:t>give</a:t>
            </a:r>
            <a:r>
              <a:rPr dirty="0" sz="950" spc="28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some</a:t>
            </a:r>
            <a:r>
              <a:rPr dirty="0" sz="950" spc="28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5" b="1" i="1">
                <a:solidFill>
                  <a:srgbClr val="6D6F71"/>
                </a:solidFill>
                <a:latin typeface="Calibri"/>
                <a:cs typeface="Calibri"/>
              </a:rPr>
              <a:t>more</a:t>
            </a:r>
            <a:r>
              <a:rPr dirty="0" sz="950" spc="28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25" b="1" i="1">
                <a:solidFill>
                  <a:srgbClr val="6D6F71"/>
                </a:solidFill>
                <a:latin typeface="Calibri"/>
                <a:cs typeface="Calibri"/>
              </a:rPr>
              <a:t>examples</a:t>
            </a:r>
            <a:r>
              <a:rPr dirty="0" sz="950" spc="28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85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50" spc="28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crops </a:t>
            </a:r>
            <a:r>
              <a:rPr dirty="0" sz="950" spc="135" b="1" i="1">
                <a:solidFill>
                  <a:srgbClr val="6D6F71"/>
                </a:solidFill>
                <a:latin typeface="Calibri"/>
                <a:cs typeface="Calibri"/>
              </a:rPr>
              <a:t>which</a:t>
            </a:r>
            <a:r>
              <a:rPr dirty="0" sz="950" spc="19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may</a:t>
            </a:r>
            <a:r>
              <a:rPr dirty="0" sz="95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60" b="1" i="1">
                <a:solidFill>
                  <a:srgbClr val="6D6F71"/>
                </a:solidFill>
                <a:latin typeface="Calibri"/>
                <a:cs typeface="Calibri"/>
              </a:rPr>
              <a:t>be</a:t>
            </a:r>
            <a:r>
              <a:rPr dirty="0" sz="950" spc="19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commercial</a:t>
            </a:r>
            <a:r>
              <a:rPr dirty="0" sz="95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in</a:t>
            </a:r>
            <a:r>
              <a:rPr dirty="0" sz="950" spc="19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85" b="1" i="1">
                <a:solidFill>
                  <a:srgbClr val="6D6F71"/>
                </a:solidFill>
                <a:latin typeface="Calibri"/>
                <a:cs typeface="Calibri"/>
              </a:rPr>
              <a:t>one</a:t>
            </a:r>
            <a:r>
              <a:rPr dirty="0" sz="95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00" b="1" i="1">
                <a:solidFill>
                  <a:srgbClr val="6D6F71"/>
                </a:solidFill>
                <a:latin typeface="Calibri"/>
                <a:cs typeface="Calibri"/>
              </a:rPr>
              <a:t>region</a:t>
            </a:r>
            <a:r>
              <a:rPr dirty="0" sz="95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4" b="1" i="1">
                <a:solidFill>
                  <a:srgbClr val="6D6F71"/>
                </a:solidFill>
                <a:latin typeface="Calibri"/>
                <a:cs typeface="Calibri"/>
              </a:rPr>
              <a:t>and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may</a:t>
            </a:r>
            <a:r>
              <a:rPr dirty="0" sz="950" spc="1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5" b="1" i="1">
                <a:solidFill>
                  <a:srgbClr val="6D6F71"/>
                </a:solidFill>
                <a:latin typeface="Calibri"/>
                <a:cs typeface="Calibri"/>
              </a:rPr>
              <a:t>provide</a:t>
            </a:r>
            <a:r>
              <a:rPr dirty="0" sz="950" spc="1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subsistence</a:t>
            </a:r>
            <a:r>
              <a:rPr dirty="0" sz="950" spc="1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30" b="1" i="1">
                <a:solidFill>
                  <a:srgbClr val="6D6F71"/>
                </a:solidFill>
                <a:latin typeface="Calibri"/>
                <a:cs typeface="Calibri"/>
              </a:rPr>
              <a:t>in</a:t>
            </a:r>
            <a:r>
              <a:rPr dirty="0" sz="950" spc="1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110" b="1" i="1">
                <a:solidFill>
                  <a:srgbClr val="6D6F71"/>
                </a:solidFill>
                <a:latin typeface="Calibri"/>
                <a:cs typeface="Calibri"/>
              </a:rPr>
              <a:t>another</a:t>
            </a:r>
            <a:r>
              <a:rPr dirty="0" sz="950" spc="1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50" spc="95" b="1" i="1">
                <a:solidFill>
                  <a:srgbClr val="6D6F71"/>
                </a:solidFill>
                <a:latin typeface="Calibri"/>
                <a:cs typeface="Calibri"/>
              </a:rPr>
              <a:t>region?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4900" y="789685"/>
            <a:ext cx="2931795" cy="320294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just" marL="12700" marR="11430" indent="228600">
              <a:lnSpc>
                <a:spcPct val="104800"/>
              </a:lnSpc>
              <a:spcBef>
                <a:spcPts val="40"/>
              </a:spcBef>
            </a:pP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type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commercial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farming.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 type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farming,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single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 crop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large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area.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has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5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interface</a:t>
            </a:r>
            <a:r>
              <a:rPr dirty="0" sz="105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r>
              <a:rPr dirty="0" sz="105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industry.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Plantations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cover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large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tracts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land,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using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capital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intensive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inputs,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help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migrant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labourers.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produce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used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raw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 material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respective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industries.</a:t>
            </a:r>
            <a:endParaRPr sz="1050">
              <a:latin typeface="Calibri"/>
              <a:cs typeface="Calibri"/>
            </a:endParaRPr>
          </a:p>
          <a:p>
            <a:pPr algn="just" marL="12700" marR="5080" indent="228600">
              <a:lnSpc>
                <a:spcPct val="104800"/>
              </a:lnSpc>
            </a:pP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India,</a:t>
            </a:r>
            <a:r>
              <a:rPr dirty="0" sz="10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tea,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coffee,</a:t>
            </a:r>
            <a:r>
              <a:rPr dirty="0" sz="10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rubber,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sugarcane,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banana,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etc.,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crops.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Tea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Assam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North</a:t>
            </a:r>
            <a:r>
              <a:rPr dirty="0" sz="10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Bengal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coffee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Karnataka</a:t>
            </a:r>
            <a:r>
              <a:rPr dirty="0" sz="1050" spc="4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4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50" spc="4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4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4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important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states.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Since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production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mainly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for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market,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well-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developed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network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transport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communication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connecting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plantation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areas,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processing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industries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markets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plays</a:t>
            </a:r>
            <a:r>
              <a:rPr dirty="0" sz="10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role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development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plantations.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783590"/>
            <a:ext cx="2621280" cy="1947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99"/>
              </a:lnSpc>
              <a:spcBef>
                <a:spcPts val="95"/>
              </a:spcBef>
            </a:pP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Rinjha</a:t>
            </a:r>
            <a:r>
              <a:rPr dirty="0" sz="1050" spc="-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lived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0">
                <a:solidFill>
                  <a:srgbClr val="6D6F71"/>
                </a:solidFill>
                <a:latin typeface="Trebuchet MS"/>
                <a:cs typeface="Trebuchet MS"/>
              </a:rPr>
              <a:t>with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her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family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a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small</a:t>
            </a:r>
            <a:r>
              <a:rPr dirty="0" sz="1050" spc="-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village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65">
                <a:solidFill>
                  <a:srgbClr val="6D6F71"/>
                </a:solidFill>
                <a:latin typeface="Trebuchet MS"/>
                <a:cs typeface="Trebuchet MS"/>
              </a:rPr>
              <a:t>at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outskirts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Diphu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Assam.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She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enjoys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watching</a:t>
            </a:r>
            <a:r>
              <a:rPr dirty="0" sz="1050" spc="4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her</a:t>
            </a:r>
            <a:r>
              <a:rPr dirty="0" sz="1050" spc="4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family</a:t>
            </a:r>
            <a:r>
              <a:rPr dirty="0" sz="1050" spc="4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members</a:t>
            </a:r>
            <a:r>
              <a:rPr dirty="0" sz="1050" spc="4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clearing,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slashing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2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burning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a</a:t>
            </a:r>
            <a:r>
              <a:rPr dirty="0" sz="1050" spc="2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patch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2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for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6D6F71"/>
                </a:solidFill>
                <a:latin typeface="Trebuchet MS"/>
                <a:cs typeface="Trebuchet MS"/>
              </a:rPr>
              <a:t>cultivation.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She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6D6F71"/>
                </a:solidFill>
                <a:latin typeface="Trebuchet MS"/>
                <a:cs typeface="Trebuchet MS"/>
              </a:rPr>
              <a:t>often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helps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them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irrigating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fields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with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water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running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through</a:t>
            </a:r>
            <a:r>
              <a:rPr dirty="0" sz="105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6D6F71"/>
                </a:solidFill>
                <a:latin typeface="Trebuchet MS"/>
                <a:cs typeface="Trebuchet MS"/>
              </a:rPr>
              <a:t>a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bamboo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canal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from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nearby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spring.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She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loves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surroundings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wants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stay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here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long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she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can,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but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this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little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girl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has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no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idea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about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declining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D6F71"/>
                </a:solidFill>
                <a:latin typeface="Trebuchet MS"/>
                <a:cs typeface="Trebuchet MS"/>
              </a:rPr>
              <a:t>fertility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soil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her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family’s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search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for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fresh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6D6F71"/>
                </a:solidFill>
                <a:latin typeface="Trebuchet MS"/>
                <a:cs typeface="Trebuchet MS"/>
              </a:rPr>
              <a:t>a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patch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next</a:t>
            </a:r>
            <a:r>
              <a:rPr dirty="0" sz="1050" spc="-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season.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5908" y="891616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solidFill>
                  <a:srgbClr val="6D6F71"/>
                </a:solidFill>
                <a:latin typeface="Trebuchet MS"/>
                <a:cs typeface="Trebuchet MS"/>
              </a:rPr>
              <a:t>31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1884" y="8916161"/>
            <a:ext cx="6407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738359"/>
            <a:ext cx="7315200" cy="2285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3939" y="3998588"/>
            <a:ext cx="2895599" cy="185293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928364" y="5892800"/>
            <a:ext cx="2366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5660" marR="5080" indent="-82296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22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4.2:</a:t>
            </a:r>
            <a:r>
              <a:rPr dirty="0" sz="900" spc="165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100" i="1">
                <a:solidFill>
                  <a:srgbClr val="231F20"/>
                </a:solidFill>
                <a:latin typeface="Calibri"/>
                <a:cs typeface="Calibri"/>
              </a:rPr>
              <a:t>Banana</a:t>
            </a:r>
            <a:r>
              <a:rPr dirty="0" sz="9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9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 i="1">
                <a:solidFill>
                  <a:srgbClr val="231F20"/>
                </a:solidFill>
                <a:latin typeface="Calibri"/>
                <a:cs typeface="Calibri"/>
              </a:rPr>
              <a:t>Southern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part</a:t>
            </a:r>
            <a:r>
              <a:rPr dirty="0" sz="9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63939" y="6416039"/>
            <a:ext cx="2895599" cy="21716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6" y="8642095"/>
            <a:ext cx="24644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23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4.3:</a:t>
            </a:r>
            <a:r>
              <a:rPr dirty="0" sz="900" spc="190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Bamboo</a:t>
            </a:r>
            <a:r>
              <a:rPr dirty="0" sz="9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9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North-</a:t>
            </a:r>
            <a:r>
              <a:rPr dirty="0" sz="900" spc="-20" i="1">
                <a:solidFill>
                  <a:srgbClr val="231F20"/>
                </a:solidFill>
                <a:latin typeface="Calibri"/>
                <a:cs typeface="Calibri"/>
              </a:rPr>
              <a:t>east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74354"/>
            <a:ext cx="7315200" cy="1792605"/>
            <a:chOff x="0" y="8174354"/>
            <a:chExt cx="7315200" cy="179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03" y="8174354"/>
              <a:ext cx="981708" cy="1600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49300" y="716194"/>
            <a:ext cx="2931795" cy="837057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cap="small" sz="1200" spc="70" b="1">
                <a:solidFill>
                  <a:srgbClr val="6D6F71"/>
                </a:solidFill>
                <a:latin typeface="Calibri"/>
                <a:cs typeface="Calibri"/>
              </a:rPr>
              <a:t>Cropping</a:t>
            </a:r>
            <a:r>
              <a:rPr dirty="0" cap="small" sz="1200" spc="105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cap="small" sz="1200" spc="75" b="1">
                <a:solidFill>
                  <a:srgbClr val="6D6F71"/>
                </a:solidFill>
                <a:latin typeface="Calibri"/>
                <a:cs typeface="Calibri"/>
              </a:rPr>
              <a:t>Pattern</a:t>
            </a:r>
            <a:endParaRPr sz="1200">
              <a:latin typeface="Calibri"/>
              <a:cs typeface="Calibri"/>
            </a:endParaRPr>
          </a:p>
          <a:p>
            <a:pPr algn="just" marL="12700" marR="5715">
              <a:lnSpc>
                <a:spcPct val="101800"/>
              </a:lnSpc>
              <a:spcBef>
                <a:spcPts val="415"/>
              </a:spcBef>
            </a:pP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studied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physical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diversities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plurality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cultures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India.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also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reflected</a:t>
            </a:r>
            <a:r>
              <a:rPr dirty="0" sz="1050" spc="4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4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agricultural</a:t>
            </a:r>
            <a:r>
              <a:rPr dirty="0" sz="1050" spc="4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practices</a:t>
            </a:r>
            <a:r>
              <a:rPr dirty="0" sz="105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cropping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patterns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country.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Various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types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fibre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crops,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vegetables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fruits,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spices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condiments,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etc.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constitute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country.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three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cropping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seasons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"/>
              </a:spcBef>
            </a:pP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10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6D6F71"/>
                </a:solidFill>
                <a:latin typeface="Calibri"/>
                <a:cs typeface="Calibri"/>
              </a:rPr>
              <a:t>rabi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 b="1">
                <a:solidFill>
                  <a:srgbClr val="6D6F71"/>
                </a:solidFill>
                <a:latin typeface="Calibri"/>
                <a:cs typeface="Calibri"/>
              </a:rPr>
              <a:t>kharif</a:t>
            </a:r>
            <a:r>
              <a:rPr dirty="0" sz="1050" spc="290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 b="1">
                <a:solidFill>
                  <a:srgbClr val="6D6F71"/>
                </a:solidFill>
                <a:latin typeface="Calibri"/>
                <a:cs typeface="Calibri"/>
              </a:rPr>
              <a:t>zaid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marL="12700" indent="228600">
              <a:lnSpc>
                <a:spcPct val="100000"/>
              </a:lnSpc>
              <a:spcBef>
                <a:spcPts val="15"/>
              </a:spcBef>
            </a:pP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sown</a:t>
            </a:r>
            <a:r>
              <a:rPr dirty="0" sz="105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winter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October</a:t>
            </a:r>
            <a:endParaRPr sz="1050">
              <a:latin typeface="Calibri"/>
              <a:cs typeface="Calibri"/>
            </a:endParaRPr>
          </a:p>
          <a:p>
            <a:pPr algn="just" marL="12700" marR="11430">
              <a:lnSpc>
                <a:spcPct val="101499"/>
              </a:lnSpc>
              <a:spcBef>
                <a:spcPts val="15"/>
              </a:spcBef>
            </a:pP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December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harvested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summer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from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April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June.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rabi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wheat,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barley,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peas,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gram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mustard.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Though,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large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India,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north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north-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western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such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Punjab,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Haryana,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Himachal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Pradesh,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85">
                <a:solidFill>
                  <a:srgbClr val="231F20"/>
                </a:solidFill>
                <a:latin typeface="Calibri"/>
                <a:cs typeface="Calibri"/>
              </a:rPr>
              <a:t>Jammu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 Kashmir,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Uttarakhand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Uttar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Pradesh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are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production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wheat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crops.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Availability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precipitation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winter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months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due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western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temperate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cyclones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helps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success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crops.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However,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success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green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revolution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Punjab,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Haryana,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western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Uttar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Pradesh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Rajasthan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been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factor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growth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above-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mentioned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crops.</a:t>
            </a:r>
            <a:endParaRPr sz="1050">
              <a:latin typeface="Calibri"/>
              <a:cs typeface="Calibri"/>
            </a:endParaRPr>
          </a:p>
          <a:p>
            <a:pPr algn="just" marL="12700" indent="228600">
              <a:lnSpc>
                <a:spcPct val="100000"/>
              </a:lnSpc>
              <a:spcBef>
                <a:spcPts val="15"/>
              </a:spcBef>
            </a:pP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Kharif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onset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1600"/>
              </a:lnSpc>
              <a:spcBef>
                <a:spcPts val="15"/>
              </a:spcBef>
            </a:pP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monsoon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country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harvested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September-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October.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season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paddy,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maize,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jowar,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bajra,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tur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(arhar),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moong,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urad,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cotton,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jute,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groundnut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soyabean.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important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rice-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growing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regions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Assam,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West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Bengal,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coastal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regions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Odisha,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Andhra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Pradesh, 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Telangana,</a:t>
            </a:r>
            <a:r>
              <a:rPr dirty="0" sz="1050" spc="2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Tamil</a:t>
            </a:r>
            <a:r>
              <a:rPr dirty="0" sz="1050" spc="2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Nadu,</a:t>
            </a:r>
            <a:r>
              <a:rPr dirty="0" sz="1050" spc="2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Kerala</a:t>
            </a:r>
            <a:r>
              <a:rPr dirty="0" sz="1050" spc="2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Maharashtra,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particularly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(Konkan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coast)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along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Uttar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Pradesh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Bihar.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Recently,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paddy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become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Punjab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Haryana.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Assam,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West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Bengal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Odisha,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three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paddy are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year.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 i="1">
                <a:solidFill>
                  <a:srgbClr val="231F20"/>
                </a:solidFill>
                <a:latin typeface="Calibri"/>
                <a:cs typeface="Calibri"/>
              </a:rPr>
              <a:t>Aus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 i="1">
                <a:solidFill>
                  <a:srgbClr val="231F20"/>
                </a:solidFill>
                <a:latin typeface="Calibri"/>
                <a:cs typeface="Calibri"/>
              </a:rPr>
              <a:t>Aman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 i="1">
                <a:solidFill>
                  <a:srgbClr val="231F20"/>
                </a:solidFill>
                <a:latin typeface="Calibri"/>
                <a:cs typeface="Calibri"/>
              </a:rPr>
              <a:t>Boro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marL="12700" indent="228600">
              <a:lnSpc>
                <a:spcPts val="1250"/>
              </a:lnSpc>
            </a:pP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kharif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seasons,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short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season</a:t>
            </a:r>
            <a:r>
              <a:rPr dirty="0" sz="10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summer months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known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 b="1">
                <a:solidFill>
                  <a:srgbClr val="6D6F71"/>
                </a:solidFill>
                <a:latin typeface="Calibri"/>
                <a:cs typeface="Calibri"/>
              </a:rPr>
              <a:t>Zaid</a:t>
            </a:r>
            <a:r>
              <a:rPr dirty="0" sz="1050" spc="155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season.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produced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‘zaid’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endParaRPr sz="10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830"/>
              </a:spcBef>
              <a:tabLst>
                <a:tab pos="393065" algn="l"/>
              </a:tabLst>
            </a:pP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32</a:t>
            </a:r>
            <a:r>
              <a:rPr dirty="0" sz="9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C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ontemporary</a:t>
            </a:r>
            <a:r>
              <a:rPr dirty="0" sz="650" spc="4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I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ndia</a:t>
            </a:r>
            <a:r>
              <a:rPr dirty="0" sz="6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120">
                <a:solidFill>
                  <a:srgbClr val="6D6F71"/>
                </a:solidFill>
                <a:latin typeface="Trebuchet MS"/>
                <a:cs typeface="Trebuchet MS"/>
              </a:rPr>
              <a:t>–</a:t>
            </a:r>
            <a:r>
              <a:rPr dirty="0" sz="9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-25">
                <a:solidFill>
                  <a:srgbClr val="6D6F71"/>
                </a:solidFill>
                <a:latin typeface="Trebuchet MS"/>
                <a:cs typeface="Trebuchet MS"/>
              </a:rPr>
              <a:t>II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3501" y="783582"/>
            <a:ext cx="292100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watermelon,</a:t>
            </a:r>
            <a:r>
              <a:rPr dirty="0" sz="1050" spc="37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muskmelon,</a:t>
            </a:r>
            <a:r>
              <a:rPr dirty="0" sz="1050" spc="38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cucumber,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vegetables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fodder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crops.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Sugarcane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takes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almost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year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grow.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3501" y="1339842"/>
            <a:ext cx="2928620" cy="273812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00"/>
              </a:spcBef>
            </a:pPr>
            <a:r>
              <a:rPr dirty="0" sz="1050" spc="85" b="1">
                <a:solidFill>
                  <a:srgbClr val="6D6F71"/>
                </a:solidFill>
                <a:latin typeface="Calibri"/>
                <a:cs typeface="Calibri"/>
              </a:rPr>
              <a:t>Major</a:t>
            </a:r>
            <a:r>
              <a:rPr dirty="0" sz="1050" spc="295" b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10" b="1">
                <a:solidFill>
                  <a:srgbClr val="6D6F71"/>
                </a:solidFill>
                <a:latin typeface="Calibri"/>
                <a:cs typeface="Calibri"/>
              </a:rPr>
              <a:t>Crops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variety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non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country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depending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upon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variations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soil,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climate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cultivation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practices.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grown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rice,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wheat,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millets,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pulses,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tea,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coffee,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sugarcane,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oil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seeds,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cotton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jute, </a:t>
            </a:r>
            <a:r>
              <a:rPr dirty="0" sz="1050" spc="-20">
                <a:solidFill>
                  <a:srgbClr val="231F20"/>
                </a:solidFill>
                <a:latin typeface="Calibri"/>
                <a:cs typeface="Calibri"/>
              </a:rPr>
              <a:t>etc.</a:t>
            </a:r>
            <a:endParaRPr sz="1050">
              <a:latin typeface="Calibri"/>
              <a:cs typeface="Calibri"/>
            </a:endParaRPr>
          </a:p>
          <a:p>
            <a:pPr algn="just" marL="12700" marR="8255">
              <a:lnSpc>
                <a:spcPct val="99900"/>
              </a:lnSpc>
              <a:spcBef>
                <a:spcPts val="610"/>
              </a:spcBef>
            </a:pPr>
            <a:r>
              <a:rPr dirty="0" sz="1050" spc="105" b="1" i="1">
                <a:solidFill>
                  <a:srgbClr val="6D6F71"/>
                </a:solidFill>
                <a:latin typeface="Calibri"/>
                <a:cs typeface="Calibri"/>
              </a:rPr>
              <a:t>Rice:</a:t>
            </a:r>
            <a:r>
              <a:rPr dirty="0" sz="1050" spc="9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staple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majority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people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India.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country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second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largest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producer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world</a:t>
            </a:r>
            <a:r>
              <a:rPr dirty="0" sz="105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after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China.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kharif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requires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high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temperature,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(above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25°C)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high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humidity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annual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rainfall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above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100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cm.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areas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less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rainfall,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grows</a:t>
            </a:r>
            <a:r>
              <a:rPr dirty="0" sz="10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help</a:t>
            </a:r>
            <a:r>
              <a:rPr dirty="0" sz="105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irrigation.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6200" y="4187830"/>
            <a:ext cx="2895599" cy="21716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86200" y="6693538"/>
            <a:ext cx="2895599" cy="19062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964940" y="8611615"/>
            <a:ext cx="2738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49680" marR="5080" indent="-1237615">
              <a:lnSpc>
                <a:spcPct val="100000"/>
              </a:lnSpc>
              <a:spcBef>
                <a:spcPts val="100"/>
              </a:spcBef>
            </a:pP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1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25" b="1" i="1">
                <a:solidFill>
                  <a:srgbClr val="6D6F71"/>
                </a:solidFill>
                <a:latin typeface="Calibri"/>
                <a:cs typeface="Calibri"/>
              </a:rPr>
              <a:t>4.4</a:t>
            </a:r>
            <a:r>
              <a:rPr dirty="0" sz="900" spc="1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b="1" i="1">
                <a:solidFill>
                  <a:srgbClr val="6D6F71"/>
                </a:solidFill>
                <a:latin typeface="Calibri"/>
                <a:cs typeface="Calibri"/>
              </a:rPr>
              <a:t>(b):</a:t>
            </a:r>
            <a:r>
              <a:rPr dirty="0" sz="900" spc="39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ready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 i="1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harvested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40" i="1">
                <a:solidFill>
                  <a:srgbClr val="231F20"/>
                </a:solidFill>
                <a:latin typeface="Calibri"/>
                <a:cs typeface="Calibri"/>
              </a:rPr>
              <a:t> field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92244" y="6362191"/>
            <a:ext cx="7264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25" b="1" i="1">
                <a:solidFill>
                  <a:srgbClr val="6D6F71"/>
                </a:solidFill>
                <a:latin typeface="Calibri"/>
                <a:cs typeface="Calibri"/>
              </a:rPr>
              <a:t>4.4</a:t>
            </a:r>
            <a:r>
              <a:rPr dirty="0" sz="900" spc="2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-20" b="1" i="1">
                <a:solidFill>
                  <a:srgbClr val="6D6F71"/>
                </a:solidFill>
                <a:latin typeface="Calibri"/>
                <a:cs typeface="Calibri"/>
              </a:rPr>
              <a:t>(a):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4596" y="6362191"/>
            <a:ext cx="891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9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Calibri"/>
                <a:cs typeface="Calibri"/>
              </a:rPr>
              <a:t>Cultivation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5908" y="891616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solidFill>
                  <a:srgbClr val="6D6F71"/>
                </a:solidFill>
                <a:latin typeface="Trebuchet MS"/>
                <a:cs typeface="Trebuchet MS"/>
              </a:rPr>
              <a:t>33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1884" y="8916161"/>
            <a:ext cx="6407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22968"/>
            <a:ext cx="7315200" cy="9144000"/>
            <a:chOff x="0" y="822968"/>
            <a:chExt cx="7315200" cy="9144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822968"/>
              <a:ext cx="6019799" cy="75501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64027" y="8456167"/>
            <a:ext cx="1562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India:</a:t>
            </a:r>
            <a:r>
              <a:rPr dirty="0" sz="900" spc="235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Distribution</a:t>
            </a:r>
            <a:r>
              <a:rPr dirty="0" sz="90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2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74354"/>
            <a:ext cx="7315200" cy="1792605"/>
            <a:chOff x="0" y="8174354"/>
            <a:chExt cx="7315200" cy="179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03" y="8174354"/>
              <a:ext cx="981708" cy="1600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55395" y="8916161"/>
            <a:ext cx="16516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34</a:t>
            </a:r>
            <a:r>
              <a:rPr dirty="0" sz="9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C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ontemporary</a:t>
            </a:r>
            <a:r>
              <a:rPr dirty="0" sz="650" spc="4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I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ndia</a:t>
            </a:r>
            <a:r>
              <a:rPr dirty="0" sz="6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120">
                <a:solidFill>
                  <a:srgbClr val="6D6F71"/>
                </a:solidFill>
                <a:latin typeface="Trebuchet MS"/>
                <a:cs typeface="Trebuchet MS"/>
              </a:rPr>
              <a:t>–</a:t>
            </a:r>
            <a:r>
              <a:rPr dirty="0" sz="9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-114">
                <a:solidFill>
                  <a:srgbClr val="6D6F71"/>
                </a:solidFill>
                <a:latin typeface="Trebuchet MS"/>
                <a:cs typeface="Trebuchet MS"/>
              </a:rPr>
              <a:t>II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783576"/>
            <a:ext cx="2922270" cy="1861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plains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north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and north-eastern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India,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coastal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areas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deltaic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regions.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Development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dense</a:t>
            </a:r>
            <a:r>
              <a:rPr dirty="0" sz="105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network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canal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irrigation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tubewells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made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possible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grow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areas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less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rainfall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such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Punjab,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Haryana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western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Uttar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Pradesh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parts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Rajasthan.</a:t>
            </a:r>
            <a:endParaRPr sz="1050">
              <a:latin typeface="Calibri"/>
              <a:cs typeface="Calibri"/>
            </a:endParaRPr>
          </a:p>
          <a:p>
            <a:pPr algn="just" marL="12700" marR="5715">
              <a:lnSpc>
                <a:spcPct val="99700"/>
              </a:lnSpc>
              <a:spcBef>
                <a:spcPts val="615"/>
              </a:spcBef>
            </a:pPr>
            <a:r>
              <a:rPr dirty="0" sz="1050" spc="110" b="1" i="1">
                <a:solidFill>
                  <a:srgbClr val="6D6F71"/>
                </a:solidFill>
                <a:latin typeface="Calibri"/>
                <a:cs typeface="Calibri"/>
              </a:rPr>
              <a:t>Wheat:</a:t>
            </a:r>
            <a:r>
              <a:rPr dirty="0" sz="1050" spc="26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second</a:t>
            </a:r>
            <a:r>
              <a:rPr dirty="0" sz="10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important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cereal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crop.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main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crop,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north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north-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western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part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country.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This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requires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cool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growing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season and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2621521"/>
            <a:ext cx="2930525" cy="1465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bright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sunshine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ripening.</a:t>
            </a:r>
            <a:r>
              <a:rPr dirty="0" sz="10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Calibri"/>
                <a:cs typeface="Calibri"/>
              </a:rPr>
              <a:t>It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requires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50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75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cm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annual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rainfall</a:t>
            </a:r>
            <a:r>
              <a:rPr dirty="0" sz="1050" spc="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evenly-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distributed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over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growing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season.</a:t>
            </a:r>
            <a:r>
              <a:rPr dirty="0" sz="10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There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wheat-growing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zones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country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–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Ganga-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Satluj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plains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north-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west</a:t>
            </a:r>
            <a:r>
              <a:rPr dirty="0" sz="105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black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soil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region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Deccan.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4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4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wheat-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producing</a:t>
            </a:r>
            <a:r>
              <a:rPr dirty="0" sz="1050" spc="4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4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are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Punjab,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Haryana,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Uttar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Pradesh,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Madhya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Pradesh,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Bihar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Rajasthan.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" y="6742417"/>
            <a:ext cx="2929890" cy="194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900"/>
              </a:lnSpc>
              <a:spcBef>
                <a:spcPts val="100"/>
              </a:spcBef>
            </a:pPr>
            <a:r>
              <a:rPr dirty="0" sz="1050" spc="155" b="1" i="1">
                <a:solidFill>
                  <a:srgbClr val="6D6F71"/>
                </a:solidFill>
                <a:latin typeface="Calibri"/>
                <a:cs typeface="Calibri"/>
              </a:rPr>
              <a:t>Millets:</a:t>
            </a:r>
            <a:r>
              <a:rPr dirty="0" sz="1050" spc="40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Jowar,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bajra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ragi</a:t>
            </a:r>
            <a:r>
              <a:rPr dirty="0" sz="105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millets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India.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Though,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known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as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coarse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grains,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have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very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high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nutritional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value.</a:t>
            </a:r>
            <a:r>
              <a:rPr dirty="0" sz="105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10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ragi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very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rich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iron,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calcium,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micro nutrients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roughage.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Jowar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third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respect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area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production.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rain-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fed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mostly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moist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areas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hardly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 needs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irrigation.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Jowar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producing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are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Maharashtra,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Karnataka,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Andhra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Pradesh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Madhya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Pradesh.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6200" y="828035"/>
            <a:ext cx="2895599" cy="186118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550155" y="2722879"/>
            <a:ext cx="15678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19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4.6:</a:t>
            </a:r>
            <a:r>
              <a:rPr dirty="0" sz="900" spc="155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Bajra</a:t>
            </a:r>
            <a:r>
              <a:rPr dirty="0" sz="900" spc="1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Calibri"/>
                <a:cs typeface="Calibri"/>
              </a:rPr>
              <a:t>Cultivation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3500" y="3020821"/>
            <a:ext cx="2931795" cy="3303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Bajra</a:t>
            </a:r>
            <a:r>
              <a:rPr dirty="0" sz="105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grows</a:t>
            </a:r>
            <a:r>
              <a:rPr dirty="0" sz="105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well</a:t>
            </a:r>
            <a:r>
              <a:rPr dirty="0" sz="105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5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sandy</a:t>
            </a:r>
            <a:r>
              <a:rPr dirty="0" sz="105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soils</a:t>
            </a:r>
            <a:r>
              <a:rPr dirty="0" sz="105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shallow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black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soil.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Bajra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producing 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80">
                <a:solidFill>
                  <a:srgbClr val="231F20"/>
                </a:solidFill>
                <a:latin typeface="Calibri"/>
                <a:cs typeface="Calibri"/>
              </a:rPr>
              <a:t>Rajasthan,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Uttar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Pradesh,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Maharashtra,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Gujarat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Haryana.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Ragi</a:t>
            </a:r>
            <a:r>
              <a:rPr dirty="0" sz="10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is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dry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regions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grows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well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Calibri"/>
                <a:cs typeface="Calibri"/>
              </a:rPr>
              <a:t>red,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black,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sandy,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loamy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shallow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black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soils.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ragi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producing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are:</a:t>
            </a:r>
            <a:r>
              <a:rPr dirty="0" sz="10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Karnataka,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Tamil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Nadu,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Himachal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Pradesh,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Uttarakhand, </a:t>
            </a:r>
            <a:r>
              <a:rPr dirty="0" sz="1050" spc="130">
                <a:solidFill>
                  <a:srgbClr val="231F20"/>
                </a:solidFill>
                <a:latin typeface="Calibri"/>
                <a:cs typeface="Calibri"/>
              </a:rPr>
              <a:t>Sikkim,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Jharkhand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Arunachal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Pradesh.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610"/>
              </a:spcBef>
            </a:pPr>
            <a:r>
              <a:rPr dirty="0" sz="1050" spc="105" b="1" i="1">
                <a:solidFill>
                  <a:srgbClr val="6D6F71"/>
                </a:solidFill>
                <a:latin typeface="Calibri"/>
                <a:cs typeface="Calibri"/>
              </a:rPr>
              <a:t>Maize:</a:t>
            </a:r>
            <a:r>
              <a:rPr dirty="0" sz="1050" spc="2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used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both</a:t>
            </a:r>
            <a:r>
              <a:rPr dirty="0" sz="10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as </a:t>
            </a:r>
            <a:r>
              <a:rPr dirty="0" sz="1050" spc="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fodder.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kharif</a:t>
            </a:r>
            <a:r>
              <a:rPr dirty="0" sz="10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105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which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requires</a:t>
            </a:r>
            <a:r>
              <a:rPr dirty="0" sz="10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temperature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10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21°C</a:t>
            </a:r>
            <a:r>
              <a:rPr dirty="0" sz="10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27°C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grows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well</a:t>
            </a:r>
            <a:r>
              <a:rPr dirty="0" sz="10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10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alluvial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soil.</a:t>
            </a:r>
            <a:r>
              <a:rPr dirty="0" sz="10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Calibri"/>
                <a:cs typeface="Calibri"/>
              </a:rPr>
              <a:t>some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Bihar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Calibri"/>
                <a:cs typeface="Calibri"/>
              </a:rPr>
              <a:t>maize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season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also.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5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modern</a:t>
            </a:r>
            <a:r>
              <a:rPr dirty="0" sz="10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inputs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such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HYV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seeds,</a:t>
            </a:r>
            <a:r>
              <a:rPr dirty="0" sz="1050" spc="18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45">
                <a:solidFill>
                  <a:srgbClr val="231F20"/>
                </a:solidFill>
                <a:latin typeface="Calibri"/>
                <a:cs typeface="Calibri"/>
              </a:rPr>
              <a:t>fertilisers</a:t>
            </a:r>
            <a:r>
              <a:rPr dirty="0" sz="1050" spc="18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7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8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50">
                <a:solidFill>
                  <a:srgbClr val="231F20"/>
                </a:solidFill>
                <a:latin typeface="Calibri"/>
                <a:cs typeface="Calibri"/>
              </a:rPr>
              <a:t>irrigation</a:t>
            </a:r>
            <a:r>
              <a:rPr dirty="0" sz="1050" spc="18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50" spc="140">
                <a:solidFill>
                  <a:srgbClr val="231F20"/>
                </a:solidFill>
                <a:latin typeface="Calibri"/>
                <a:cs typeface="Calibri"/>
              </a:rPr>
              <a:t>have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contributed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increasing</a:t>
            </a:r>
            <a:r>
              <a:rPr dirty="0" sz="10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production</a:t>
            </a:r>
            <a:r>
              <a:rPr dirty="0" sz="10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maize.</a:t>
            </a:r>
            <a:r>
              <a:rPr dirty="0" sz="10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10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Calibri"/>
                <a:cs typeface="Calibri"/>
              </a:rPr>
              <a:t>maize-producing</a:t>
            </a:r>
            <a:r>
              <a:rPr dirty="0" sz="10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Calibri"/>
                <a:cs typeface="Calibri"/>
              </a:rPr>
              <a:t>states</a:t>
            </a:r>
            <a:r>
              <a:rPr dirty="0" sz="10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Calibri"/>
                <a:cs typeface="Calibri"/>
              </a:rPr>
              <a:t>are </a:t>
            </a:r>
            <a:r>
              <a:rPr dirty="0" sz="1050" spc="114">
                <a:solidFill>
                  <a:srgbClr val="231F20"/>
                </a:solidFill>
                <a:latin typeface="Calibri"/>
                <a:cs typeface="Calibri"/>
              </a:rPr>
              <a:t>Karnataka,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Madhya Pradesh,</a:t>
            </a:r>
            <a:r>
              <a:rPr dirty="0" sz="10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Calibri"/>
                <a:cs typeface="Calibri"/>
              </a:rPr>
              <a:t>Uttar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Pradesh, </a:t>
            </a:r>
            <a:r>
              <a:rPr dirty="0" sz="1050" spc="100">
                <a:solidFill>
                  <a:srgbClr val="231F20"/>
                </a:solidFill>
                <a:latin typeface="Calibri"/>
                <a:cs typeface="Calibri"/>
              </a:rPr>
              <a:t>Bihar,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Andhra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Calibri"/>
                <a:cs typeface="Calibri"/>
              </a:rPr>
              <a:t>Pradesh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Calibri"/>
                <a:cs typeface="Calibri"/>
              </a:rPr>
              <a:t>Telangana.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9380" y="6481051"/>
            <a:ext cx="1625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21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4.5:</a:t>
            </a:r>
            <a:r>
              <a:rPr dirty="0" sz="900" spc="175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Wheat</a:t>
            </a:r>
            <a:r>
              <a:rPr dirty="0" sz="90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Calibri"/>
                <a:cs typeface="Calibri"/>
              </a:rPr>
              <a:t>Cultivation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" y="4293863"/>
            <a:ext cx="2901945" cy="215582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9860" y="6466844"/>
            <a:ext cx="2895599" cy="192531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534915" y="8450071"/>
            <a:ext cx="1589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19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4.7:</a:t>
            </a:r>
            <a:r>
              <a:rPr dirty="0" sz="900" spc="155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60" i="1">
                <a:solidFill>
                  <a:srgbClr val="231F20"/>
                </a:solidFill>
                <a:latin typeface="Calibri"/>
                <a:cs typeface="Calibri"/>
              </a:rPr>
              <a:t>Maize</a:t>
            </a:r>
            <a:r>
              <a:rPr dirty="0" sz="900" spc="1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Cultivation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5908" y="891616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solidFill>
                  <a:srgbClr val="6D6F71"/>
                </a:solidFill>
                <a:latin typeface="Trebuchet MS"/>
                <a:cs typeface="Trebuchet MS"/>
              </a:rPr>
              <a:t>35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1884" y="8916161"/>
            <a:ext cx="6407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22968"/>
            <a:ext cx="7315200" cy="9144000"/>
            <a:chOff x="0" y="822968"/>
            <a:chExt cx="7315200" cy="9144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822968"/>
              <a:ext cx="6019799" cy="75501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03067" y="8468359"/>
            <a:ext cx="16808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India:</a:t>
            </a:r>
            <a:r>
              <a:rPr dirty="0" sz="900" spc="220" b="1" i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Distribution</a:t>
            </a:r>
            <a:r>
              <a:rPr dirty="0" sz="90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2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Wheat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74354"/>
            <a:ext cx="7315200" cy="1792605"/>
            <a:chOff x="0" y="8174354"/>
            <a:chExt cx="7315200" cy="179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03" y="8174354"/>
              <a:ext cx="981708" cy="1600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873494" y="783576"/>
            <a:ext cx="2931795" cy="63150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1200"/>
              </a:lnSpc>
              <a:spcBef>
                <a:spcPts val="85"/>
              </a:spcBef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variety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soils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needs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manual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labour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sowing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harvesting.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second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Palatino Linotype"/>
                <a:cs typeface="Palatino Linotype"/>
              </a:rPr>
              <a:t>sugarcane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only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Brazil.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main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source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sugar,</a:t>
            </a:r>
            <a:r>
              <a:rPr dirty="0" sz="105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gur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(jaggary),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khandsari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molasses.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Palatino Linotype"/>
                <a:cs typeface="Palatino Linotype"/>
              </a:rPr>
              <a:t>sugarcane-</a:t>
            </a:r>
            <a:r>
              <a:rPr dirty="0" sz="1050" spc="125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Uttar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Maharashtra,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Karnataka,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Nadu,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Andhra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Telangana,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Bihar,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Punjab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Haryana.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12065" indent="-635">
              <a:lnSpc>
                <a:spcPct val="101600"/>
              </a:lnSpc>
              <a:spcBef>
                <a:spcPts val="590"/>
              </a:spcBef>
            </a:pPr>
            <a:r>
              <a:rPr dirty="0" sz="1050" b="1" i="1">
                <a:solidFill>
                  <a:srgbClr val="6D6F71"/>
                </a:solidFill>
                <a:latin typeface="Palatino Linotype"/>
                <a:cs typeface="Palatino Linotype"/>
              </a:rPr>
              <a:t>Oil</a:t>
            </a:r>
            <a:r>
              <a:rPr dirty="0" sz="1050" spc="2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00" b="1" i="1">
                <a:solidFill>
                  <a:srgbClr val="6D6F71"/>
                </a:solidFill>
                <a:latin typeface="Palatino Linotype"/>
                <a:cs typeface="Palatino Linotype"/>
              </a:rPr>
              <a:t>Seeds:</a:t>
            </a:r>
            <a:r>
              <a:rPr dirty="0" sz="1050" spc="2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45">
                <a:solidFill>
                  <a:srgbClr val="231F20"/>
                </a:solidFill>
                <a:latin typeface="Palatino Linotype"/>
                <a:cs typeface="Palatino Linotype"/>
              </a:rPr>
              <a:t>2020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second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groundnut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world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China.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Different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oil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seeds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covering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approximately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Palatino Linotype"/>
                <a:cs typeface="Palatino Linotype"/>
              </a:rPr>
              <a:t>12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per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cent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total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cropped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area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Main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oil-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seeds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produced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groundnut,</a:t>
            </a:r>
            <a:r>
              <a:rPr dirty="0" sz="10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mustard,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coconut,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sesamum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(til),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soyabean,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castor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seeds,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seeds,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linseed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sunflower.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Most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edible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used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cooking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mediums.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However,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used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raw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material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production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soap,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cosmetics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ointments.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15240" indent="228600">
              <a:lnSpc>
                <a:spcPct val="100699"/>
              </a:lnSpc>
              <a:spcBef>
                <a:spcPts val="5"/>
              </a:spcBef>
            </a:pP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Groundnut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kharif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accounts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about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half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3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oilseeds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produced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Gujarat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groundnut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followed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Rajasthan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Nadu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2019–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20.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Linseed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mustard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rabi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crops.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Sesamum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kharif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north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rabi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south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India.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Castor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seed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both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rabi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kharif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crop.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 indent="-635">
              <a:lnSpc>
                <a:spcPct val="100000"/>
              </a:lnSpc>
              <a:spcBef>
                <a:spcPts val="610"/>
              </a:spcBef>
            </a:pPr>
            <a:r>
              <a:rPr dirty="0" sz="1050" spc="110" b="1" i="1">
                <a:solidFill>
                  <a:srgbClr val="6D6F71"/>
                </a:solidFill>
                <a:latin typeface="Palatino Linotype"/>
                <a:cs typeface="Palatino Linotype"/>
              </a:rPr>
              <a:t>Tea:</a:t>
            </a:r>
            <a:r>
              <a:rPr dirty="0" sz="1050" spc="4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example</a:t>
            </a:r>
            <a:r>
              <a:rPr dirty="0" sz="105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plantation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agriculture.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beverage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introduced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initially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British.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Today,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most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plantations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owned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Indians.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plant</a:t>
            </a:r>
            <a:r>
              <a:rPr dirty="0" sz="105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grows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sub-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climates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endowed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with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deep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fertile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well-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drained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soil,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rich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humus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organic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matter.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bushes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require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warm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moist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frost-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free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395" y="8685319"/>
            <a:ext cx="5347970" cy="4013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Palatino Linotype"/>
                <a:cs typeface="Palatino Linotype"/>
              </a:rPr>
              <a:t>4.9:</a:t>
            </a:r>
            <a:r>
              <a:rPr dirty="0" sz="90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Palatino Linotype"/>
                <a:cs typeface="Palatino Linotype"/>
              </a:rPr>
              <a:t>Groundnut,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Palatino Linotype"/>
                <a:cs typeface="Palatino Linotype"/>
              </a:rPr>
              <a:t>sunflower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10" i="1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0" i="1">
                <a:solidFill>
                  <a:srgbClr val="231F20"/>
                </a:solidFill>
                <a:latin typeface="Palatino Linotype"/>
                <a:cs typeface="Palatino Linotype"/>
              </a:rPr>
              <a:t>mustard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Palatino Linotype"/>
                <a:cs typeface="Palatino Linotype"/>
              </a:rPr>
              <a:t>ready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30" i="1">
                <a:solidFill>
                  <a:srgbClr val="231F20"/>
                </a:solidFill>
                <a:latin typeface="Palatino Linotype"/>
                <a:cs typeface="Palatino Linotype"/>
              </a:rPr>
              <a:t>be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Palatino Linotype"/>
                <a:cs typeface="Palatino Linotype"/>
              </a:rPr>
              <a:t>harvested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 i="1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0" i="1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Palatino Linotype"/>
                <a:cs typeface="Palatino Linotype"/>
              </a:rPr>
              <a:t>field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387350" algn="l"/>
              </a:tabLst>
            </a:pP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36</a:t>
            </a:r>
            <a:r>
              <a:rPr dirty="0" sz="9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C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ontemporary</a:t>
            </a:r>
            <a:r>
              <a:rPr dirty="0" sz="650" spc="4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I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ndia</a:t>
            </a:r>
            <a:r>
              <a:rPr dirty="0" sz="6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120">
                <a:solidFill>
                  <a:srgbClr val="6D6F71"/>
                </a:solidFill>
                <a:latin typeface="Trebuchet MS"/>
                <a:cs typeface="Trebuchet MS"/>
              </a:rPr>
              <a:t>–</a:t>
            </a:r>
            <a:r>
              <a:rPr dirty="0" sz="9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-25">
                <a:solidFill>
                  <a:srgbClr val="6D6F71"/>
                </a:solidFill>
                <a:latin typeface="Trebuchet MS"/>
                <a:cs typeface="Trebuchet MS"/>
              </a:rPr>
              <a:t>II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047" y="786764"/>
            <a:ext cx="2926080" cy="38614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 marR="6350" indent="-635">
              <a:lnSpc>
                <a:spcPct val="99900"/>
              </a:lnSpc>
              <a:spcBef>
                <a:spcPts val="125"/>
              </a:spcBef>
            </a:pPr>
            <a:r>
              <a:rPr dirty="0" sz="1050" spc="60" b="1" i="1">
                <a:solidFill>
                  <a:srgbClr val="6D6F71"/>
                </a:solidFill>
                <a:latin typeface="Palatino Linotype"/>
                <a:cs typeface="Palatino Linotype"/>
              </a:rPr>
              <a:t>Pulses: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consumer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pulses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world.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source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protein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vegetarian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diet.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pulses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that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tur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(arhar),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urad,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moong,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masur,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peas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gram.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Can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you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distinguish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which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pulses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kharif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season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which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rabi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season?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Pulses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need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less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moisture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survive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even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dry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conditions.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Being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leguminous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crops,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all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except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arhar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help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restoring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soil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fertility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fixing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nitrogen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air.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Therefore,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these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mostly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rotation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with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crops.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pulse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Madhya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Rajasthan,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Maharashtra,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Uttar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Pradesh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Karnataka.</a:t>
            </a:r>
            <a:endParaRPr sz="1050">
              <a:latin typeface="Palatino Linotype"/>
              <a:cs typeface="Palatino Linotype"/>
            </a:endParaRPr>
          </a:p>
          <a:p>
            <a:pPr algn="just" marL="12700">
              <a:lnSpc>
                <a:spcPct val="100000"/>
              </a:lnSpc>
              <a:spcBef>
                <a:spcPts val="900"/>
              </a:spcBef>
            </a:pPr>
            <a:r>
              <a:rPr dirty="0" sz="1050" b="1">
                <a:solidFill>
                  <a:srgbClr val="6D6F71"/>
                </a:solidFill>
                <a:latin typeface="Palatino Linotype"/>
                <a:cs typeface="Palatino Linotype"/>
              </a:rPr>
              <a:t>Food</a:t>
            </a:r>
            <a:r>
              <a:rPr dirty="0" sz="1050" spc="3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3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3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70" b="1">
                <a:solidFill>
                  <a:srgbClr val="6D6F71"/>
                </a:solidFill>
                <a:latin typeface="Palatino Linotype"/>
                <a:cs typeface="Palatino Linotype"/>
              </a:rPr>
              <a:t>than</a:t>
            </a:r>
            <a:r>
              <a:rPr dirty="0" sz="1050" spc="3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6D6F71"/>
                </a:solidFill>
                <a:latin typeface="Palatino Linotype"/>
                <a:cs typeface="Palatino Linotype"/>
              </a:rPr>
              <a:t>Grains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>
              <a:lnSpc>
                <a:spcPct val="100200"/>
              </a:lnSpc>
              <a:spcBef>
                <a:spcPts val="295"/>
              </a:spcBef>
            </a:pPr>
            <a:r>
              <a:rPr dirty="0" sz="1050" spc="114" b="1" i="1">
                <a:solidFill>
                  <a:srgbClr val="6D6F71"/>
                </a:solidFill>
                <a:latin typeface="Palatino Linotype"/>
                <a:cs typeface="Palatino Linotype"/>
              </a:rPr>
              <a:t>Sugarcane:</a:t>
            </a:r>
            <a:r>
              <a:rPr dirty="0" sz="1050" spc="3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subtropical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crop.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grows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hot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humid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climate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with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temperature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21°C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27°C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annual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rainfall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between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Palatino Linotype"/>
                <a:cs typeface="Palatino Linotype"/>
              </a:rPr>
              <a:t>75cm.</a:t>
            </a:r>
            <a:r>
              <a:rPr dirty="0" sz="105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231F20"/>
                </a:solidFill>
                <a:latin typeface="Palatino Linotype"/>
                <a:cs typeface="Palatino Linotype"/>
              </a:rPr>
              <a:t>100cm.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Irrigation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required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regions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low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rainfall.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can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be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endParaRPr sz="1050">
              <a:latin typeface="Palatino Linotype"/>
              <a:cs typeface="Palatino Linotyp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2000" y="7366634"/>
            <a:ext cx="6019800" cy="1315085"/>
            <a:chOff x="762000" y="7366634"/>
            <a:chExt cx="6019800" cy="13150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7367268"/>
              <a:ext cx="2000880" cy="13144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06699" y="7366634"/>
              <a:ext cx="1990090" cy="13150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5679" y="7367268"/>
              <a:ext cx="1936110" cy="131444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000" y="4941563"/>
            <a:ext cx="2895599" cy="20758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8796" y="7075974"/>
            <a:ext cx="184531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1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Palatino Linotype"/>
                <a:cs typeface="Palatino Linotype"/>
              </a:rPr>
              <a:t>4.8:</a:t>
            </a:r>
            <a:r>
              <a:rPr dirty="0" sz="900" spc="14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900" spc="95" i="1">
                <a:solidFill>
                  <a:srgbClr val="231F20"/>
                </a:solidFill>
                <a:latin typeface="Palatino Linotype"/>
                <a:cs typeface="Palatino Linotype"/>
              </a:rPr>
              <a:t>Sugarcane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endParaRPr sz="900">
              <a:latin typeface="Palatino Linotype"/>
              <a:cs typeface="Palatino Linotyp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38359"/>
            <a:ext cx="7315200" cy="2285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0700" y="783576"/>
            <a:ext cx="1642745" cy="178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climate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all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through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year.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Frequent</a:t>
            </a:r>
            <a:r>
              <a:rPr dirty="0" sz="105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showers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evenly</a:t>
            </a:r>
            <a:r>
              <a:rPr dirty="0" sz="105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distributed</a:t>
            </a:r>
            <a:r>
              <a:rPr dirty="0" sz="105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over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6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year</a:t>
            </a:r>
            <a:r>
              <a:rPr dirty="0" sz="1050" spc="46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050" spc="145">
                <a:solidFill>
                  <a:srgbClr val="231F20"/>
                </a:solidFill>
                <a:latin typeface="Palatino Linotype"/>
                <a:cs typeface="Palatino Linotype"/>
              </a:rPr>
              <a:t>ensure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continuous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growth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tender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leaves.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labour-intensive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industry.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requires</a:t>
            </a:r>
            <a:r>
              <a:rPr dirty="0" sz="105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abundant,</a:t>
            </a:r>
            <a:r>
              <a:rPr dirty="0" sz="105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cheap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skilled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labour.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processed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within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garden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restore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700" y="2545321"/>
            <a:ext cx="16319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freshness.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tea-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2703817"/>
            <a:ext cx="2921635" cy="1145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Assam,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hills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Darjeeling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Jalpaiguri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districts,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West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Bengal,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Nadu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Kerala.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Apart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these,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Himachal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Uttarakhand,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Meghalaya,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Andhra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Pradesh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Tripura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tea-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0">
                <a:solidFill>
                  <a:srgbClr val="231F20"/>
                </a:solidFill>
                <a:latin typeface="Palatino Linotype"/>
                <a:cs typeface="Palatino Linotype"/>
              </a:rPr>
              <a:t>2020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second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China.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696" y="3895731"/>
            <a:ext cx="2926080" cy="128270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12700" marR="5080">
              <a:lnSpc>
                <a:spcPct val="97700"/>
              </a:lnSpc>
              <a:spcBef>
                <a:spcPts val="150"/>
              </a:spcBef>
            </a:pPr>
            <a:r>
              <a:rPr dirty="0" sz="1050" spc="50" b="1" i="1">
                <a:solidFill>
                  <a:srgbClr val="6D6F71"/>
                </a:solidFill>
                <a:latin typeface="Palatino Linotype"/>
                <a:cs typeface="Palatino Linotype"/>
              </a:rPr>
              <a:t>Coffee:</a:t>
            </a:r>
            <a:r>
              <a:rPr dirty="0" sz="1050" spc="1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Indian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coffee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known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world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good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quality.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9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-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rabica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variety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initially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brought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Yemen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produced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country.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variety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great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demand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all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231F20"/>
                </a:solidFill>
                <a:latin typeface="Palatino Linotype"/>
                <a:cs typeface="Palatino Linotype"/>
              </a:rPr>
              <a:t>over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world.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Initially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introduced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Baba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Budan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Hills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even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today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confined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Nilgiri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Karnataka,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Kerala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5">
                <a:solidFill>
                  <a:srgbClr val="231F20"/>
                </a:solidFill>
                <a:latin typeface="Palatino Linotype"/>
                <a:cs typeface="Palatino Linotype"/>
              </a:rPr>
              <a:t>Nadu.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4893" y="2703962"/>
            <a:ext cx="2929255" cy="2462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-635">
              <a:lnSpc>
                <a:spcPct val="101499"/>
              </a:lnSpc>
              <a:spcBef>
                <a:spcPts val="105"/>
              </a:spcBef>
            </a:pPr>
            <a:r>
              <a:rPr dirty="0" sz="1050" spc="85" b="1" i="1">
                <a:solidFill>
                  <a:srgbClr val="6D6F71"/>
                </a:solidFill>
                <a:latin typeface="Palatino Linotype"/>
                <a:cs typeface="Palatino Linotype"/>
              </a:rPr>
              <a:t>Horticulture</a:t>
            </a:r>
            <a:r>
              <a:rPr dirty="0" sz="1050" spc="3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95" b="1" i="1">
                <a:solidFill>
                  <a:srgbClr val="6D6F71"/>
                </a:solidFill>
                <a:latin typeface="Palatino Linotype"/>
                <a:cs typeface="Palatino Linotype"/>
              </a:rPr>
              <a:t>Crops:</a:t>
            </a:r>
            <a:r>
              <a:rPr dirty="0" sz="1050" spc="3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2020,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second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fruits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vegetables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world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China.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temperate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fruits.</a:t>
            </a:r>
            <a:r>
              <a:rPr dirty="0" sz="105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Mangoes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Maharashtra,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Andhra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Telangana,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Uttar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Pradesh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West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Bengal,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oranges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Nagpur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Cherrapunjee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(Meghalaya),</a:t>
            </a:r>
            <a:r>
              <a:rPr dirty="0" sz="1050" spc="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bananas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Kerala,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Mizoram,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Maharashtra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Nadu,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lichi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guava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Uttar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Pradesh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Bihar,</a:t>
            </a:r>
            <a:r>
              <a:rPr dirty="0" sz="1050" spc="2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pineapples</a:t>
            </a:r>
            <a:r>
              <a:rPr dirty="0" sz="105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Meghalaya,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grapes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Andhra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Telangana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Maharashtra,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apples,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pears,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apricots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walnuts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Jammu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Kashmir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Himachal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Pradesh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great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demand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world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over.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2213" y="2403387"/>
            <a:ext cx="376872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08175" algn="l"/>
              </a:tabLst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17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100" b="1" i="1">
                <a:solidFill>
                  <a:srgbClr val="6D6F71"/>
                </a:solidFill>
                <a:latin typeface="Palatino Linotype"/>
                <a:cs typeface="Palatino Linotype"/>
              </a:rPr>
              <a:t>4.10:</a:t>
            </a:r>
            <a:r>
              <a:rPr dirty="0" sz="900" spc="16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900" spc="80" i="1">
                <a:solidFill>
                  <a:srgbClr val="231F20"/>
                </a:solidFill>
                <a:latin typeface="Palatino Linotype"/>
                <a:cs typeface="Palatino Linotype"/>
              </a:rPr>
              <a:t>Tea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11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95" b="1" i="1">
                <a:solidFill>
                  <a:srgbClr val="6D6F71"/>
                </a:solidFill>
                <a:latin typeface="Palatino Linotype"/>
                <a:cs typeface="Palatino Linotype"/>
              </a:rPr>
              <a:t>4.11:</a:t>
            </a:r>
            <a:r>
              <a:rPr dirty="0" sz="900" spc="43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Palatino Linotype"/>
                <a:cs typeface="Palatino Linotype"/>
              </a:rPr>
              <a:t>Tea-</a:t>
            </a:r>
            <a:r>
              <a:rPr dirty="0" sz="900" spc="75" i="1">
                <a:solidFill>
                  <a:srgbClr val="231F20"/>
                </a:solidFill>
                <a:latin typeface="Palatino Linotype"/>
                <a:cs typeface="Palatino Linotype"/>
              </a:rPr>
              <a:t>leaves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Palatino Linotype"/>
                <a:cs typeface="Palatino Linotype"/>
              </a:rPr>
              <a:t>Harvesting</a:t>
            </a:r>
            <a:endParaRPr sz="900">
              <a:latin typeface="Palatino Linotype"/>
              <a:cs typeface="Palatino Linotype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4595" y="835014"/>
            <a:ext cx="2012310" cy="15068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7709" y="822953"/>
            <a:ext cx="2034539" cy="15265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03780" y="6679926"/>
            <a:ext cx="249491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100" b="1" i="1">
                <a:solidFill>
                  <a:srgbClr val="6D6F71"/>
                </a:solidFill>
                <a:latin typeface="Palatino Linotype"/>
                <a:cs typeface="Palatino Linotype"/>
              </a:rPr>
              <a:t>4.12:</a:t>
            </a:r>
            <a:r>
              <a:rPr dirty="0" sz="900" spc="3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60" i="1">
                <a:solidFill>
                  <a:srgbClr val="231F20"/>
                </a:solidFill>
                <a:latin typeface="Palatino Linotype"/>
                <a:cs typeface="Palatino Linotype"/>
              </a:rPr>
              <a:t>Apricots,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Palatino Linotype"/>
                <a:cs typeface="Palatino Linotype"/>
              </a:rPr>
              <a:t>apple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10" i="1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Palatino Linotype"/>
                <a:cs typeface="Palatino Linotype"/>
              </a:rPr>
              <a:t>pomegranate</a:t>
            </a:r>
            <a:endParaRPr sz="900">
              <a:latin typeface="Palatino Linotype"/>
              <a:cs typeface="Palatino Linotyp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748" y="5306058"/>
            <a:ext cx="2120898" cy="13804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26688" y="5295900"/>
            <a:ext cx="1991358" cy="13906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81550" y="5295900"/>
            <a:ext cx="1777995" cy="13906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74952" y="8255551"/>
            <a:ext cx="6116320" cy="831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4445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11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100" b="1" i="1">
                <a:solidFill>
                  <a:srgbClr val="6D6F71"/>
                </a:solidFill>
                <a:latin typeface="Palatino Linotype"/>
                <a:cs typeface="Palatino Linotype"/>
              </a:rPr>
              <a:t>4.13:</a:t>
            </a:r>
            <a:r>
              <a:rPr dirty="0" sz="900" spc="4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Palatino Linotype"/>
                <a:cs typeface="Palatino Linotype"/>
              </a:rPr>
              <a:t>vegetables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Palatino Linotype"/>
                <a:cs typeface="Palatino Linotype"/>
              </a:rPr>
              <a:t>–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5" i="1">
                <a:solidFill>
                  <a:srgbClr val="231F20"/>
                </a:solidFill>
                <a:latin typeface="Palatino Linotype"/>
                <a:cs typeface="Palatino Linotype"/>
              </a:rPr>
              <a:t>peas,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Palatino Linotype"/>
                <a:cs typeface="Palatino Linotype"/>
              </a:rPr>
              <a:t>cauliflower,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Palatino Linotype"/>
                <a:cs typeface="Palatino Linotype"/>
              </a:rPr>
              <a:t>tomato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10" i="1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Palatino Linotype"/>
                <a:cs typeface="Palatino Linotype"/>
              </a:rPr>
              <a:t>brinjal</a:t>
            </a:r>
            <a:endParaRPr sz="900">
              <a:latin typeface="Palatino Linotype"/>
              <a:cs typeface="Palatino Linotype"/>
            </a:endParaRPr>
          </a:p>
          <a:p>
            <a:pPr marL="12700" marR="5080">
              <a:lnSpc>
                <a:spcPct val="101000"/>
              </a:lnSpc>
              <a:spcBef>
                <a:spcPts val="1185"/>
              </a:spcBef>
            </a:pPr>
            <a:r>
              <a:rPr dirty="0" sz="950" spc="75" b="1" i="1">
                <a:solidFill>
                  <a:srgbClr val="6D6F71"/>
                </a:solidFill>
                <a:latin typeface="Palatino Linotype"/>
                <a:cs typeface="Palatino Linotype"/>
              </a:rPr>
              <a:t>Source:</a:t>
            </a:r>
            <a:r>
              <a:rPr dirty="0" sz="9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50" spc="100" i="1">
                <a:solidFill>
                  <a:srgbClr val="231F20"/>
                </a:solidFill>
                <a:latin typeface="Palatino Linotype"/>
                <a:cs typeface="Palatino Linotype"/>
              </a:rPr>
              <a:t>Pocket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140" i="1">
                <a:solidFill>
                  <a:srgbClr val="231F20"/>
                </a:solidFill>
                <a:latin typeface="Palatino Linotype"/>
                <a:cs typeface="Palatino Linotype"/>
              </a:rPr>
              <a:t>book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0" i="1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Palatino Linotype"/>
                <a:cs typeface="Palatino Linotype"/>
              </a:rPr>
              <a:t>statistics,</a:t>
            </a:r>
            <a:r>
              <a:rPr dirty="0" sz="9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110" i="1">
                <a:solidFill>
                  <a:srgbClr val="231F20"/>
                </a:solidFill>
                <a:latin typeface="Palatino Linotype"/>
                <a:cs typeface="Palatino Linotype"/>
              </a:rPr>
              <a:t>2022,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Palatino Linotype"/>
                <a:cs typeface="Palatino Linotype"/>
              </a:rPr>
              <a:t>Govt.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Palatino Linotype"/>
                <a:cs typeface="Palatino Linotype"/>
              </a:rPr>
              <a:t>India.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Palatino Linotype"/>
                <a:cs typeface="Palatino Linotype"/>
              </a:rPr>
              <a:t>Directorate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95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105" i="1">
                <a:solidFill>
                  <a:srgbClr val="231F20"/>
                </a:solidFill>
                <a:latin typeface="Palatino Linotype"/>
                <a:cs typeface="Palatino Linotype"/>
              </a:rPr>
              <a:t>Economics</a:t>
            </a:r>
            <a:r>
              <a:rPr dirty="0" sz="95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95" i="1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9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Palatino Linotype"/>
                <a:cs typeface="Palatino Linotype"/>
              </a:rPr>
              <a:t>Statistics.</a:t>
            </a:r>
            <a:endParaRPr sz="950">
              <a:latin typeface="Palatino Linotype"/>
              <a:cs typeface="Palatino Linotype"/>
            </a:endParaRPr>
          </a:p>
          <a:p>
            <a:pPr algn="r" marR="47625">
              <a:lnSpc>
                <a:spcPct val="100000"/>
              </a:lnSpc>
              <a:spcBef>
                <a:spcPts val="610"/>
              </a:spcBef>
              <a:tabLst>
                <a:tab pos="953769" algn="l"/>
              </a:tabLst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r>
              <a:rPr dirty="0" sz="6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37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9748" y="7010400"/>
            <a:ext cx="6031230" cy="1245870"/>
            <a:chOff x="539748" y="7010400"/>
            <a:chExt cx="6031230" cy="124587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748" y="7014843"/>
              <a:ext cx="1471930" cy="12414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1368" y="7010400"/>
              <a:ext cx="1623056" cy="12458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8890" y="7012304"/>
              <a:ext cx="1352549" cy="12439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5880" y="7014843"/>
              <a:ext cx="1435095" cy="1241426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74354"/>
            <a:ext cx="7315200" cy="1792605"/>
            <a:chOff x="0" y="8174354"/>
            <a:chExt cx="7315200" cy="179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03" y="8174354"/>
              <a:ext cx="981708" cy="1600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55395" y="8916161"/>
            <a:ext cx="16516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38</a:t>
            </a:r>
            <a:r>
              <a:rPr dirty="0" sz="9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C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ontemporary</a:t>
            </a:r>
            <a:r>
              <a:rPr dirty="0" sz="650" spc="4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I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ndia</a:t>
            </a:r>
            <a:r>
              <a:rPr dirty="0" sz="6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120">
                <a:solidFill>
                  <a:srgbClr val="6D6F71"/>
                </a:solidFill>
                <a:latin typeface="Trebuchet MS"/>
                <a:cs typeface="Trebuchet MS"/>
              </a:rPr>
              <a:t>–</a:t>
            </a:r>
            <a:r>
              <a:rPr dirty="0" sz="9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-114">
                <a:solidFill>
                  <a:srgbClr val="6D6F71"/>
                </a:solidFill>
                <a:latin typeface="Trebuchet MS"/>
                <a:cs typeface="Trebuchet MS"/>
              </a:rPr>
              <a:t>II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297" y="777481"/>
            <a:ext cx="2925445" cy="22428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2700" marR="6350" indent="282575">
              <a:lnSpc>
                <a:spcPct val="96200"/>
              </a:lnSpc>
              <a:spcBef>
                <a:spcPts val="145"/>
              </a:spcBef>
            </a:pP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pea,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cauliflower,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onion,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cabbage,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tomato,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brinjal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potato.</a:t>
            </a:r>
            <a:endParaRPr sz="1050">
              <a:latin typeface="Palatino Linotype"/>
              <a:cs typeface="Palatino Linotype"/>
            </a:endParaRPr>
          </a:p>
          <a:p>
            <a:pPr algn="just" marL="12700">
              <a:lnSpc>
                <a:spcPct val="100000"/>
              </a:lnSpc>
              <a:spcBef>
                <a:spcPts val="875"/>
              </a:spcBef>
            </a:pPr>
            <a:r>
              <a:rPr dirty="0" sz="1050" spc="65" b="1">
                <a:solidFill>
                  <a:srgbClr val="6D6F71"/>
                </a:solidFill>
                <a:latin typeface="Palatino Linotype"/>
                <a:cs typeface="Palatino Linotype"/>
              </a:rPr>
              <a:t>Non-</a:t>
            </a:r>
            <a:r>
              <a:rPr dirty="0" sz="1050" b="1">
                <a:solidFill>
                  <a:srgbClr val="6D6F71"/>
                </a:solidFill>
                <a:latin typeface="Palatino Linotype"/>
                <a:cs typeface="Palatino Linotype"/>
              </a:rPr>
              <a:t>Fo</a:t>
            </a:r>
            <a:r>
              <a:rPr dirty="0" sz="1050" spc="-1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Palatino Linotype"/>
                <a:cs typeface="Palatino Linotype"/>
              </a:rPr>
              <a:t>od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80" b="1">
                <a:solidFill>
                  <a:srgbClr val="6D6F71"/>
                </a:solidFill>
                <a:latin typeface="Palatino Linotype"/>
                <a:cs typeface="Palatino Linotype"/>
              </a:rPr>
              <a:t>Crops</a:t>
            </a:r>
            <a:endParaRPr sz="1050">
              <a:latin typeface="Palatino Linotype"/>
              <a:cs typeface="Palatino Linotype"/>
            </a:endParaRPr>
          </a:p>
          <a:p>
            <a:pPr algn="just" marL="12700" marR="8255">
              <a:lnSpc>
                <a:spcPct val="100000"/>
              </a:lnSpc>
              <a:spcBef>
                <a:spcPts val="300"/>
              </a:spcBef>
            </a:pPr>
            <a:r>
              <a:rPr dirty="0" sz="1050" spc="80" b="1" i="1">
                <a:solidFill>
                  <a:srgbClr val="6D6F71"/>
                </a:solidFill>
                <a:latin typeface="Palatino Linotype"/>
                <a:cs typeface="Palatino Linotype"/>
              </a:rPr>
              <a:t>Rubber:</a:t>
            </a:r>
            <a:r>
              <a:rPr dirty="0" sz="1050" spc="1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equatorial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crop,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but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under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special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conditions,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sub-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tropical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areas.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requires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moist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humid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climate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with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rainfall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more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than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200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cm.</a:t>
            </a:r>
            <a:r>
              <a:rPr dirty="0" sz="1050" spc="-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temperature</a:t>
            </a:r>
            <a:r>
              <a:rPr dirty="0" sz="105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above</a:t>
            </a:r>
            <a:r>
              <a:rPr dirty="0" sz="1050" spc="-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25°C.</a:t>
            </a:r>
            <a:endParaRPr sz="1050">
              <a:latin typeface="Palatino Linotype"/>
              <a:cs typeface="Palatino Linotype"/>
            </a:endParaRPr>
          </a:p>
          <a:p>
            <a:pPr algn="just" marL="12700" indent="228600">
              <a:lnSpc>
                <a:spcPts val="1250"/>
              </a:lnSpc>
            </a:pP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Rubber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231F20"/>
                </a:solidFill>
                <a:latin typeface="Palatino Linotype"/>
                <a:cs typeface="Palatino Linotype"/>
              </a:rPr>
              <a:t>an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industrial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raw</a:t>
            </a:r>
            <a:endParaRPr sz="1050">
              <a:latin typeface="Palatino Linotype"/>
              <a:cs typeface="Palatino Linotype"/>
            </a:endParaRPr>
          </a:p>
          <a:p>
            <a:pPr algn="just" marL="12700" marR="8890">
              <a:lnSpc>
                <a:spcPct val="100000"/>
              </a:lnSpc>
              <a:spcBef>
                <a:spcPts val="15"/>
              </a:spcBef>
            </a:pP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material.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mainly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Kerala,</a:t>
            </a:r>
            <a:r>
              <a:rPr dirty="0" sz="105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Nadu,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Karnataka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Andaman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Nicobar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islands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Garo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hills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Meghalaya.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3491" y="783583"/>
            <a:ext cx="2933065" cy="79946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13970">
              <a:lnSpc>
                <a:spcPct val="101000"/>
              </a:lnSpc>
              <a:spcBef>
                <a:spcPts val="85"/>
              </a:spcBef>
            </a:pP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Maharashtra,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Gujarat,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Madhya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Karnataka,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Andhra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Pradesh,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Telangana,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Tamil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Nadu,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Punjab,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Haryana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Uttar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Pradesh.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15875" indent="-635">
              <a:lnSpc>
                <a:spcPct val="100699"/>
              </a:lnSpc>
              <a:spcBef>
                <a:spcPts val="605"/>
              </a:spcBef>
            </a:pPr>
            <a:r>
              <a:rPr dirty="0" sz="1050" spc="95" b="1" i="1">
                <a:solidFill>
                  <a:srgbClr val="6D6F71"/>
                </a:solidFill>
                <a:latin typeface="Palatino Linotype"/>
                <a:cs typeface="Palatino Linotype"/>
              </a:rPr>
              <a:t>Jute:</a:t>
            </a:r>
            <a:r>
              <a:rPr dirty="0" sz="1050" spc="30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known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golden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fibre.</a:t>
            </a:r>
            <a:r>
              <a:rPr dirty="0" sz="105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Jute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grows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well-drained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fertile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soils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flood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plains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where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soils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renewed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every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year.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High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temperature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required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during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time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growth.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West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Bengal,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Bihar,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Assam,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Odisha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Meghalaya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jute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states.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used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making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gunny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bags,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mats,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ropes,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yarn,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carpets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artefacts.</a:t>
            </a:r>
            <a:endParaRPr sz="1050">
              <a:latin typeface="Palatino Linotype"/>
              <a:cs typeface="Palatino Linotype"/>
            </a:endParaRPr>
          </a:p>
          <a:p>
            <a:pPr algn="just" marL="12700" indent="-635">
              <a:lnSpc>
                <a:spcPct val="100000"/>
              </a:lnSpc>
              <a:spcBef>
                <a:spcPts val="900"/>
              </a:spcBef>
            </a:pPr>
            <a:r>
              <a:rPr dirty="0" sz="1050" spc="45" b="1">
                <a:solidFill>
                  <a:srgbClr val="6D6F71"/>
                </a:solidFill>
                <a:latin typeface="Palatino Linotype"/>
                <a:cs typeface="Palatino Linotype"/>
              </a:rPr>
              <a:t>Technological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80" b="1">
                <a:solidFill>
                  <a:srgbClr val="6D6F71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70" b="1">
                <a:solidFill>
                  <a:srgbClr val="6D6F71"/>
                </a:solidFill>
                <a:latin typeface="Palatino Linotype"/>
                <a:cs typeface="Palatino Linotype"/>
              </a:rPr>
              <a:t>Institutional</a:t>
            </a:r>
            <a:r>
              <a:rPr dirty="0" sz="1050" spc="3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 b="1">
                <a:solidFill>
                  <a:srgbClr val="6D6F71"/>
                </a:solidFill>
                <a:latin typeface="Palatino Linotype"/>
                <a:cs typeface="Palatino Linotype"/>
              </a:rPr>
              <a:t>Reforms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>
              <a:lnSpc>
                <a:spcPct val="100800"/>
              </a:lnSpc>
              <a:spcBef>
                <a:spcPts val="315"/>
              </a:spcBef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mentioned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previous</a:t>
            </a:r>
            <a:r>
              <a:rPr dirty="0" sz="105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pages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that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has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been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practised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thousands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years.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Sustained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uses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without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compatible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231F20"/>
                </a:solidFill>
                <a:latin typeface="Palatino Linotype"/>
                <a:cs typeface="Palatino Linotype"/>
              </a:rPr>
              <a:t>techno-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institutional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changes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have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hindered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pace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development.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Inspite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6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development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6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sources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irrigation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most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large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parts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country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still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depend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upon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monsoon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natural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fertility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order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carry</a:t>
            </a:r>
            <a:r>
              <a:rPr dirty="0" sz="105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their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agriculture.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growing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population,</a:t>
            </a:r>
            <a:r>
              <a:rPr dirty="0" sz="105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poses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serious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challenge.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which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provides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livelihood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more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than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60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per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cent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population,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needs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serious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technical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050" spc="130">
                <a:solidFill>
                  <a:srgbClr val="231F20"/>
                </a:solidFill>
                <a:latin typeface="Palatino Linotype"/>
                <a:cs typeface="Palatino Linotype"/>
              </a:rPr>
              <a:t>institutional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050" spc="125">
                <a:solidFill>
                  <a:srgbClr val="231F20"/>
                </a:solidFill>
                <a:latin typeface="Palatino Linotype"/>
                <a:cs typeface="Palatino Linotype"/>
              </a:rPr>
              <a:t>reforms.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050" spc="145">
                <a:solidFill>
                  <a:srgbClr val="231F20"/>
                </a:solidFill>
                <a:latin typeface="Palatino Linotype"/>
                <a:cs typeface="Palatino Linotype"/>
              </a:rPr>
              <a:t>Thus,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collectivisation,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consolidation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holdings,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cooperation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abolition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zamindari,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etc.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were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given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priority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bring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about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institutional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reforms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country</a:t>
            </a:r>
            <a:r>
              <a:rPr dirty="0" sz="105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Independence.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‘Land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reform’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main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focus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our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First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Five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Year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Plan.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right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inheritance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had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already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led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fragmentation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holdings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necessitating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consolidation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holdings.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10160" indent="228600">
              <a:lnSpc>
                <a:spcPct val="100800"/>
              </a:lnSpc>
            </a:pP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laws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reforms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were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enacted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but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implementation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lacking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or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lukewarm.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Government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embarked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upon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introducing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reforms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improve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Indian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agriculture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1960s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231F20"/>
                </a:solidFill>
                <a:latin typeface="Palatino Linotype"/>
                <a:cs typeface="Palatino Linotype"/>
              </a:rPr>
              <a:t>1970s.</a:t>
            </a:r>
            <a:r>
              <a:rPr dirty="0" sz="105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Green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Revolution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based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use</a:t>
            </a:r>
            <a:r>
              <a:rPr dirty="0" sz="105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package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technology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White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Revolution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(Operation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Flood)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were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strategies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initiated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improve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lot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7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Indian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agriculture.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231F20"/>
                </a:solidFill>
                <a:latin typeface="Palatino Linotype"/>
                <a:cs typeface="Palatino Linotype"/>
              </a:rPr>
              <a:t>But,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too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led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concentration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development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few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selected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areas.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Therefore,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231F20"/>
                </a:solidFill>
                <a:latin typeface="Palatino Linotype"/>
                <a:cs typeface="Palatino Linotype"/>
              </a:rPr>
              <a:t>1980s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1990s,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comprehensive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land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development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programme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was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initiated,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which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included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both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institutional</a:t>
            </a:r>
            <a:r>
              <a:rPr dirty="0" sz="105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technical</a:t>
            </a:r>
            <a:endParaRPr sz="1050">
              <a:latin typeface="Palatino Linotype"/>
              <a:cs typeface="Palatino Linotype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654" y="6934200"/>
            <a:ext cx="2895596" cy="15811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37564" y="8523775"/>
            <a:ext cx="1732914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6D6F71"/>
                </a:solidFill>
                <a:latin typeface="Palatino Linotype"/>
                <a:cs typeface="Palatino Linotype"/>
              </a:rPr>
              <a:t>Fig.</a:t>
            </a:r>
            <a:r>
              <a:rPr dirty="0" sz="900" spc="2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95" b="1" i="1">
                <a:solidFill>
                  <a:srgbClr val="6D6F71"/>
                </a:solidFill>
                <a:latin typeface="Palatino Linotype"/>
                <a:cs typeface="Palatino Linotype"/>
              </a:rPr>
              <a:t>4.14:</a:t>
            </a:r>
            <a:r>
              <a:rPr dirty="0" sz="900" spc="21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900" spc="75" i="1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Palatino Linotype"/>
                <a:cs typeface="Palatino Linotype"/>
              </a:rPr>
              <a:t>Cultivation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150" y="3740280"/>
            <a:ext cx="2933700" cy="30079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12700" indent="-635">
              <a:lnSpc>
                <a:spcPct val="101000"/>
              </a:lnSpc>
              <a:spcBef>
                <a:spcPts val="110"/>
              </a:spcBef>
            </a:pPr>
            <a:r>
              <a:rPr dirty="0" sz="1050" spc="55" b="1" i="1">
                <a:solidFill>
                  <a:srgbClr val="6D6F71"/>
                </a:solidFill>
                <a:latin typeface="Palatino Linotype"/>
                <a:cs typeface="Palatino Linotype"/>
              </a:rPr>
              <a:t>Fibre</a:t>
            </a:r>
            <a:r>
              <a:rPr dirty="0" sz="1050" spc="1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0" b="1" i="1">
                <a:solidFill>
                  <a:srgbClr val="6D6F71"/>
                </a:solidFill>
                <a:latin typeface="Palatino Linotype"/>
                <a:cs typeface="Palatino Linotype"/>
              </a:rPr>
              <a:t>Crops:</a:t>
            </a:r>
            <a:r>
              <a:rPr dirty="0" sz="1050" spc="1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Cotton,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jute,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hemp</a:t>
            </a:r>
            <a:r>
              <a:rPr dirty="0" sz="105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natural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silk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four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fibre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4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India.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first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three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derived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grown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soil,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latter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obtained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from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cocoons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silkworms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fed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green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leaves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specially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mulberry.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Rearing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silk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worms</a:t>
            </a:r>
            <a:r>
              <a:rPr dirty="0" sz="105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production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silk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fibre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known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6D6F71"/>
                </a:solidFill>
                <a:latin typeface="Palatino Linotype"/>
                <a:cs typeface="Palatino Linotype"/>
              </a:rPr>
              <a:t>sericulture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>
              <a:lnSpc>
                <a:spcPct val="101000"/>
              </a:lnSpc>
              <a:spcBef>
                <a:spcPts val="575"/>
              </a:spcBef>
            </a:pPr>
            <a:r>
              <a:rPr dirty="0" sz="1050" spc="50" b="1" i="1">
                <a:solidFill>
                  <a:srgbClr val="6D6F71"/>
                </a:solidFill>
                <a:latin typeface="Palatino Linotype"/>
                <a:cs typeface="Palatino Linotype"/>
              </a:rPr>
              <a:t>Cotton:</a:t>
            </a:r>
            <a:r>
              <a:rPr dirty="0" sz="1050" spc="1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believed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be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original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home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plant.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one</a:t>
            </a:r>
            <a:r>
              <a:rPr dirty="0" sz="105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main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raw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materials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textile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industry.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second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largest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producer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after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China.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grows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well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drier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parts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black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cotton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soil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Deccan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plateau.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requires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high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temperature,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231F20"/>
                </a:solidFill>
                <a:latin typeface="Palatino Linotype"/>
                <a:cs typeface="Palatino Linotype"/>
              </a:rPr>
              <a:t>light</a:t>
            </a:r>
            <a:r>
              <a:rPr dirty="0" sz="105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rainfall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or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irrigation,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40">
                <a:solidFill>
                  <a:srgbClr val="231F20"/>
                </a:solidFill>
                <a:latin typeface="Palatino Linotype"/>
                <a:cs typeface="Palatino Linotype"/>
              </a:rPr>
              <a:t>210</a:t>
            </a:r>
            <a:r>
              <a:rPr dirty="0" sz="105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frost-free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days</a:t>
            </a:r>
            <a:r>
              <a:rPr dirty="0" sz="10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bright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sun-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shine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its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growth.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It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is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a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kharif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requires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6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8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months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231F20"/>
                </a:solidFill>
                <a:latin typeface="Palatino Linotype"/>
                <a:cs typeface="Palatino Linotype"/>
              </a:rPr>
              <a:t>mature.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231F20"/>
                </a:solidFill>
                <a:latin typeface="Palatino Linotype"/>
                <a:cs typeface="Palatino Linotype"/>
              </a:rPr>
              <a:t>Major</a:t>
            </a:r>
            <a:r>
              <a:rPr dirty="0" sz="1050" spc="2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40">
                <a:solidFill>
                  <a:srgbClr val="231F20"/>
                </a:solidFill>
                <a:latin typeface="Palatino Linotype"/>
                <a:cs typeface="Palatino Linotype"/>
              </a:rPr>
              <a:t>cotton-</a:t>
            </a:r>
            <a:r>
              <a:rPr dirty="0" sz="1050" spc="135">
                <a:solidFill>
                  <a:srgbClr val="231F20"/>
                </a:solidFill>
                <a:latin typeface="Palatino Linotype"/>
                <a:cs typeface="Palatino Linotype"/>
              </a:rPr>
              <a:t>producing</a:t>
            </a:r>
            <a:r>
              <a:rPr dirty="0" sz="1050" spc="2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55">
                <a:solidFill>
                  <a:srgbClr val="231F20"/>
                </a:solidFill>
                <a:latin typeface="Palatino Linotype"/>
                <a:cs typeface="Palatino Linotype"/>
              </a:rPr>
              <a:t>states</a:t>
            </a:r>
            <a:r>
              <a:rPr dirty="0" sz="1050" spc="2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100">
                <a:solidFill>
                  <a:srgbClr val="231F20"/>
                </a:solidFill>
                <a:latin typeface="Palatino Linotype"/>
                <a:cs typeface="Palatino Linotype"/>
              </a:rPr>
              <a:t>are–</a:t>
            </a:r>
            <a:r>
              <a:rPr dirty="0" sz="105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654" y="3121670"/>
            <a:ext cx="2880356" cy="54863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5603" y="3276853"/>
            <a:ext cx="2616200" cy="3441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50"/>
              </a:spcBef>
            </a:pPr>
            <a:r>
              <a:rPr dirty="0" sz="1050" spc="-50">
                <a:solidFill>
                  <a:srgbClr val="231F20"/>
                </a:solidFill>
                <a:latin typeface="Trebuchet MS"/>
                <a:cs typeface="Trebuchet MS"/>
              </a:rPr>
              <a:t>List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Trebuchet MS"/>
                <a:cs typeface="Trebuchet MS"/>
              </a:rPr>
              <a:t>the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Trebuchet MS"/>
                <a:cs typeface="Trebuchet MS"/>
              </a:rPr>
              <a:t>items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which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are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made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of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rubber</a:t>
            </a:r>
            <a:r>
              <a:rPr dirty="0" sz="105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Trebuchet MS"/>
                <a:cs typeface="Trebuchet MS"/>
              </a:rPr>
              <a:t>and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are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used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by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Trebuchet MS"/>
                <a:cs typeface="Trebuchet MS"/>
              </a:rPr>
              <a:t>us.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5908" y="891616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solidFill>
                  <a:srgbClr val="6D6F71"/>
                </a:solidFill>
                <a:latin typeface="Trebuchet MS"/>
                <a:cs typeface="Trebuchet MS"/>
              </a:rPr>
              <a:t>39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1884" y="8916161"/>
            <a:ext cx="6407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7645398"/>
            <a:ext cx="7315200" cy="2321560"/>
            <a:chOff x="0" y="7645398"/>
            <a:chExt cx="7315200" cy="2321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439" y="7658099"/>
              <a:ext cx="408303" cy="460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3300" y="7645398"/>
              <a:ext cx="2997195" cy="51181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864" y="822944"/>
            <a:ext cx="2901311" cy="207454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21613" y="3022132"/>
            <a:ext cx="364426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100" b="1" i="1">
                <a:solidFill>
                  <a:srgbClr val="6D6F71"/>
                </a:solidFill>
                <a:latin typeface="Calibri"/>
                <a:cs typeface="Calibri"/>
              </a:rPr>
              <a:t>Fig.</a:t>
            </a:r>
            <a:r>
              <a:rPr dirty="0" sz="90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114" b="1" i="1">
                <a:solidFill>
                  <a:srgbClr val="6D6F71"/>
                </a:solidFill>
                <a:latin typeface="Calibri"/>
                <a:cs typeface="Calibri"/>
              </a:rPr>
              <a:t>4.15:</a:t>
            </a:r>
            <a:r>
              <a:rPr dirty="0" sz="900" spc="3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Modern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 i="1">
                <a:solidFill>
                  <a:srgbClr val="231F20"/>
                </a:solidFill>
                <a:latin typeface="Calibri"/>
                <a:cs typeface="Calibri"/>
              </a:rPr>
              <a:t>technological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equipments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Calibri"/>
                <a:cs typeface="Calibri"/>
              </a:rPr>
              <a:t>used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7600" y="835648"/>
            <a:ext cx="2897504" cy="205422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0700" y="3548125"/>
            <a:ext cx="2925445" cy="2752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600"/>
              </a:lnSpc>
              <a:spcBef>
                <a:spcPts val="90"/>
              </a:spcBef>
            </a:pP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reforms.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Provision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crop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insurance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against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drought,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flood,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cyclone,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fire</a:t>
            </a:r>
            <a:r>
              <a:rPr dirty="0" sz="105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disease,</a:t>
            </a:r>
            <a:r>
              <a:rPr dirty="0" sz="105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establishment</a:t>
            </a:r>
            <a:r>
              <a:rPr dirty="0" sz="105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Grameen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banks,</a:t>
            </a:r>
            <a:r>
              <a:rPr dirty="0" sz="105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cooperative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societies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banks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providing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loan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facilities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at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lower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rates</a:t>
            </a:r>
            <a:r>
              <a:rPr dirty="0" sz="105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interest</a:t>
            </a:r>
            <a:r>
              <a:rPr dirty="0" sz="105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were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steps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231F20"/>
                </a:solidFill>
                <a:latin typeface="Palatino Linotype"/>
                <a:cs typeface="Palatino Linotype"/>
              </a:rPr>
              <a:t>in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this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direction.</a:t>
            </a:r>
            <a:endParaRPr sz="1050">
              <a:latin typeface="Palatino Linotype"/>
              <a:cs typeface="Palatino Linotype"/>
            </a:endParaRPr>
          </a:p>
          <a:p>
            <a:pPr algn="just" marL="12700" marR="5080" indent="228600">
              <a:lnSpc>
                <a:spcPct val="100000"/>
              </a:lnSpc>
              <a:spcBef>
                <a:spcPts val="15"/>
              </a:spcBef>
            </a:pP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Kisan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Credit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Card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Palatino Linotype"/>
                <a:cs typeface="Palatino Linotype"/>
              </a:rPr>
              <a:t>(KCC),</a:t>
            </a:r>
            <a:r>
              <a:rPr dirty="0" sz="105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Personal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Accident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231F20"/>
                </a:solidFill>
                <a:latin typeface="Palatino Linotype"/>
                <a:cs typeface="Palatino Linotype"/>
              </a:rPr>
              <a:t>Insurance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231F20"/>
                </a:solidFill>
                <a:latin typeface="Palatino Linotype"/>
                <a:cs typeface="Palatino Linotype"/>
              </a:rPr>
              <a:t>Scheme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(PAIS)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231F20"/>
                </a:solidFill>
                <a:latin typeface="Palatino Linotype"/>
                <a:cs typeface="Palatino Linotype"/>
              </a:rPr>
              <a:t>are</a:t>
            </a:r>
            <a:r>
              <a:rPr dirty="0" sz="105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231F20"/>
                </a:solidFill>
                <a:latin typeface="Palatino Linotype"/>
                <a:cs typeface="Palatino Linotype"/>
              </a:rPr>
              <a:t>some</a:t>
            </a:r>
            <a:r>
              <a:rPr dirty="0" sz="105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231F20"/>
                </a:solidFill>
                <a:latin typeface="Palatino Linotype"/>
                <a:cs typeface="Palatino Linotype"/>
              </a:rPr>
              <a:t>other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schemes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introduced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Government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India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benefit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3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farmers.</a:t>
            </a:r>
            <a:r>
              <a:rPr dirty="0" sz="105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Moreover,</a:t>
            </a:r>
            <a:r>
              <a:rPr dirty="0" sz="105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special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weather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bulletins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agricultural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programmes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were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introduced</a:t>
            </a:r>
            <a:r>
              <a:rPr dirty="0" sz="105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on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radio</a:t>
            </a:r>
            <a:r>
              <a:rPr dirty="0" sz="105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television.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government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also</a:t>
            </a:r>
            <a:r>
              <a:rPr dirty="0" sz="105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231F20"/>
                </a:solidFill>
                <a:latin typeface="Palatino Linotype"/>
                <a:cs typeface="Palatino Linotype"/>
              </a:rPr>
              <a:t>announces</a:t>
            </a:r>
            <a:r>
              <a:rPr dirty="0" sz="105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minimum</a:t>
            </a:r>
            <a:r>
              <a:rPr dirty="0" sz="105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support</a:t>
            </a:r>
            <a:r>
              <a:rPr dirty="0" sz="105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price,</a:t>
            </a:r>
            <a:r>
              <a:rPr dirty="0" sz="105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231F20"/>
                </a:solidFill>
                <a:latin typeface="Palatino Linotype"/>
                <a:cs typeface="Palatino Linotype"/>
              </a:rPr>
              <a:t>remunerative</a:t>
            </a:r>
            <a:r>
              <a:rPr dirty="0" sz="105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procurement</a:t>
            </a:r>
            <a:r>
              <a:rPr dirty="0" sz="105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prices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40">
                <a:solidFill>
                  <a:srgbClr val="231F20"/>
                </a:solidFill>
                <a:latin typeface="Palatino Linotype"/>
                <a:cs typeface="Palatino Linotype"/>
              </a:rPr>
              <a:t>for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important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crops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to</a:t>
            </a:r>
            <a:r>
              <a:rPr dirty="0" sz="105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check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the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exploitation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of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231F20"/>
                </a:solidFill>
                <a:latin typeface="Palatino Linotype"/>
                <a:cs typeface="Palatino Linotype"/>
              </a:rPr>
              <a:t>farmers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Palatino Linotype"/>
                <a:cs typeface="Palatino Linotype"/>
              </a:rPr>
              <a:t>by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231F20"/>
                </a:solidFill>
                <a:latin typeface="Palatino Linotype"/>
                <a:cs typeface="Palatino Linotype"/>
              </a:rPr>
              <a:t>speculators</a:t>
            </a:r>
            <a:r>
              <a:rPr dirty="0" sz="105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25">
                <a:solidFill>
                  <a:srgbClr val="231F20"/>
                </a:solidFill>
                <a:latin typeface="Palatino Linotype"/>
                <a:cs typeface="Palatino Linotype"/>
              </a:rPr>
              <a:t>and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Palatino Linotype"/>
                <a:cs typeface="Palatino Linotype"/>
              </a:rPr>
              <a:t>middlemen.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7637017"/>
            <a:ext cx="2618105" cy="58356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00"/>
              </a:spcBef>
            </a:pPr>
            <a:r>
              <a:rPr dirty="0" sz="1050" b="1">
                <a:solidFill>
                  <a:srgbClr val="6D6F71"/>
                </a:solidFill>
                <a:latin typeface="Tahoma"/>
                <a:cs typeface="Tahoma"/>
              </a:rPr>
              <a:t>Bhoodan</a:t>
            </a:r>
            <a:r>
              <a:rPr dirty="0" sz="1050" spc="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45" b="1">
                <a:solidFill>
                  <a:srgbClr val="6D6F71"/>
                </a:solidFill>
                <a:latin typeface="Tahoma"/>
                <a:cs typeface="Tahoma"/>
              </a:rPr>
              <a:t>–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6D6F71"/>
                </a:solidFill>
                <a:latin typeface="Tahoma"/>
                <a:cs typeface="Tahoma"/>
              </a:rPr>
              <a:t>Gramdan</a:t>
            </a:r>
            <a:endParaRPr sz="1050">
              <a:latin typeface="Tahoma"/>
              <a:cs typeface="Tahoma"/>
            </a:endParaRPr>
          </a:p>
          <a:p>
            <a:pPr algn="ctr" marL="12700" marR="5080" indent="-3175">
              <a:lnSpc>
                <a:spcPct val="101000"/>
              </a:lnSpc>
              <a:spcBef>
                <a:spcPts val="285"/>
              </a:spcBef>
            </a:pP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Mahatma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Gandhi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declared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Vinoba</a:t>
            </a:r>
            <a:r>
              <a:rPr dirty="0" sz="1050" spc="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Bhave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his</a:t>
            </a:r>
            <a:r>
              <a:rPr dirty="0" sz="1050" spc="2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spiritual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heir.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6D6F71"/>
                </a:solidFill>
                <a:latin typeface="Trebuchet MS"/>
                <a:cs typeface="Trebuchet MS"/>
              </a:rPr>
              <a:t>He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also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participated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203" y="3542029"/>
            <a:ext cx="2632710" cy="450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99"/>
              </a:lnSpc>
              <a:spcBef>
                <a:spcPts val="95"/>
              </a:spcBef>
            </a:pPr>
            <a:r>
              <a:rPr dirty="0" sz="1050" spc="95">
                <a:solidFill>
                  <a:srgbClr val="6D6F71"/>
                </a:solidFill>
                <a:latin typeface="Trebuchet MS"/>
                <a:cs typeface="Trebuchet MS"/>
              </a:rPr>
              <a:t>Satyagraha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75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80">
                <a:solidFill>
                  <a:srgbClr val="6D6F71"/>
                </a:solidFill>
                <a:latin typeface="Trebuchet MS"/>
                <a:cs typeface="Trebuchet MS"/>
              </a:rPr>
              <a:t>one</a:t>
            </a:r>
            <a:r>
              <a:rPr dirty="0" sz="1050" spc="13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13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13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55">
                <a:solidFill>
                  <a:srgbClr val="6D6F71"/>
                </a:solidFill>
                <a:latin typeface="Trebuchet MS"/>
                <a:cs typeface="Trebuchet MS"/>
              </a:rPr>
              <a:t>foremost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satyagrahis.</a:t>
            </a:r>
            <a:r>
              <a:rPr dirty="0" sz="10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</a:t>
            </a:r>
            <a:r>
              <a:rPr dirty="0" sz="10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was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one</a:t>
            </a:r>
            <a:r>
              <a:rPr dirty="0" sz="10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1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votaries</a:t>
            </a:r>
            <a:r>
              <a:rPr dirty="0" sz="1050" spc="1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Gandhi’s</a:t>
            </a:r>
            <a:r>
              <a:rPr dirty="0" sz="1050" spc="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concept</a:t>
            </a:r>
            <a:r>
              <a:rPr dirty="0" sz="1050" spc="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Tahoma"/>
                <a:cs typeface="Tahoma"/>
              </a:rPr>
              <a:t>gram</a:t>
            </a:r>
            <a:r>
              <a:rPr dirty="0" sz="1050" spc="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6D6F71"/>
                </a:solidFill>
                <a:latin typeface="Tahoma"/>
                <a:cs typeface="Tahoma"/>
              </a:rPr>
              <a:t>swarajya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.</a:t>
            </a:r>
            <a:r>
              <a:rPr dirty="0" sz="1050" spc="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After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Gandhiji’s</a:t>
            </a:r>
            <a:r>
              <a:rPr dirty="0" sz="1050" spc="3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6D6F71"/>
                </a:solidFill>
                <a:latin typeface="Trebuchet MS"/>
                <a:cs typeface="Trebuchet MS"/>
              </a:rPr>
              <a:t>martyrdom,</a:t>
            </a:r>
            <a:r>
              <a:rPr dirty="0" sz="1050" spc="3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6D6F71"/>
                </a:solidFill>
                <a:latin typeface="Trebuchet MS"/>
                <a:cs typeface="Trebuchet MS"/>
              </a:rPr>
              <a:t>Vinoba</a:t>
            </a:r>
            <a:r>
              <a:rPr dirty="0" sz="1050" spc="3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6D6F71"/>
                </a:solidFill>
                <a:latin typeface="Trebuchet MS"/>
                <a:cs typeface="Trebuchet MS"/>
              </a:rPr>
              <a:t>Bhave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undertook</a:t>
            </a:r>
            <a:r>
              <a:rPr dirty="0" sz="1050" spc="1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Tahoma"/>
                <a:cs typeface="Tahoma"/>
              </a:rPr>
              <a:t>padyatra</a:t>
            </a:r>
            <a:r>
              <a:rPr dirty="0" sz="1050" spc="1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18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spread</a:t>
            </a:r>
            <a:r>
              <a:rPr dirty="0" sz="1050" spc="1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Gandhiji’s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message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covered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almost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entire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country.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Once,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when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he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was</a:t>
            </a:r>
            <a:r>
              <a:rPr dirty="0" sz="1050" spc="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delivering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a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lecture</a:t>
            </a:r>
            <a:r>
              <a:rPr dirty="0" sz="1050" spc="9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at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Pochampally</a:t>
            </a:r>
            <a:r>
              <a:rPr dirty="0" sz="1050" spc="14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</a:t>
            </a:r>
            <a:r>
              <a:rPr dirty="0" sz="1050" spc="14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Telangana,</a:t>
            </a:r>
            <a:r>
              <a:rPr dirty="0" sz="1050" spc="14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some</a:t>
            </a:r>
            <a:r>
              <a:rPr dirty="0" sz="1050" spc="14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50">
                <a:solidFill>
                  <a:srgbClr val="6D6F71"/>
                </a:solidFill>
                <a:latin typeface="Trebuchet MS"/>
                <a:cs typeface="Trebuchet MS"/>
              </a:rPr>
              <a:t>poor</a:t>
            </a:r>
            <a:r>
              <a:rPr dirty="0" sz="1050" spc="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landless</a:t>
            </a:r>
            <a:r>
              <a:rPr dirty="0" sz="105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villagers</a:t>
            </a:r>
            <a:r>
              <a:rPr dirty="0" sz="105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demanded</a:t>
            </a:r>
            <a:r>
              <a:rPr dirty="0" sz="1050" spc="10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some</a:t>
            </a:r>
            <a:r>
              <a:rPr dirty="0" sz="105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for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their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economic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well-being.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Vinoba</a:t>
            </a:r>
            <a:r>
              <a:rPr dirty="0" sz="1050" spc="24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Bhave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could</a:t>
            </a:r>
            <a:r>
              <a:rPr dirty="0" sz="1050" spc="-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not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promise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35">
                <a:solidFill>
                  <a:srgbClr val="6D6F71"/>
                </a:solidFill>
                <a:latin typeface="Trebuchet MS"/>
                <a:cs typeface="Trebuchet MS"/>
              </a:rPr>
              <a:t>it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55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them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immediately</a:t>
            </a:r>
            <a:r>
              <a:rPr dirty="0" sz="1050" spc="-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but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assured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them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talk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Government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India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regarding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provision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for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them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if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they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undertook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cooperative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farming.</a:t>
            </a:r>
            <a:endParaRPr sz="1050">
              <a:latin typeface="Trebuchet MS"/>
              <a:cs typeface="Trebuchet MS"/>
            </a:endParaRPr>
          </a:p>
          <a:p>
            <a:pPr algn="just" marL="12700">
              <a:lnSpc>
                <a:spcPts val="1250"/>
              </a:lnSpc>
            </a:pP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Suddenly,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Shri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Ram</a:t>
            </a:r>
            <a:r>
              <a:rPr dirty="0" sz="1050" spc="2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Chandra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Reddy</a:t>
            </a:r>
            <a:r>
              <a:rPr dirty="0" sz="10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stood</a:t>
            </a:r>
            <a:endParaRPr sz="1050">
              <a:latin typeface="Trebuchet MS"/>
              <a:cs typeface="Trebuchet MS"/>
            </a:endParaRPr>
          </a:p>
          <a:p>
            <a:pPr algn="just" marL="12700" marR="5080">
              <a:lnSpc>
                <a:spcPct val="100000"/>
              </a:lnSpc>
              <a:spcBef>
                <a:spcPts val="15"/>
              </a:spcBef>
            </a:pP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up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offered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6D6F71"/>
                </a:solidFill>
                <a:latin typeface="Trebuchet MS"/>
                <a:cs typeface="Trebuchet MS"/>
              </a:rPr>
              <a:t>80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acres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3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3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be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distributed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6D6F71"/>
                </a:solidFill>
                <a:latin typeface="Trebuchet MS"/>
                <a:cs typeface="Trebuchet MS"/>
              </a:rPr>
              <a:t>among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6D6F71"/>
                </a:solidFill>
                <a:latin typeface="Trebuchet MS"/>
                <a:cs typeface="Trebuchet MS"/>
              </a:rPr>
              <a:t>80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land-less</a:t>
            </a:r>
            <a:r>
              <a:rPr dirty="0" sz="1050" spc="24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villagers.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This</a:t>
            </a:r>
            <a:r>
              <a:rPr dirty="0" sz="1050" spc="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act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was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known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‘Bhoodan’.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Later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he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travelled</a:t>
            </a:r>
            <a:r>
              <a:rPr dirty="0" sz="1050" spc="1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and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introduced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his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ideas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widely</a:t>
            </a:r>
            <a:r>
              <a:rPr dirty="0" sz="1050" spc="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all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over</a:t>
            </a:r>
            <a:r>
              <a:rPr dirty="0" sz="1050" spc="4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India.</a:t>
            </a:r>
            <a:r>
              <a:rPr dirty="0" sz="1050" spc="4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Some</a:t>
            </a:r>
            <a:r>
              <a:rPr dirty="0" sz="1050" spc="4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zamindars,</a:t>
            </a:r>
            <a:r>
              <a:rPr dirty="0" sz="1050" spc="4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owners</a:t>
            </a:r>
            <a:r>
              <a:rPr dirty="0" sz="1050" spc="4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many</a:t>
            </a:r>
            <a:r>
              <a:rPr dirty="0" sz="1050" spc="2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villages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offered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2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distribute</a:t>
            </a:r>
            <a:r>
              <a:rPr dirty="0" sz="1050" spc="25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some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villages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6D6F71"/>
                </a:solidFill>
                <a:latin typeface="Trebuchet MS"/>
                <a:cs typeface="Trebuchet MS"/>
              </a:rPr>
              <a:t>among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landless.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It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was</a:t>
            </a:r>
            <a:r>
              <a:rPr dirty="0" sz="1050" spc="8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known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1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Tahoma"/>
                <a:cs typeface="Tahoma"/>
              </a:rPr>
              <a:t>Gramdan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.</a:t>
            </a:r>
            <a:r>
              <a:rPr dirty="0" sz="1050" spc="10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However,</a:t>
            </a:r>
            <a:r>
              <a:rPr dirty="0" sz="1050" spc="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many</a:t>
            </a:r>
            <a:r>
              <a:rPr dirty="0" sz="1050" spc="1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land-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owners</a:t>
            </a:r>
            <a:r>
              <a:rPr dirty="0" sz="1050" spc="-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chose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provide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some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part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their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-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poor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farmers</a:t>
            </a:r>
            <a:r>
              <a:rPr dirty="0" sz="1050" spc="2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due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to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2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fear</a:t>
            </a:r>
            <a:r>
              <a:rPr dirty="0" sz="1050" spc="204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of</a:t>
            </a:r>
            <a:r>
              <a:rPr dirty="0" sz="1050" spc="21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land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6D6F71"/>
                </a:solidFill>
                <a:latin typeface="Trebuchet MS"/>
                <a:cs typeface="Trebuchet MS"/>
              </a:rPr>
              <a:t>ceiling</a:t>
            </a:r>
            <a:r>
              <a:rPr dirty="0" sz="1050" spc="15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act.</a:t>
            </a:r>
            <a:r>
              <a:rPr dirty="0" sz="1050" spc="190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This</a:t>
            </a:r>
            <a:r>
              <a:rPr dirty="0" sz="1050" spc="185">
                <a:solidFill>
                  <a:srgbClr val="6D6F71"/>
                </a:solidFill>
                <a:latin typeface="Times New Roman"/>
                <a:cs typeface="Times New Roman"/>
              </a:rPr>
              <a:t>  </a:t>
            </a:r>
            <a:r>
              <a:rPr dirty="0" sz="1050" spc="90">
                <a:solidFill>
                  <a:srgbClr val="6D6F71"/>
                </a:solidFill>
                <a:latin typeface="Trebuchet MS"/>
                <a:cs typeface="Trebuchet MS"/>
              </a:rPr>
              <a:t>Bhoodan-</a:t>
            </a:r>
            <a:r>
              <a:rPr dirty="0" sz="1050" spc="-6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6D6F71"/>
                </a:solidFill>
                <a:latin typeface="Trebuchet MS"/>
                <a:cs typeface="Trebuchet MS"/>
              </a:rPr>
              <a:t>Gramdan</a:t>
            </a:r>
            <a:r>
              <a:rPr dirty="0" sz="1050" spc="10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movement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6D6F71"/>
                </a:solidFill>
                <a:latin typeface="Trebuchet MS"/>
                <a:cs typeface="Trebuchet MS"/>
              </a:rPr>
              <a:t>initiated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by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Vinoba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Bhave</a:t>
            </a:r>
            <a:r>
              <a:rPr dirty="0" sz="1050" spc="2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is</a:t>
            </a:r>
            <a:r>
              <a:rPr dirty="0" sz="1050" spc="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F71"/>
                </a:solidFill>
                <a:latin typeface="Trebuchet MS"/>
                <a:cs typeface="Trebuchet MS"/>
              </a:rPr>
              <a:t>also</a:t>
            </a:r>
            <a:r>
              <a:rPr dirty="0" sz="1050" spc="-2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known</a:t>
            </a:r>
            <a:r>
              <a:rPr dirty="0" sz="1050" spc="6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F71"/>
                </a:solidFill>
                <a:latin typeface="Trebuchet MS"/>
                <a:cs typeface="Trebuchet MS"/>
              </a:rPr>
              <a:t>as</a:t>
            </a:r>
            <a:r>
              <a:rPr dirty="0" sz="1050" spc="5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the</a:t>
            </a:r>
            <a:r>
              <a:rPr dirty="0" sz="1050" spc="3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6D6F71"/>
                </a:solidFill>
                <a:latin typeface="Tahoma"/>
                <a:cs typeface="Tahoma"/>
              </a:rPr>
              <a:t>Blood-less</a:t>
            </a:r>
            <a:r>
              <a:rPr dirty="0" sz="1050" spc="7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6D6F71"/>
                </a:solidFill>
                <a:latin typeface="Tahoma"/>
                <a:cs typeface="Tahoma"/>
              </a:rPr>
              <a:t>Revolution</a:t>
            </a:r>
            <a:r>
              <a:rPr dirty="0" sz="1050" spc="-10">
                <a:solidFill>
                  <a:srgbClr val="6D6F71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748" y="6381743"/>
            <a:ext cx="2882902" cy="120650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91387" y="6513830"/>
            <a:ext cx="2616835" cy="98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800"/>
              </a:lnSpc>
              <a:spcBef>
                <a:spcPts val="100"/>
              </a:spcBef>
            </a:pP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Collect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information</a:t>
            </a:r>
            <a:r>
              <a:rPr dirty="0" sz="1050" spc="1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50">
                <a:solidFill>
                  <a:srgbClr val="231F20"/>
                </a:solidFill>
                <a:latin typeface="Trebuchet MS"/>
                <a:cs typeface="Trebuchet MS"/>
              </a:rPr>
              <a:t>about</a:t>
            </a:r>
            <a:r>
              <a:rPr dirty="0" sz="105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</a:rPr>
              <a:t>agriculture,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30">
                <a:solidFill>
                  <a:srgbClr val="231F20"/>
                </a:solidFill>
                <a:latin typeface="Trebuchet MS"/>
                <a:cs typeface="Trebuchet MS"/>
              </a:rPr>
              <a:t>horticulture,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</a:rPr>
              <a:t>agricultural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</a:rPr>
              <a:t>schemes,</a:t>
            </a:r>
            <a:r>
              <a:rPr dirty="0" sz="105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65">
                <a:solidFill>
                  <a:srgbClr val="231F20"/>
                </a:solidFill>
                <a:latin typeface="Trebuchet MS"/>
                <a:cs typeface="Trebuchet MS"/>
              </a:rPr>
              <a:t>etc.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Trebuchet MS"/>
                <a:cs typeface="Trebuchet MS"/>
              </a:rPr>
              <a:t>from</a:t>
            </a:r>
            <a:r>
              <a:rPr dirty="0" sz="105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31F20"/>
                </a:solidFill>
                <a:latin typeface="Trebuchet MS"/>
                <a:cs typeface="Trebuchet MS"/>
              </a:rPr>
              <a:t>Farmers’</a:t>
            </a:r>
            <a:r>
              <a:rPr dirty="0" sz="105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31F20"/>
                </a:solidFill>
                <a:latin typeface="Trebuchet MS"/>
                <a:cs typeface="Trebuchet MS"/>
              </a:rPr>
              <a:t>Portal</a:t>
            </a:r>
            <a:r>
              <a:rPr dirty="0" sz="1050" spc="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website</a:t>
            </a:r>
            <a:r>
              <a:rPr dirty="0" sz="105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  <a:hlinkClick r:id="rId8"/>
              </a:rPr>
              <a:t>https://farmer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</a:rPr>
              <a:t>.</a:t>
            </a:r>
            <a:r>
              <a:rPr dirty="0" sz="10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Trebuchet MS"/>
                <a:cs typeface="Trebuchet MS"/>
              </a:rPr>
              <a:t>gov.in/FarmerHome.aspx.</a:t>
            </a:r>
            <a:r>
              <a:rPr dirty="0" sz="105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Discuss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about</a:t>
            </a:r>
            <a:r>
              <a:rPr dirty="0" sz="105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31F20"/>
                </a:solidFill>
                <a:latin typeface="Trebuchet MS"/>
                <a:cs typeface="Trebuchet MS"/>
              </a:rPr>
              <a:t>the</a:t>
            </a:r>
            <a:r>
              <a:rPr dirty="0" sz="105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benefits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of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the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information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31F20"/>
                </a:solidFill>
                <a:latin typeface="Trebuchet MS"/>
                <a:cs typeface="Trebuchet MS"/>
              </a:rPr>
              <a:t>available</a:t>
            </a:r>
            <a:r>
              <a:rPr dirty="0" sz="105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231F20"/>
                </a:solidFill>
                <a:latin typeface="Trebuchet MS"/>
                <a:cs typeface="Trebuchet MS"/>
              </a:rPr>
              <a:t>on</a:t>
            </a:r>
            <a:r>
              <a:rPr dirty="0" sz="105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231F20"/>
                </a:solidFill>
                <a:latin typeface="Trebuchet MS"/>
                <a:cs typeface="Trebuchet MS"/>
              </a:rPr>
              <a:t>the</a:t>
            </a:r>
            <a:r>
              <a:rPr dirty="0" sz="105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31F20"/>
                </a:solidFill>
                <a:latin typeface="Trebuchet MS"/>
                <a:cs typeface="Trebuchet MS"/>
              </a:rPr>
              <a:t>portal.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74354"/>
            <a:ext cx="7315200" cy="1792605"/>
            <a:chOff x="0" y="8174354"/>
            <a:chExt cx="7315200" cy="179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03" y="8174354"/>
              <a:ext cx="981708" cy="1600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738359"/>
              <a:ext cx="7315200" cy="228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55395" y="8916161"/>
            <a:ext cx="16516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dirty="0" cap="small" sz="950" spc="45">
                <a:solidFill>
                  <a:srgbClr val="6D6F71"/>
                </a:solidFill>
                <a:latin typeface="Trebuchet MS"/>
                <a:cs typeface="Trebuchet MS"/>
              </a:rPr>
              <a:t>40</a:t>
            </a:r>
            <a:r>
              <a:rPr dirty="0" sz="950">
                <a:solidFill>
                  <a:srgbClr val="6D6F71"/>
                </a:solidFill>
                <a:latin typeface="Times New Roman"/>
                <a:cs typeface="Times New Roman"/>
              </a:rPr>
              <a:t>	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C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ontemporary</a:t>
            </a:r>
            <a:r>
              <a:rPr dirty="0" sz="650" spc="40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I</a:t>
            </a:r>
            <a:r>
              <a:rPr dirty="0" cap="small" sz="950">
                <a:solidFill>
                  <a:srgbClr val="6D6F71"/>
                </a:solidFill>
                <a:latin typeface="Trebuchet MS"/>
                <a:cs typeface="Trebuchet MS"/>
              </a:rPr>
              <a:t>ndia</a:t>
            </a:r>
            <a:r>
              <a:rPr dirty="0" sz="650" spc="229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120">
                <a:solidFill>
                  <a:srgbClr val="6D6F71"/>
                </a:solidFill>
                <a:latin typeface="Trebuchet MS"/>
                <a:cs typeface="Trebuchet MS"/>
              </a:rPr>
              <a:t>–</a:t>
            </a:r>
            <a:r>
              <a:rPr dirty="0" sz="950" spc="130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950" spc="-114">
                <a:solidFill>
                  <a:srgbClr val="6D6F71"/>
                </a:solidFill>
                <a:latin typeface="Trebuchet MS"/>
                <a:cs typeface="Trebuchet MS"/>
              </a:rPr>
              <a:t>II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4411" y="782815"/>
            <a:ext cx="5056505" cy="674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492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0C2BC"/>
                </a:solidFill>
                <a:latin typeface="Tahoma"/>
                <a:cs typeface="Tahoma"/>
              </a:rPr>
              <a:t>E</a:t>
            </a:r>
            <a:r>
              <a:rPr dirty="0" sz="550" spc="-25" b="1">
                <a:solidFill>
                  <a:srgbClr val="F0C2BC"/>
                </a:solidFill>
                <a:latin typeface="Tahoma"/>
                <a:cs typeface="Tahoma"/>
              </a:rPr>
              <a:t>XERCISES</a:t>
            </a:r>
            <a:r>
              <a:rPr dirty="0" sz="550" spc="180">
                <a:solidFill>
                  <a:srgbClr val="F0C2BC"/>
                </a:solidFill>
                <a:latin typeface="Times New Roman"/>
                <a:cs typeface="Times New Roman"/>
              </a:rPr>
              <a:t> </a:t>
            </a:r>
            <a:r>
              <a:rPr dirty="0" sz="1000" spc="-35" b="1">
                <a:solidFill>
                  <a:srgbClr val="F0C2BC"/>
                </a:solidFill>
                <a:latin typeface="Tahoma"/>
                <a:cs typeface="Tahoma"/>
              </a:rPr>
              <a:t>E</a:t>
            </a:r>
            <a:r>
              <a:rPr dirty="0" sz="700" spc="-35" b="1">
                <a:solidFill>
                  <a:srgbClr val="F0C2BC"/>
                </a:solidFill>
                <a:latin typeface="Tahoma"/>
                <a:cs typeface="Tahoma"/>
              </a:rPr>
              <a:t>XERCISES</a:t>
            </a:r>
            <a:r>
              <a:rPr dirty="0" sz="700" spc="254">
                <a:solidFill>
                  <a:srgbClr val="F0C2BC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DD7875"/>
                </a:solidFill>
                <a:latin typeface="Tahoma"/>
                <a:cs typeface="Tahoma"/>
              </a:rPr>
              <a:t>E</a:t>
            </a:r>
            <a:r>
              <a:rPr dirty="0" sz="850" spc="-50" b="1">
                <a:solidFill>
                  <a:srgbClr val="DD7875"/>
                </a:solidFill>
                <a:latin typeface="Tahoma"/>
                <a:cs typeface="Tahoma"/>
              </a:rPr>
              <a:t>XERCISES</a:t>
            </a:r>
            <a:r>
              <a:rPr dirty="0" sz="850" spc="200">
                <a:solidFill>
                  <a:srgbClr val="DD7875"/>
                </a:solidFill>
                <a:latin typeface="Times New Roman"/>
                <a:cs typeface="Times New Roman"/>
              </a:rPr>
              <a:t> </a:t>
            </a:r>
            <a:r>
              <a:rPr dirty="0" sz="1000" spc="-35" b="1">
                <a:solidFill>
                  <a:srgbClr val="F0C2BC"/>
                </a:solidFill>
                <a:latin typeface="Tahoma"/>
                <a:cs typeface="Tahoma"/>
              </a:rPr>
              <a:t>E</a:t>
            </a:r>
            <a:r>
              <a:rPr dirty="0" sz="700" spc="-35" b="1">
                <a:solidFill>
                  <a:srgbClr val="F0C2BC"/>
                </a:solidFill>
                <a:latin typeface="Tahoma"/>
                <a:cs typeface="Tahoma"/>
              </a:rPr>
              <a:t>XERCISES</a:t>
            </a:r>
            <a:r>
              <a:rPr dirty="0" sz="700" spc="130">
                <a:solidFill>
                  <a:srgbClr val="F0C2BC"/>
                </a:solidFill>
                <a:latin typeface="Times New Roman"/>
                <a:cs typeface="Times New Roman"/>
              </a:rPr>
              <a:t> </a:t>
            </a:r>
            <a:r>
              <a:rPr dirty="0" sz="800" spc="-10" b="1">
                <a:solidFill>
                  <a:srgbClr val="F0C2BC"/>
                </a:solidFill>
                <a:latin typeface="Tahoma"/>
                <a:cs typeface="Tahoma"/>
              </a:rPr>
              <a:t>E</a:t>
            </a:r>
            <a:r>
              <a:rPr dirty="0" sz="550" spc="-10" b="1">
                <a:solidFill>
                  <a:srgbClr val="F0C2BC"/>
                </a:solidFill>
                <a:latin typeface="Tahoma"/>
                <a:cs typeface="Tahoma"/>
              </a:rPr>
              <a:t>XERCISES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5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Multiple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choice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questions.</a:t>
            </a:r>
            <a:endParaRPr sz="950">
              <a:latin typeface="Calibri"/>
              <a:cs typeface="Calibri"/>
            </a:endParaRPr>
          </a:p>
          <a:p>
            <a:pPr lvl="1" marL="502920" marR="8890" indent="-186055">
              <a:lnSpc>
                <a:spcPts val="1130"/>
              </a:lnSpc>
              <a:spcBef>
                <a:spcPts val="660"/>
              </a:spcBef>
              <a:buSzPct val="94736"/>
              <a:buAutoNum type="romanLcParenBoth"/>
              <a:tabLst>
                <a:tab pos="50609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describes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system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single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large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area?</a:t>
            </a:r>
            <a:endParaRPr sz="950">
              <a:latin typeface="Calibri"/>
              <a:cs typeface="Calibri"/>
            </a:endParaRPr>
          </a:p>
          <a:p>
            <a:pPr lvl="2" marL="732155" indent="-216535">
              <a:lnSpc>
                <a:spcPct val="100000"/>
              </a:lnSpc>
              <a:spcBef>
                <a:spcPts val="26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Shifting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endParaRPr sz="950">
              <a:latin typeface="Calibri"/>
              <a:cs typeface="Calibri"/>
            </a:endParaRPr>
          </a:p>
          <a:p>
            <a:pPr lvl="2" marL="732155" indent="-22606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Plantation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endParaRPr sz="950">
              <a:latin typeface="Calibri"/>
              <a:cs typeface="Calibri"/>
            </a:endParaRPr>
          </a:p>
          <a:p>
            <a:pPr lvl="2" marL="732155" indent="-2044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Horticulture</a:t>
            </a:r>
            <a:endParaRPr sz="950">
              <a:latin typeface="Calibri"/>
              <a:cs typeface="Calibri"/>
            </a:endParaRPr>
          </a:p>
          <a:p>
            <a:pPr lvl="2" marL="732790" indent="-2171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79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Intensive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Agriculture</a:t>
            </a:r>
            <a:endParaRPr sz="9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Clr>
                <a:srgbClr val="231F20"/>
              </a:buClr>
              <a:buFont typeface="Calibri"/>
              <a:buAutoNum type="alphaLcParenBoth"/>
            </a:pPr>
            <a:endParaRPr sz="9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Clr>
                <a:srgbClr val="231F20"/>
              </a:buClr>
              <a:buFont typeface="Calibri"/>
              <a:buAutoNum type="alphaLcParenBoth"/>
            </a:pPr>
            <a:endParaRPr sz="950">
              <a:latin typeface="Calibri"/>
              <a:cs typeface="Calibri"/>
            </a:endParaRPr>
          </a:p>
          <a:p>
            <a:pPr lvl="1" marL="504190" indent="-226695">
              <a:lnSpc>
                <a:spcPct val="100000"/>
              </a:lnSpc>
              <a:buSzPct val="94736"/>
              <a:buAutoNum type="romanLcParenBoth"/>
              <a:tabLst>
                <a:tab pos="504190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rabi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crop?</a:t>
            </a:r>
            <a:endParaRPr sz="950">
              <a:latin typeface="Calibri"/>
              <a:cs typeface="Calibri"/>
            </a:endParaRPr>
          </a:p>
          <a:p>
            <a:pPr lvl="2" marL="732155" indent="-216535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Rice</a:t>
            </a:r>
            <a:endParaRPr sz="950">
              <a:latin typeface="Calibri"/>
              <a:cs typeface="Calibri"/>
            </a:endParaRPr>
          </a:p>
          <a:p>
            <a:pPr lvl="2" marL="732790" indent="-2171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790" algn="l"/>
              </a:tabLst>
            </a:pP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Gram</a:t>
            </a:r>
            <a:endParaRPr sz="950">
              <a:latin typeface="Calibri"/>
              <a:cs typeface="Calibri"/>
            </a:endParaRPr>
          </a:p>
          <a:p>
            <a:pPr lvl="2" marL="732155" indent="-2044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Millets</a:t>
            </a:r>
            <a:endParaRPr sz="950">
              <a:latin typeface="Calibri"/>
              <a:cs typeface="Calibri"/>
            </a:endParaRPr>
          </a:p>
          <a:p>
            <a:pPr lvl="2" marL="732790" indent="-2171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79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Cotton</a:t>
            </a:r>
            <a:endParaRPr sz="9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894"/>
              </a:spcBef>
              <a:buClr>
                <a:srgbClr val="231F20"/>
              </a:buClr>
              <a:buFont typeface="Calibri"/>
              <a:buAutoNum type="alphaLcParenBoth"/>
            </a:pPr>
            <a:endParaRPr sz="950">
              <a:latin typeface="Calibri"/>
              <a:cs typeface="Calibri"/>
            </a:endParaRPr>
          </a:p>
          <a:p>
            <a:pPr lvl="1" marL="502284" indent="-260985">
              <a:lnSpc>
                <a:spcPct val="100000"/>
              </a:lnSpc>
              <a:buSzPct val="94736"/>
              <a:buAutoNum type="romanLcParenBoth"/>
              <a:tabLst>
                <a:tab pos="502284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leguminous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crop?</a:t>
            </a:r>
            <a:endParaRPr sz="950">
              <a:latin typeface="Calibri"/>
              <a:cs typeface="Calibri"/>
            </a:endParaRPr>
          </a:p>
          <a:p>
            <a:pPr lvl="2" marL="732155" indent="-216535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Pulses</a:t>
            </a:r>
            <a:endParaRPr sz="950">
              <a:latin typeface="Calibri"/>
              <a:cs typeface="Calibri"/>
            </a:endParaRPr>
          </a:p>
          <a:p>
            <a:pPr lvl="2" marL="732790" indent="-2171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790" algn="l"/>
              </a:tabLst>
            </a:pP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Jawar</a:t>
            </a:r>
            <a:endParaRPr sz="950">
              <a:latin typeface="Calibri"/>
              <a:cs typeface="Calibri"/>
            </a:endParaRPr>
          </a:p>
          <a:p>
            <a:pPr lvl="2" marL="732155" indent="-2044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15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Millets</a:t>
            </a:r>
            <a:endParaRPr sz="950">
              <a:latin typeface="Calibri"/>
              <a:cs typeface="Calibri"/>
            </a:endParaRPr>
          </a:p>
          <a:p>
            <a:pPr lvl="2" marL="732790" indent="-217170">
              <a:lnSpc>
                <a:spcPct val="100000"/>
              </a:lnSpc>
              <a:spcBef>
                <a:spcPts val="300"/>
              </a:spcBef>
              <a:buSzPct val="94736"/>
              <a:buAutoNum type="alphaLcParenBoth"/>
              <a:tabLst>
                <a:tab pos="732790" algn="l"/>
              </a:tabLst>
            </a:pP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Sesamum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buClr>
                <a:srgbClr val="6D6F71"/>
              </a:buClr>
              <a:buFont typeface="Calibri"/>
              <a:buAutoNum type="arabicPeriod" startAt="2"/>
              <a:tabLst>
                <a:tab pos="239395" algn="l"/>
              </a:tabLst>
            </a:pP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Answer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questions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30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words.</a:t>
            </a:r>
            <a:endParaRPr sz="950">
              <a:latin typeface="Calibri"/>
              <a:cs typeface="Calibri"/>
            </a:endParaRPr>
          </a:p>
          <a:p>
            <a:pPr lvl="1" marL="502920" marR="8890" indent="-186055">
              <a:lnSpc>
                <a:spcPct val="101099"/>
              </a:lnSpc>
              <a:spcBef>
                <a:spcPts val="285"/>
              </a:spcBef>
              <a:buSzPct val="94736"/>
              <a:buAutoNum type="romanLcParenBoth"/>
              <a:tabLst>
                <a:tab pos="5060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Name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beverage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specify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geographical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conditions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required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growth.</a:t>
            </a:r>
            <a:endParaRPr sz="950">
              <a:latin typeface="Calibri"/>
              <a:cs typeface="Calibri"/>
            </a:endParaRPr>
          </a:p>
          <a:p>
            <a:pPr lvl="1" marL="504190" indent="-226695">
              <a:lnSpc>
                <a:spcPct val="100000"/>
              </a:lnSpc>
              <a:spcBef>
                <a:spcPts val="300"/>
              </a:spcBef>
              <a:buSzPct val="94736"/>
              <a:buAutoNum type="romanLcParenBoth"/>
              <a:tabLst>
                <a:tab pos="504190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Name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staple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crop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regions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produced.</a:t>
            </a:r>
            <a:endParaRPr sz="950">
              <a:latin typeface="Calibri"/>
              <a:cs typeface="Calibri"/>
            </a:endParaRPr>
          </a:p>
          <a:p>
            <a:pPr lvl="1" marL="501650" marR="5080" indent="-260985">
              <a:lnSpc>
                <a:spcPts val="1130"/>
              </a:lnSpc>
              <a:spcBef>
                <a:spcPts val="350"/>
              </a:spcBef>
              <a:buSzPct val="94736"/>
              <a:buAutoNum type="romanLcParenBoth"/>
              <a:tabLst>
                <a:tab pos="506095" algn="l"/>
              </a:tabLst>
            </a:pP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Enlist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various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institutional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reform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programmes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introduced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government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interest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farmers.</a:t>
            </a:r>
            <a:endParaRPr sz="95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860"/>
              </a:spcBef>
              <a:buClr>
                <a:srgbClr val="6D6F71"/>
              </a:buClr>
              <a:buSzPct val="94736"/>
              <a:buFont typeface="Calibri"/>
              <a:buAutoNum type="arabicPeriod" startAt="2"/>
              <a:tabLst>
                <a:tab pos="238760" algn="l"/>
              </a:tabLst>
            </a:pP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Answer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questions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120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words.</a:t>
            </a:r>
            <a:endParaRPr sz="950">
              <a:latin typeface="Calibri"/>
              <a:cs typeface="Calibri"/>
            </a:endParaRPr>
          </a:p>
          <a:p>
            <a:pPr lvl="1" marL="502920" marR="8255" indent="-186055">
              <a:lnSpc>
                <a:spcPct val="101099"/>
              </a:lnSpc>
              <a:spcBef>
                <a:spcPts val="290"/>
              </a:spcBef>
              <a:buSzPct val="94736"/>
              <a:buAutoNum type="romanLcParenBoth"/>
              <a:tabLst>
                <a:tab pos="50609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Suggest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initiative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taken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government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ensure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increase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agricultural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production.</a:t>
            </a:r>
            <a:endParaRPr sz="950">
              <a:latin typeface="Calibri"/>
              <a:cs typeface="Calibri"/>
            </a:endParaRPr>
          </a:p>
          <a:p>
            <a:pPr lvl="1" marL="504190" indent="-226695">
              <a:lnSpc>
                <a:spcPct val="100000"/>
              </a:lnSpc>
              <a:spcBef>
                <a:spcPts val="300"/>
              </a:spcBef>
              <a:buSzPct val="94736"/>
              <a:buAutoNum type="romanLcParenBoth"/>
              <a:tabLst>
                <a:tab pos="504190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Describe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geographical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conditions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required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growth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rice.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cap="small" sz="1200" spc="-110" b="1">
                <a:solidFill>
                  <a:srgbClr val="6D6F71"/>
                </a:solidFill>
                <a:latin typeface="Tahoma"/>
                <a:cs typeface="Tahoma"/>
              </a:rPr>
              <a:t>Project</a:t>
            </a:r>
            <a:r>
              <a:rPr dirty="0" sz="850" spc="95">
                <a:solidFill>
                  <a:srgbClr val="6D6F71"/>
                </a:solidFill>
                <a:latin typeface="Times New Roman"/>
                <a:cs typeface="Times New Roman"/>
              </a:rPr>
              <a:t> </a:t>
            </a:r>
            <a:r>
              <a:rPr dirty="0" cap="small" sz="1200" spc="-20" b="1">
                <a:solidFill>
                  <a:srgbClr val="6D6F71"/>
                </a:solidFill>
                <a:latin typeface="Tahoma"/>
                <a:cs typeface="Tahoma"/>
              </a:rPr>
              <a:t>work</a:t>
            </a:r>
            <a:endParaRPr sz="12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635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Group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discussion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necessity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literacy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among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farmers.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outline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map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show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wheat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producing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areas.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5908" y="891616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solidFill>
                  <a:srgbClr val="6D6F71"/>
                </a:solidFill>
                <a:latin typeface="Trebuchet MS"/>
                <a:cs typeface="Trebuchet MS"/>
              </a:rPr>
              <a:t>41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1884" y="8916161"/>
            <a:ext cx="6407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-10">
                <a:solidFill>
                  <a:srgbClr val="6D6F71"/>
                </a:solidFill>
                <a:latin typeface="Trebuchet MS"/>
                <a:cs typeface="Trebuchet MS"/>
              </a:rPr>
              <a:t>Agriculture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38359"/>
            <a:ext cx="7315200" cy="228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6795" y="749286"/>
            <a:ext cx="505777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200" spc="-10" b="1">
                <a:solidFill>
                  <a:srgbClr val="6D6F71"/>
                </a:solidFill>
                <a:latin typeface="Tahoma"/>
                <a:cs typeface="Tahoma"/>
              </a:rPr>
              <a:t>Activity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1099"/>
              </a:lnSpc>
              <a:spcBef>
                <a:spcPts val="930"/>
              </a:spcBef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Solve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puzzle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search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horizontally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vertically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hidden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answers.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580" y="5589257"/>
            <a:ext cx="3275329" cy="112268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staple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food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crops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India.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summer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cropping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season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India.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Pulses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arhar,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moong,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gram,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urad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contain…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coarse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grain.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beverages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India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are…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Clr>
                <a:srgbClr val="6D6F71"/>
              </a:buClr>
              <a:buFont typeface="Calibri"/>
              <a:buAutoNum type="arabicPeriod"/>
              <a:tabLst>
                <a:tab pos="23939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four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major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fibers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grown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black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soils.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77945" y="1588770"/>
          <a:ext cx="3836035" cy="370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/>
                <a:gridCol w="286385"/>
                <a:gridCol w="267970"/>
                <a:gridCol w="283209"/>
                <a:gridCol w="259080"/>
                <a:gridCol w="280669"/>
                <a:gridCol w="268605"/>
                <a:gridCol w="259714"/>
                <a:gridCol w="283844"/>
                <a:gridCol w="280669"/>
                <a:gridCol w="271780"/>
                <a:gridCol w="271780"/>
                <a:gridCol w="256540"/>
                <a:gridCol w="276860"/>
              </a:tblGrid>
              <a:tr h="24257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 marR="13335">
                        <a:lnSpc>
                          <a:spcPts val="1100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100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00"/>
                        </a:lnSpc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00"/>
                        </a:lnSpc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5880">
                        <a:lnSpc>
                          <a:spcPts val="1100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ts val="110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00"/>
                        </a:lnSpc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1100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100"/>
                        </a:lnSpc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ts val="1100"/>
                        </a:lnSpc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ts val="1100"/>
                        </a:lnSpc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100"/>
                        </a:lnSpc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ts val="110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1100"/>
                        </a:lnSpc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080"/>
                        </a:lnSpc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080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080"/>
                        </a:lnSpc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ts val="108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080"/>
                        </a:lnSpc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8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1080"/>
                        </a:lnSpc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1080"/>
                        </a:lnSpc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08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080"/>
                        </a:lnSpc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8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080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080"/>
                        </a:lnSpc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marR="15875">
                        <a:lnSpc>
                          <a:spcPts val="1125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125"/>
                        </a:lnSpc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125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25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ts val="1125"/>
                        </a:lnSpc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ts val="1125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25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1125"/>
                        </a:lnSpc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125"/>
                        </a:lnSpc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25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1125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125"/>
                        </a:lnSpc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125"/>
                        </a:lnSpc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marR="203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9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6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ctr" marR="203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6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09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9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9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6D6F71"/>
                      </a:solidFill>
                      <a:prstDash val="solid"/>
                    </a:lnL>
                    <a:lnR w="12700">
                      <a:solidFill>
                        <a:srgbClr val="6D6F71"/>
                      </a:solidFill>
                      <a:prstDash val="solid"/>
                    </a:lnR>
                    <a:lnT w="12700">
                      <a:solidFill>
                        <a:srgbClr val="6D6F71"/>
                      </a:solidFill>
                      <a:prstDash val="solid"/>
                    </a:lnT>
                    <a:lnB w="12700">
                      <a:solidFill>
                        <a:srgbClr val="6D6F71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919" y="2448800"/>
            <a:ext cx="5919388" cy="59193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E:\Textbook\12 Rationalised Textbook\1068— Contemporary India - II - Geography\1 Source Files\Chapter 4\Chapter 4.pmd</dc:title>
  <dcterms:created xsi:type="dcterms:W3CDTF">2026-05-27T11:22:43Z</dcterms:created>
  <dcterms:modified xsi:type="dcterms:W3CDTF">2026-05-27T11:22:43Z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2022-08-22T00:00:00Z</vt:filetime>
  </property>
  <property fmtid="{D5CDD505-2E9C-101B-9397-08002B2CF9AE}" pid="4" name="Creator">
    <vt:lpwstr>Bullzip PDF Printer (12.2.0.2905)</vt:lpwstr>
  </property>
  <property fmtid="{D5CDD505-2E9C-101B-9397-08002B2CF9AE}" pid="5" name="LastSaved">
    <vt:filetime>2026-05-27T00:00:00Z</vt:filetime>
  </property>
  <property fmtid="{D5CDD505-2E9C-101B-9397-08002B2CF9AE}" pid="6" name="Producer">
    <vt:lpwstr>PDF Printer / www.bullzip.com / FG / Freeware Edition (max 10 users)</vt:lpwstr>
  </property>
</Properties>
</file>